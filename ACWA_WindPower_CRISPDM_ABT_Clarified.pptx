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73" r:id="rId9"/>
    <p:sldId id="274"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D3A"/>
        </a:solidFill>
        <a:effectLst/>
      </p:bgPr>
    </p:bg>
    <p:spTree>
      <p:nvGrpSpPr>
        <p:cNvPr id="1" name=""/>
        <p:cNvGrpSpPr/>
        <p:nvPr/>
      </p:nvGrpSpPr>
      <p:grpSpPr>
        <a:xfrm>
          <a:off x="0" y="0"/>
          <a:ext cx="0" cy="0"/>
          <a:chOff x="0" y="0"/>
          <a:chExt cx="0" cy="0"/>
        </a:xfrm>
      </p:grpSpPr>
      <p:sp>
        <p:nvSpPr>
          <p:cNvPr id="2" name="TextBox 1"/>
          <p:cNvSpPr txBox="1"/>
          <p:nvPr/>
        </p:nvSpPr>
        <p:spPr>
          <a:xfrm>
            <a:off x="640080" y="594360"/>
            <a:ext cx="10972800" cy="274320"/>
          </a:xfrm>
          <a:prstGeom prst="rect">
            <a:avLst/>
          </a:prstGeom>
          <a:noFill/>
        </p:spPr>
        <p:txBody>
          <a:bodyPr wrap="square" anchor="t">
            <a:spAutoFit/>
          </a:bodyPr>
          <a:lstStyle/>
          <a:p>
            <a:pPr algn="l"/>
            <a:r>
              <a:rPr sz="1200" b="1">
                <a:solidFill>
                  <a:srgbClr val="0EA5E9"/>
                </a:solidFill>
                <a:latin typeface="Aptos"/>
              </a:rPr>
              <a:t>CRISP-DM · STAGE 1</a:t>
            </a:r>
          </a:p>
        </p:txBody>
      </p:sp>
      <p:sp>
        <p:nvSpPr>
          <p:cNvPr id="3" name="TextBox 2"/>
          <p:cNvSpPr txBox="1"/>
          <p:nvPr/>
        </p:nvSpPr>
        <p:spPr>
          <a:xfrm>
            <a:off x="640080" y="1143000"/>
            <a:ext cx="10698480" cy="1143000"/>
          </a:xfrm>
          <a:prstGeom prst="rect">
            <a:avLst/>
          </a:prstGeom>
          <a:noFill/>
        </p:spPr>
        <p:txBody>
          <a:bodyPr wrap="square" anchor="t">
            <a:spAutoFit/>
          </a:bodyPr>
          <a:lstStyle/>
          <a:p>
            <a:pPr algn="l"/>
            <a:r>
              <a:rPr sz="3400" b="1">
                <a:solidFill>
                  <a:srgbClr val="FFFFFF"/>
                </a:solidFill>
                <a:latin typeface="Aptos"/>
              </a:rPr>
              <a:t>Business Understanding &amp;
Problem Framing</a:t>
            </a:r>
          </a:p>
        </p:txBody>
      </p:sp>
      <p:sp>
        <p:nvSpPr>
          <p:cNvPr id="4" name="TextBox 3"/>
          <p:cNvSpPr txBox="1"/>
          <p:nvPr/>
        </p:nvSpPr>
        <p:spPr>
          <a:xfrm>
            <a:off x="640080" y="2514600"/>
            <a:ext cx="10332720" cy="685800"/>
          </a:xfrm>
          <a:prstGeom prst="rect">
            <a:avLst/>
          </a:prstGeom>
          <a:noFill/>
        </p:spPr>
        <p:txBody>
          <a:bodyPr wrap="square" anchor="t">
            <a:spAutoFit/>
          </a:bodyPr>
          <a:lstStyle/>
          <a:p>
            <a:pPr algn="l"/>
            <a:r>
              <a:rPr sz="2000" b="0">
                <a:solidFill>
                  <a:srgbClr val="CBD5E1"/>
                </a:solidFill>
                <a:latin typeface="Aptos"/>
              </a:rPr>
              <a:t>Wind Power Forecasting &amp; Turbine Underperformance Analytics</a:t>
            </a:r>
          </a:p>
        </p:txBody>
      </p:sp>
      <p:sp>
        <p:nvSpPr>
          <p:cNvPr id="5" name="TextBox 4"/>
          <p:cNvSpPr txBox="1"/>
          <p:nvPr/>
        </p:nvSpPr>
        <p:spPr>
          <a:xfrm>
            <a:off x="640080" y="3794760"/>
            <a:ext cx="10332720" cy="615553"/>
          </a:xfrm>
          <a:prstGeom prst="rect">
            <a:avLst/>
          </a:prstGeom>
          <a:noFill/>
        </p:spPr>
        <p:txBody>
          <a:bodyPr wrap="square" anchor="t">
            <a:spAutoFit/>
          </a:bodyPr>
          <a:lstStyle/>
          <a:p>
            <a:pPr algn="l"/>
            <a:r>
              <a:rPr sz="1700" b="0" dirty="0">
                <a:solidFill>
                  <a:srgbClr val="FFFFFF"/>
                </a:solidFill>
                <a:latin typeface="Aptos"/>
              </a:rPr>
              <a:t>Governing principle: CRISP-DM drives the project. Dr. Mo’s Business Problem Framework defines the Stage-1 deliverables. </a:t>
            </a:r>
          </a:p>
        </p:txBody>
      </p:sp>
      <p:sp>
        <p:nvSpPr>
          <p:cNvPr id="6" name="Rounded Rectangle 5"/>
          <p:cNvSpPr/>
          <p:nvPr/>
        </p:nvSpPr>
        <p:spPr>
          <a:xfrm>
            <a:off x="640080" y="5074920"/>
            <a:ext cx="192024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5102352"/>
            <a:ext cx="1920240" cy="256032"/>
          </a:xfrm>
          <a:prstGeom prst="rect">
            <a:avLst/>
          </a:prstGeom>
          <a:noFill/>
        </p:spPr>
        <p:txBody>
          <a:bodyPr wrap="square" anchor="t">
            <a:spAutoFit/>
          </a:bodyPr>
          <a:lstStyle/>
          <a:p>
            <a:pPr algn="ctr"/>
            <a:r>
              <a:rPr sz="1000" b="1">
                <a:solidFill>
                  <a:srgbClr val="FFFFFF"/>
                </a:solidFill>
                <a:latin typeface="Aptos"/>
              </a:rPr>
              <a:t>CRISP-DM = FRAMEWORK</a:t>
            </a:r>
          </a:p>
        </p:txBody>
      </p:sp>
      <p:sp>
        <p:nvSpPr>
          <p:cNvPr id="8" name="Rounded Rectangle 7"/>
          <p:cNvSpPr/>
          <p:nvPr/>
        </p:nvSpPr>
        <p:spPr>
          <a:xfrm>
            <a:off x="2743200" y="5074920"/>
            <a:ext cx="24688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0" y="5102352"/>
            <a:ext cx="2468880" cy="256032"/>
          </a:xfrm>
          <a:prstGeom prst="rect">
            <a:avLst/>
          </a:prstGeom>
          <a:noFill/>
        </p:spPr>
        <p:txBody>
          <a:bodyPr wrap="square" anchor="t">
            <a:spAutoFit/>
          </a:bodyPr>
          <a:lstStyle/>
          <a:p>
            <a:pPr algn="ctr"/>
            <a:r>
              <a:rPr sz="1000" b="1">
                <a:solidFill>
                  <a:srgbClr val="FFFFFF"/>
                </a:solidFill>
                <a:latin typeface="Aptos"/>
              </a:rPr>
              <a:t>DR. MO = STAGE-1 PROTOCOL</a:t>
            </a:r>
          </a:p>
        </p:txBody>
      </p:sp>
      <p:sp>
        <p:nvSpPr>
          <p:cNvPr id="12" name="TextBox 11"/>
          <p:cNvSpPr txBox="1"/>
          <p:nvPr/>
        </p:nvSpPr>
        <p:spPr>
          <a:xfrm>
            <a:off x="640080" y="6080760"/>
            <a:ext cx="10515600" cy="274320"/>
          </a:xfrm>
          <a:prstGeom prst="rect">
            <a:avLst/>
          </a:prstGeom>
          <a:noFill/>
        </p:spPr>
        <p:txBody>
          <a:bodyPr wrap="square" anchor="t">
            <a:spAutoFit/>
          </a:bodyPr>
          <a:lstStyle/>
          <a:p>
            <a:pPr algn="l"/>
            <a:r>
              <a:rPr sz="1000" b="0">
                <a:solidFill>
                  <a:srgbClr val="94A3B8"/>
                </a:solidFill>
                <a:latin typeface="Aptos"/>
              </a:rPr>
              <a:t>ACWA Power synthetic academic case · v6 · 16 Sep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INSTRUCTOR FRAMEWORK</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Dr. Mo’s Business Problem Framework is the Stage-1 checklist</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We should be able to point to evidence for every box before moving into Data Understanding.</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61dedb27-06ad-4574-82e6-9d8fcec94f14.png"/>
          <p:cNvPicPr>
            <a:picLocks noChangeAspect="1"/>
          </p:cNvPicPr>
          <p:nvPr/>
        </p:nvPicPr>
        <p:blipFill>
          <a:blip r:embed="rId2"/>
          <a:stretch>
            <a:fillRect/>
          </a:stretch>
        </p:blipFill>
        <p:spPr>
          <a:xfrm>
            <a:off x="640080" y="1874519"/>
            <a:ext cx="6400800" cy="3511118"/>
          </a:xfrm>
          <a:prstGeom prst="rect">
            <a:avLst/>
          </a:prstGeom>
        </p:spPr>
      </p:pic>
      <p:sp>
        <p:nvSpPr>
          <p:cNvPr id="7" name="Rounded Rectangle 6"/>
          <p:cNvSpPr/>
          <p:nvPr/>
        </p:nvSpPr>
        <p:spPr>
          <a:xfrm>
            <a:off x="7360920" y="1874519"/>
            <a:ext cx="4160520" cy="35661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60920" y="1874519"/>
            <a:ext cx="64008" cy="3566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25512" y="2011679"/>
            <a:ext cx="3867911" cy="320040"/>
          </a:xfrm>
          <a:prstGeom prst="rect">
            <a:avLst/>
          </a:prstGeom>
          <a:noFill/>
        </p:spPr>
        <p:txBody>
          <a:bodyPr wrap="square" anchor="t">
            <a:spAutoFit/>
          </a:bodyPr>
          <a:lstStyle/>
          <a:p>
            <a:pPr algn="l"/>
            <a:r>
              <a:rPr sz="1600" b="1">
                <a:solidFill>
                  <a:srgbClr val="0C1D3A"/>
                </a:solidFill>
                <a:latin typeface="Aptos"/>
              </a:rPr>
              <a:t>OUR INTERPRETATION</a:t>
            </a:r>
          </a:p>
        </p:txBody>
      </p:sp>
      <p:sp>
        <p:nvSpPr>
          <p:cNvPr id="10" name="TextBox 9"/>
          <p:cNvSpPr txBox="1"/>
          <p:nvPr/>
        </p:nvSpPr>
        <p:spPr>
          <a:xfrm>
            <a:off x="7525512" y="2404872"/>
            <a:ext cx="3867911" cy="2926080"/>
          </a:xfrm>
          <a:prstGeom prst="rect">
            <a:avLst/>
          </a:prstGeom>
          <a:noFill/>
        </p:spPr>
        <p:txBody>
          <a:bodyPr wrap="square" anchor="t">
            <a:spAutoFit/>
          </a:bodyPr>
          <a:lstStyle/>
          <a:p>
            <a:pPr algn="l"/>
            <a:r>
              <a:rPr sz="1300" b="0">
                <a:solidFill>
                  <a:srgbClr val="0F172A"/>
                </a:solidFill>
                <a:latin typeface="Aptos"/>
              </a:rPr>
              <a:t>1. Build analytical team
2. Understand objectives
3. Transform / frame problem
4. Define success measurements
5. Identify unit of analysis &amp; target
6. Identify analytical approach
7. Identify deployment plan
8. Stakeholder analysis
Output: required data + ABT specification</a:t>
            </a:r>
          </a:p>
        </p:txBody>
      </p:sp>
      <p:sp>
        <p:nvSpPr>
          <p:cNvPr id="11" name="TextBox 10"/>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Dr. Mo Business Problem Framework image supplied by the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BUSINESS PROBLEM</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Start with what the capstone actually gives us</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Separate context, symptom, impact and required outcome.</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965960"/>
            <a:ext cx="2514600"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965960"/>
            <a:ext cx="64008" cy="22860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103120"/>
            <a:ext cx="2221992" cy="320040"/>
          </a:xfrm>
          <a:prstGeom prst="rect">
            <a:avLst/>
          </a:prstGeom>
          <a:noFill/>
        </p:spPr>
        <p:txBody>
          <a:bodyPr wrap="square" anchor="t">
            <a:spAutoFit/>
          </a:bodyPr>
          <a:lstStyle/>
          <a:p>
            <a:pPr algn="l"/>
            <a:r>
              <a:rPr sz="1500" b="1">
                <a:solidFill>
                  <a:srgbClr val="0C1D3A"/>
                </a:solidFill>
                <a:latin typeface="Aptos"/>
              </a:rPr>
              <a:t>CONTEXT</a:t>
            </a:r>
          </a:p>
        </p:txBody>
      </p:sp>
      <p:sp>
        <p:nvSpPr>
          <p:cNvPr id="9" name="TextBox 8"/>
          <p:cNvSpPr txBox="1"/>
          <p:nvPr/>
        </p:nvSpPr>
        <p:spPr>
          <a:xfrm>
            <a:off x="804671" y="2496312"/>
            <a:ext cx="2221992" cy="1645920"/>
          </a:xfrm>
          <a:prstGeom prst="rect">
            <a:avLst/>
          </a:prstGeom>
          <a:noFill/>
        </p:spPr>
        <p:txBody>
          <a:bodyPr wrap="square" anchor="t">
            <a:spAutoFit/>
          </a:bodyPr>
          <a:lstStyle/>
          <a:p>
            <a:pPr algn="l"/>
            <a:r>
              <a:rPr sz="1200" b="0">
                <a:solidFill>
                  <a:srgbClr val="0F172A"/>
                </a:solidFill>
                <a:latin typeface="Aptos"/>
              </a:rPr>
              <a:t>Wind generation varies with meteorology, turbine condition, curtailment and control settings.
Portfolio capacity factor ≈ 38%.</a:t>
            </a:r>
          </a:p>
        </p:txBody>
      </p:sp>
      <p:sp>
        <p:nvSpPr>
          <p:cNvPr id="10" name="Rounded Rectangle 9"/>
          <p:cNvSpPr/>
          <p:nvPr/>
        </p:nvSpPr>
        <p:spPr>
          <a:xfrm>
            <a:off x="3337560" y="1965960"/>
            <a:ext cx="2514600"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7560" y="1965960"/>
            <a:ext cx="64008" cy="2286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02152" y="2103120"/>
            <a:ext cx="2221992" cy="320040"/>
          </a:xfrm>
          <a:prstGeom prst="rect">
            <a:avLst/>
          </a:prstGeom>
          <a:noFill/>
        </p:spPr>
        <p:txBody>
          <a:bodyPr wrap="square" anchor="t">
            <a:spAutoFit/>
          </a:bodyPr>
          <a:lstStyle/>
          <a:p>
            <a:pPr algn="l"/>
            <a:r>
              <a:rPr sz="1500" b="1">
                <a:solidFill>
                  <a:srgbClr val="0C1D3A"/>
                </a:solidFill>
                <a:latin typeface="Aptos"/>
              </a:rPr>
              <a:t>SYMPTOM</a:t>
            </a:r>
          </a:p>
        </p:txBody>
      </p:sp>
      <p:sp>
        <p:nvSpPr>
          <p:cNvPr id="13" name="TextBox 12"/>
          <p:cNvSpPr txBox="1"/>
          <p:nvPr/>
        </p:nvSpPr>
        <p:spPr>
          <a:xfrm>
            <a:off x="3502152" y="2496312"/>
            <a:ext cx="2221992" cy="1645920"/>
          </a:xfrm>
          <a:prstGeom prst="rect">
            <a:avLst/>
          </a:prstGeom>
          <a:noFill/>
        </p:spPr>
        <p:txBody>
          <a:bodyPr wrap="square" anchor="t">
            <a:spAutoFit/>
          </a:bodyPr>
          <a:lstStyle/>
          <a:p>
            <a:pPr algn="l"/>
            <a:r>
              <a:rPr sz="1200" b="0">
                <a:solidFill>
                  <a:srgbClr val="0F172A"/>
                </a:solidFill>
                <a:latin typeface="Aptos"/>
              </a:rPr>
              <a:t>≈14% of turbine-hours generate at least 10% less power than expected under comparable wind conditions.</a:t>
            </a:r>
          </a:p>
        </p:txBody>
      </p:sp>
      <p:sp>
        <p:nvSpPr>
          <p:cNvPr id="14" name="Rounded Rectangle 13"/>
          <p:cNvSpPr/>
          <p:nvPr/>
        </p:nvSpPr>
        <p:spPr>
          <a:xfrm>
            <a:off x="6035040" y="1965960"/>
            <a:ext cx="2514600"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35040" y="1965960"/>
            <a:ext cx="64008" cy="2286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99631" y="2103120"/>
            <a:ext cx="2221992" cy="320040"/>
          </a:xfrm>
          <a:prstGeom prst="rect">
            <a:avLst/>
          </a:prstGeom>
          <a:noFill/>
        </p:spPr>
        <p:txBody>
          <a:bodyPr wrap="square" anchor="t">
            <a:spAutoFit/>
          </a:bodyPr>
          <a:lstStyle/>
          <a:p>
            <a:pPr algn="l"/>
            <a:r>
              <a:rPr sz="1500" b="1">
                <a:solidFill>
                  <a:srgbClr val="0C1D3A"/>
                </a:solidFill>
                <a:latin typeface="Aptos"/>
              </a:rPr>
              <a:t>BUSINESS IMPACT</a:t>
            </a:r>
          </a:p>
        </p:txBody>
      </p:sp>
      <p:sp>
        <p:nvSpPr>
          <p:cNvPr id="17" name="TextBox 16"/>
          <p:cNvSpPr txBox="1"/>
          <p:nvPr/>
        </p:nvSpPr>
        <p:spPr>
          <a:xfrm>
            <a:off x="6199631" y="2496312"/>
            <a:ext cx="2221992" cy="1645920"/>
          </a:xfrm>
          <a:prstGeom prst="rect">
            <a:avLst/>
          </a:prstGeom>
          <a:noFill/>
        </p:spPr>
        <p:txBody>
          <a:bodyPr wrap="square" anchor="t">
            <a:spAutoFit/>
          </a:bodyPr>
          <a:lstStyle/>
          <a:p>
            <a:pPr algn="l"/>
            <a:r>
              <a:rPr sz="1200" b="0">
                <a:solidFill>
                  <a:srgbClr val="0F172A"/>
                </a:solidFill>
                <a:latin typeface="Aptos"/>
              </a:rPr>
              <a:t>Those periods contribute to an estimated 5–8% annual generation gap.</a:t>
            </a:r>
          </a:p>
        </p:txBody>
      </p:sp>
      <p:sp>
        <p:nvSpPr>
          <p:cNvPr id="18" name="Rounded Rectangle 17"/>
          <p:cNvSpPr/>
          <p:nvPr/>
        </p:nvSpPr>
        <p:spPr>
          <a:xfrm>
            <a:off x="8732520" y="1965960"/>
            <a:ext cx="2514600"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732520" y="1965960"/>
            <a:ext cx="64008" cy="22860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97112" y="2103120"/>
            <a:ext cx="2221992" cy="320040"/>
          </a:xfrm>
          <a:prstGeom prst="rect">
            <a:avLst/>
          </a:prstGeom>
          <a:noFill/>
        </p:spPr>
        <p:txBody>
          <a:bodyPr wrap="square" anchor="t">
            <a:spAutoFit/>
          </a:bodyPr>
          <a:lstStyle/>
          <a:p>
            <a:pPr algn="l"/>
            <a:r>
              <a:rPr sz="1500" b="1">
                <a:solidFill>
                  <a:srgbClr val="0C1D3A"/>
                </a:solidFill>
                <a:latin typeface="Aptos"/>
              </a:rPr>
              <a:t>TARGET OUTCOME</a:t>
            </a:r>
          </a:p>
        </p:txBody>
      </p:sp>
      <p:sp>
        <p:nvSpPr>
          <p:cNvPr id="21" name="TextBox 20"/>
          <p:cNvSpPr txBox="1"/>
          <p:nvPr/>
        </p:nvSpPr>
        <p:spPr>
          <a:xfrm>
            <a:off x="8897112" y="2496312"/>
            <a:ext cx="2221992" cy="1645920"/>
          </a:xfrm>
          <a:prstGeom prst="rect">
            <a:avLst/>
          </a:prstGeom>
          <a:noFill/>
        </p:spPr>
        <p:txBody>
          <a:bodyPr wrap="square" anchor="t">
            <a:spAutoFit/>
          </a:bodyPr>
          <a:lstStyle/>
          <a:p>
            <a:pPr algn="l"/>
            <a:r>
              <a:rPr sz="1200" b="0">
                <a:solidFill>
                  <a:srgbClr val="0F172A"/>
                </a:solidFill>
                <a:latin typeface="Aptos"/>
              </a:rPr>
              <a:t>Identify and explain underperformance; prioritize interventions supporting ≥2–3% annual energy recovery.</a:t>
            </a:r>
          </a:p>
        </p:txBody>
      </p:sp>
      <p:sp>
        <p:nvSpPr>
          <p:cNvPr id="22" name="TextBox 21"/>
          <p:cNvSpPr txBox="1"/>
          <p:nvPr/>
        </p:nvSpPr>
        <p:spPr>
          <a:xfrm>
            <a:off x="731520" y="4754880"/>
            <a:ext cx="10698480" cy="646331"/>
          </a:xfrm>
          <a:prstGeom prst="rect">
            <a:avLst/>
          </a:prstGeom>
          <a:noFill/>
        </p:spPr>
        <p:txBody>
          <a:bodyPr wrap="square" anchor="t">
            <a:spAutoFit/>
          </a:bodyPr>
          <a:lstStyle/>
          <a:p>
            <a:pPr algn="ctr"/>
            <a:r>
              <a:rPr sz="1800" b="1" dirty="0">
                <a:solidFill>
                  <a:srgbClr val="0C1D3A"/>
                </a:solidFill>
                <a:latin typeface="Aptos"/>
              </a:rPr>
              <a:t>Important: 38% capacity factor is context </a:t>
            </a:r>
            <a:r>
              <a:rPr lang="en-US" b="1" dirty="0">
                <a:solidFill>
                  <a:srgbClr val="0C1D3A"/>
                </a:solidFill>
                <a:latin typeface="Aptos"/>
              </a:rPr>
              <a:t>, </a:t>
            </a:r>
            <a:r>
              <a:rPr sz="1800" b="1" dirty="0">
                <a:solidFill>
                  <a:srgbClr val="0C1D3A"/>
                </a:solidFill>
                <a:latin typeface="Aptos"/>
              </a:rPr>
              <a:t>it is NOT evidence that the turbines are “62% underperforming.”</a:t>
            </a:r>
          </a:p>
        </p:txBody>
      </p:sp>
      <p:sp>
        <p:nvSpPr>
          <p:cNvPr id="23" name="TextBox 22"/>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ACWA Power capstone brief, Industry Background &amp; Quantified Problem Statement; Key Baselines.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TRANSFORM / FRAME</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The business problem in plain English</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Do not presume the root cause before the evidence exists.</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10332720" cy="1371600"/>
          </a:xfrm>
          <a:prstGeom prst="rect">
            <a:avLst/>
          </a:prstGeom>
          <a:noFill/>
        </p:spPr>
        <p:txBody>
          <a:bodyPr wrap="square" anchor="t">
            <a:spAutoFit/>
          </a:bodyPr>
          <a:lstStyle/>
          <a:p>
            <a:pPr algn="ctr"/>
            <a:r>
              <a:rPr sz="2600" b="1">
                <a:solidFill>
                  <a:srgbClr val="0C1D3A"/>
                </a:solidFill>
                <a:latin typeface="Aptos"/>
              </a:rPr>
              <a:t>“Why are some turbine operating periods producing materially less power than expected under comparable conditions, what is driving the resulting generation gap, and which losses may be addressable?”</a:t>
            </a:r>
          </a:p>
        </p:txBody>
      </p:sp>
      <p:sp>
        <p:nvSpPr>
          <p:cNvPr id="7" name="Rounded Rectangle 6"/>
          <p:cNvSpPr/>
          <p:nvPr/>
        </p:nvSpPr>
        <p:spPr>
          <a:xfrm>
            <a:off x="914400" y="3931920"/>
            <a:ext cx="3154680" cy="1325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3931920"/>
            <a:ext cx="64008" cy="13258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4069080"/>
            <a:ext cx="2862072" cy="320040"/>
          </a:xfrm>
          <a:prstGeom prst="rect">
            <a:avLst/>
          </a:prstGeom>
          <a:noFill/>
        </p:spPr>
        <p:txBody>
          <a:bodyPr wrap="square" anchor="t">
            <a:spAutoFit/>
          </a:bodyPr>
          <a:lstStyle/>
          <a:p>
            <a:pPr algn="l"/>
            <a:r>
              <a:rPr sz="1400" b="1">
                <a:solidFill>
                  <a:srgbClr val="0C1D3A"/>
                </a:solidFill>
                <a:latin typeface="Aptos"/>
              </a:rPr>
              <a:t>DO NOT ASSUME</a:t>
            </a:r>
          </a:p>
        </p:txBody>
      </p:sp>
      <p:sp>
        <p:nvSpPr>
          <p:cNvPr id="10" name="TextBox 9"/>
          <p:cNvSpPr txBox="1"/>
          <p:nvPr/>
        </p:nvSpPr>
        <p:spPr>
          <a:xfrm>
            <a:off x="1078992" y="4462272"/>
            <a:ext cx="2862072" cy="685800"/>
          </a:xfrm>
          <a:prstGeom prst="rect">
            <a:avLst/>
          </a:prstGeom>
          <a:noFill/>
        </p:spPr>
        <p:txBody>
          <a:bodyPr wrap="square" anchor="t">
            <a:spAutoFit/>
          </a:bodyPr>
          <a:lstStyle/>
          <a:p>
            <a:pPr algn="l"/>
            <a:r>
              <a:rPr sz="1200" b="0">
                <a:solidFill>
                  <a:srgbClr val="0F172A"/>
                </a:solidFill>
                <a:latin typeface="Aptos"/>
              </a:rPr>
              <a:t>“The gearbox is failing.”
“Yaw is the cause.”</a:t>
            </a:r>
          </a:p>
        </p:txBody>
      </p:sp>
      <p:sp>
        <p:nvSpPr>
          <p:cNvPr id="11" name="Rounded Rectangle 10"/>
          <p:cNvSpPr/>
          <p:nvPr/>
        </p:nvSpPr>
        <p:spPr>
          <a:xfrm>
            <a:off x="4526280" y="3931920"/>
            <a:ext cx="3154680" cy="1325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26280" y="3931920"/>
            <a:ext cx="64008" cy="13258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90872" y="4069080"/>
            <a:ext cx="2862072" cy="320040"/>
          </a:xfrm>
          <a:prstGeom prst="rect">
            <a:avLst/>
          </a:prstGeom>
          <a:noFill/>
        </p:spPr>
        <p:txBody>
          <a:bodyPr wrap="square" anchor="t">
            <a:spAutoFit/>
          </a:bodyPr>
          <a:lstStyle/>
          <a:p>
            <a:pPr algn="l"/>
            <a:r>
              <a:rPr sz="1400" b="1">
                <a:solidFill>
                  <a:srgbClr val="0C1D3A"/>
                </a:solidFill>
                <a:latin typeface="Aptos"/>
              </a:rPr>
              <a:t>ASK INSTEAD</a:t>
            </a:r>
          </a:p>
        </p:txBody>
      </p:sp>
      <p:sp>
        <p:nvSpPr>
          <p:cNvPr id="14" name="TextBox 13"/>
          <p:cNvSpPr txBox="1"/>
          <p:nvPr/>
        </p:nvSpPr>
        <p:spPr>
          <a:xfrm>
            <a:off x="4690872" y="4462272"/>
            <a:ext cx="2862072" cy="685800"/>
          </a:xfrm>
          <a:prstGeom prst="rect">
            <a:avLst/>
          </a:prstGeom>
          <a:noFill/>
        </p:spPr>
        <p:txBody>
          <a:bodyPr wrap="square" anchor="t">
            <a:spAutoFit/>
          </a:bodyPr>
          <a:lstStyle/>
          <a:p>
            <a:pPr algn="l"/>
            <a:r>
              <a:rPr sz="1200" b="0">
                <a:solidFill>
                  <a:srgbClr val="0F172A"/>
                </a:solidFill>
                <a:latin typeface="Aptos"/>
              </a:rPr>
              <a:t>Where is the gap?
Why does it occur?</a:t>
            </a:r>
          </a:p>
        </p:txBody>
      </p:sp>
      <p:sp>
        <p:nvSpPr>
          <p:cNvPr id="15" name="Rounded Rectangle 14"/>
          <p:cNvSpPr/>
          <p:nvPr/>
        </p:nvSpPr>
        <p:spPr>
          <a:xfrm>
            <a:off x="8138160" y="3931920"/>
            <a:ext cx="3154680" cy="1325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3931920"/>
            <a:ext cx="64008" cy="1325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4069080"/>
            <a:ext cx="2862072" cy="320040"/>
          </a:xfrm>
          <a:prstGeom prst="rect">
            <a:avLst/>
          </a:prstGeom>
          <a:noFill/>
        </p:spPr>
        <p:txBody>
          <a:bodyPr wrap="square" anchor="t">
            <a:spAutoFit/>
          </a:bodyPr>
          <a:lstStyle/>
          <a:p>
            <a:pPr algn="l"/>
            <a:r>
              <a:rPr sz="1400" b="1">
                <a:solidFill>
                  <a:srgbClr val="0C1D3A"/>
                </a:solidFill>
                <a:latin typeface="Aptos"/>
              </a:rPr>
              <a:t>THEN DECIDE</a:t>
            </a:r>
          </a:p>
        </p:txBody>
      </p:sp>
      <p:sp>
        <p:nvSpPr>
          <p:cNvPr id="18" name="TextBox 17"/>
          <p:cNvSpPr txBox="1"/>
          <p:nvPr/>
        </p:nvSpPr>
        <p:spPr>
          <a:xfrm>
            <a:off x="8302752" y="4462272"/>
            <a:ext cx="2862072" cy="685800"/>
          </a:xfrm>
          <a:prstGeom prst="rect">
            <a:avLst/>
          </a:prstGeom>
          <a:noFill/>
        </p:spPr>
        <p:txBody>
          <a:bodyPr wrap="square" anchor="t">
            <a:spAutoFit/>
          </a:bodyPr>
          <a:lstStyle/>
          <a:p>
            <a:pPr algn="l"/>
            <a:r>
              <a:rPr sz="1200" b="0">
                <a:solidFill>
                  <a:srgbClr val="0F172A"/>
                </a:solidFill>
                <a:latin typeface="Aptos"/>
              </a:rPr>
              <a:t>What is addressable?
What should we prioritize?</a:t>
            </a:r>
          </a:p>
        </p:txBody>
      </p:sp>
      <p:sp>
        <p:nvSpPr>
          <p:cNvPr id="19" name="TextBox 18"/>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EWA · InnovatiCS ACWA Power capstone brief; Dr. Mo Business Problem Framework.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BUILD ANALYTICAL TEAM</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Team ≠ stakeholders</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The project needs business/domain, data and analytics expertise before modeling begins.</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965960"/>
            <a:ext cx="265176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965960"/>
            <a:ext cx="6400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103120"/>
            <a:ext cx="2359152" cy="320040"/>
          </a:xfrm>
          <a:prstGeom prst="rect">
            <a:avLst/>
          </a:prstGeom>
          <a:noFill/>
        </p:spPr>
        <p:txBody>
          <a:bodyPr wrap="square" anchor="t">
            <a:spAutoFit/>
          </a:bodyPr>
          <a:lstStyle/>
          <a:p>
            <a:pPr algn="l"/>
            <a:r>
              <a:rPr sz="1400" b="1">
                <a:solidFill>
                  <a:srgbClr val="0C1D3A"/>
                </a:solidFill>
                <a:latin typeface="Aptos"/>
              </a:rPr>
              <a:t>TEAM LEAD · RASHID</a:t>
            </a:r>
          </a:p>
        </p:txBody>
      </p:sp>
      <p:sp>
        <p:nvSpPr>
          <p:cNvPr id="9" name="TextBox 8"/>
          <p:cNvSpPr txBox="1"/>
          <p:nvPr/>
        </p:nvSpPr>
        <p:spPr>
          <a:xfrm>
            <a:off x="804671" y="2971800"/>
            <a:ext cx="2359152" cy="1417320"/>
          </a:xfrm>
          <a:prstGeom prst="rect">
            <a:avLst/>
          </a:prstGeom>
          <a:noFill/>
        </p:spPr>
        <p:txBody>
          <a:bodyPr wrap="square" anchor="t">
            <a:spAutoFit/>
          </a:bodyPr>
          <a:lstStyle/>
          <a:p>
            <a:pPr algn="l"/>
            <a:r>
              <a:rPr sz="1200" b="0" dirty="0">
                <a:solidFill>
                  <a:srgbClr val="0F172A"/>
                </a:solidFill>
                <a:latin typeface="Aptos"/>
              </a:rPr>
              <a:t>Direction, technical alignment, decision escalation, final team alignment.</a:t>
            </a:r>
          </a:p>
        </p:txBody>
      </p:sp>
      <p:sp>
        <p:nvSpPr>
          <p:cNvPr id="10" name="Rounded Rectangle 9"/>
          <p:cNvSpPr/>
          <p:nvPr/>
        </p:nvSpPr>
        <p:spPr>
          <a:xfrm>
            <a:off x="3520440" y="1965960"/>
            <a:ext cx="265176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965960"/>
            <a:ext cx="64008" cy="2057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85032" y="2103120"/>
            <a:ext cx="2359152" cy="523220"/>
          </a:xfrm>
          <a:prstGeom prst="rect">
            <a:avLst/>
          </a:prstGeom>
          <a:noFill/>
        </p:spPr>
        <p:txBody>
          <a:bodyPr wrap="square" anchor="t">
            <a:spAutoFit/>
          </a:bodyPr>
          <a:lstStyle/>
          <a:p>
            <a:pPr algn="l"/>
            <a:r>
              <a:rPr lang="en-US" sz="1400" b="1" dirty="0">
                <a:solidFill>
                  <a:srgbClr val="0C1D3A"/>
                </a:solidFill>
                <a:latin typeface="Aptos"/>
              </a:rPr>
              <a:t>SYSTEMS ENGINEERING</a:t>
            </a:r>
            <a:r>
              <a:rPr sz="1400" b="1" dirty="0">
                <a:solidFill>
                  <a:srgbClr val="0C1D3A"/>
                </a:solidFill>
                <a:latin typeface="Aptos"/>
              </a:rPr>
              <a:t>· RAUL</a:t>
            </a:r>
            <a:r>
              <a:rPr lang="en-US" sz="1400" b="1" dirty="0">
                <a:solidFill>
                  <a:srgbClr val="0C1D3A"/>
                </a:solidFill>
                <a:latin typeface="Aptos"/>
              </a:rPr>
              <a:t> (STORY TELLING)</a:t>
            </a:r>
            <a:endParaRPr sz="1400" b="1" dirty="0">
              <a:solidFill>
                <a:srgbClr val="0C1D3A"/>
              </a:solidFill>
              <a:latin typeface="Aptos"/>
            </a:endParaRPr>
          </a:p>
        </p:txBody>
      </p:sp>
      <p:sp>
        <p:nvSpPr>
          <p:cNvPr id="13" name="TextBox 12"/>
          <p:cNvSpPr txBox="1"/>
          <p:nvPr/>
        </p:nvSpPr>
        <p:spPr>
          <a:xfrm>
            <a:off x="3675888" y="2907792"/>
            <a:ext cx="2359152" cy="1417320"/>
          </a:xfrm>
          <a:prstGeom prst="rect">
            <a:avLst/>
          </a:prstGeom>
          <a:noFill/>
        </p:spPr>
        <p:txBody>
          <a:bodyPr wrap="square" anchor="t">
            <a:spAutoFit/>
          </a:bodyPr>
          <a:lstStyle/>
          <a:p>
            <a:pPr algn="l"/>
            <a:r>
              <a:rPr sz="1200" b="0" dirty="0">
                <a:solidFill>
                  <a:srgbClr val="0F172A"/>
                </a:solidFill>
                <a:latin typeface="Aptos"/>
              </a:rPr>
              <a:t>Workflow, methodology alignment, integration, review cadence, blockers, deliverable completeness.</a:t>
            </a:r>
          </a:p>
        </p:txBody>
      </p:sp>
      <p:sp>
        <p:nvSpPr>
          <p:cNvPr id="14" name="Rounded Rectangle 13"/>
          <p:cNvSpPr/>
          <p:nvPr/>
        </p:nvSpPr>
        <p:spPr>
          <a:xfrm>
            <a:off x="6400800" y="1965960"/>
            <a:ext cx="265176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1965960"/>
            <a:ext cx="64008" cy="2057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2103120"/>
            <a:ext cx="2359152" cy="320040"/>
          </a:xfrm>
          <a:prstGeom prst="rect">
            <a:avLst/>
          </a:prstGeom>
          <a:noFill/>
        </p:spPr>
        <p:txBody>
          <a:bodyPr wrap="square" anchor="t">
            <a:spAutoFit/>
          </a:bodyPr>
          <a:lstStyle/>
          <a:p>
            <a:pPr algn="l"/>
            <a:r>
              <a:rPr sz="1400" b="1">
                <a:solidFill>
                  <a:srgbClr val="0C1D3A"/>
                </a:solidFill>
                <a:latin typeface="Aptos"/>
              </a:rPr>
              <a:t>ENGINEERING · SANTOSH</a:t>
            </a:r>
          </a:p>
        </p:txBody>
      </p:sp>
      <p:sp>
        <p:nvSpPr>
          <p:cNvPr id="17" name="TextBox 16"/>
          <p:cNvSpPr txBox="1"/>
          <p:nvPr/>
        </p:nvSpPr>
        <p:spPr>
          <a:xfrm>
            <a:off x="6579108" y="2898648"/>
            <a:ext cx="2359152" cy="1417320"/>
          </a:xfrm>
          <a:prstGeom prst="rect">
            <a:avLst/>
          </a:prstGeom>
          <a:noFill/>
        </p:spPr>
        <p:txBody>
          <a:bodyPr wrap="square" anchor="t">
            <a:spAutoFit/>
          </a:bodyPr>
          <a:lstStyle/>
          <a:p>
            <a:pPr algn="l"/>
            <a:r>
              <a:rPr sz="1200" b="0">
                <a:solidFill>
                  <a:srgbClr val="0F172A"/>
                </a:solidFill>
                <a:latin typeface="Aptos"/>
              </a:rPr>
              <a:t>Data/engineering execution, analytical implementation, model development and testing.</a:t>
            </a:r>
          </a:p>
        </p:txBody>
      </p:sp>
      <p:sp>
        <p:nvSpPr>
          <p:cNvPr id="18" name="Rounded Rectangle 17"/>
          <p:cNvSpPr/>
          <p:nvPr/>
        </p:nvSpPr>
        <p:spPr>
          <a:xfrm>
            <a:off x="9281160" y="1965960"/>
            <a:ext cx="224028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81160" y="1965960"/>
            <a:ext cx="64008" cy="2057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45752" y="2103120"/>
            <a:ext cx="1947672" cy="320040"/>
          </a:xfrm>
          <a:prstGeom prst="rect">
            <a:avLst/>
          </a:prstGeom>
          <a:noFill/>
        </p:spPr>
        <p:txBody>
          <a:bodyPr wrap="square" anchor="t">
            <a:spAutoFit/>
          </a:bodyPr>
          <a:lstStyle/>
          <a:p>
            <a:pPr algn="l"/>
            <a:r>
              <a:rPr sz="1400" b="1">
                <a:solidFill>
                  <a:srgbClr val="0C1D3A"/>
                </a:solidFill>
                <a:latin typeface="Aptos"/>
              </a:rPr>
              <a:t>SUPPORT · ANANYA</a:t>
            </a:r>
          </a:p>
        </p:txBody>
      </p:sp>
      <p:sp>
        <p:nvSpPr>
          <p:cNvPr id="21" name="TextBox 20"/>
          <p:cNvSpPr txBox="1"/>
          <p:nvPr/>
        </p:nvSpPr>
        <p:spPr>
          <a:xfrm>
            <a:off x="9445752" y="2962656"/>
            <a:ext cx="1947672" cy="1417320"/>
          </a:xfrm>
          <a:prstGeom prst="rect">
            <a:avLst/>
          </a:prstGeom>
          <a:noFill/>
        </p:spPr>
        <p:txBody>
          <a:bodyPr wrap="square" anchor="t">
            <a:spAutoFit/>
          </a:bodyPr>
          <a:lstStyle/>
          <a:p>
            <a:pPr algn="l"/>
            <a:r>
              <a:rPr sz="1100" b="0" dirty="0">
                <a:solidFill>
                  <a:srgbClr val="0F172A"/>
                </a:solidFill>
                <a:latin typeface="Aptos"/>
              </a:rPr>
              <a:t>Supporting engineering / analytics tasks when available.</a:t>
            </a:r>
          </a:p>
        </p:txBody>
      </p:sp>
      <p:sp>
        <p:nvSpPr>
          <p:cNvPr id="22" name="TextBox 21"/>
          <p:cNvSpPr txBox="1"/>
          <p:nvPr/>
        </p:nvSpPr>
        <p:spPr>
          <a:xfrm>
            <a:off x="731520" y="4480560"/>
            <a:ext cx="10789920" cy="320040"/>
          </a:xfrm>
          <a:prstGeom prst="rect">
            <a:avLst/>
          </a:prstGeom>
          <a:noFill/>
        </p:spPr>
        <p:txBody>
          <a:bodyPr wrap="square" anchor="t">
            <a:spAutoFit/>
          </a:bodyPr>
          <a:lstStyle/>
          <a:p>
            <a:pPr algn="l"/>
            <a:r>
              <a:rPr sz="1500" b="1">
                <a:solidFill>
                  <a:srgbClr val="0C1D3A"/>
                </a:solidFill>
                <a:latin typeface="Aptos"/>
              </a:rPr>
              <a:t>Real-world expertise that must be represented or consulted</a:t>
            </a:r>
          </a:p>
        </p:txBody>
      </p:sp>
      <p:sp>
        <p:nvSpPr>
          <p:cNvPr id="23" name="Rounded Rectangle 22"/>
          <p:cNvSpPr/>
          <p:nvPr/>
        </p:nvSpPr>
        <p:spPr>
          <a:xfrm>
            <a:off x="731520" y="4983480"/>
            <a:ext cx="20116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010912"/>
            <a:ext cx="2011680" cy="256032"/>
          </a:xfrm>
          <a:prstGeom prst="rect">
            <a:avLst/>
          </a:prstGeom>
          <a:noFill/>
        </p:spPr>
        <p:txBody>
          <a:bodyPr wrap="square" anchor="t">
            <a:spAutoFit/>
          </a:bodyPr>
          <a:lstStyle/>
          <a:p>
            <a:pPr algn="ctr"/>
            <a:r>
              <a:rPr sz="1000" b="1">
                <a:solidFill>
                  <a:srgbClr val="FFFFFF"/>
                </a:solidFill>
                <a:latin typeface="Aptos"/>
              </a:rPr>
              <a:t>Wind Energy SME</a:t>
            </a:r>
          </a:p>
        </p:txBody>
      </p:sp>
      <p:sp>
        <p:nvSpPr>
          <p:cNvPr id="25" name="Rounded Rectangle 24"/>
          <p:cNvSpPr/>
          <p:nvPr/>
        </p:nvSpPr>
        <p:spPr>
          <a:xfrm>
            <a:off x="2926080" y="4983480"/>
            <a:ext cx="214884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0" y="5010912"/>
            <a:ext cx="2148840" cy="256032"/>
          </a:xfrm>
          <a:prstGeom prst="rect">
            <a:avLst/>
          </a:prstGeom>
          <a:noFill/>
        </p:spPr>
        <p:txBody>
          <a:bodyPr wrap="square" anchor="t">
            <a:spAutoFit/>
          </a:bodyPr>
          <a:lstStyle/>
          <a:p>
            <a:pPr algn="ctr"/>
            <a:r>
              <a:rPr sz="1000" b="1">
                <a:solidFill>
                  <a:srgbClr val="FFFFFF"/>
                </a:solidFill>
                <a:latin typeface="Aptos"/>
              </a:rPr>
              <a:t>SCADA / Operations SME</a:t>
            </a:r>
          </a:p>
        </p:txBody>
      </p:sp>
      <p:sp>
        <p:nvSpPr>
          <p:cNvPr id="27" name="Rounded Rectangle 26"/>
          <p:cNvSpPr/>
          <p:nvPr/>
        </p:nvSpPr>
        <p:spPr>
          <a:xfrm>
            <a:off x="5257800" y="4983480"/>
            <a:ext cx="1920240" cy="3840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57800" y="5010912"/>
            <a:ext cx="1920240" cy="256032"/>
          </a:xfrm>
          <a:prstGeom prst="rect">
            <a:avLst/>
          </a:prstGeom>
          <a:noFill/>
        </p:spPr>
        <p:txBody>
          <a:bodyPr wrap="square" anchor="t">
            <a:spAutoFit/>
          </a:bodyPr>
          <a:lstStyle/>
          <a:p>
            <a:pPr algn="ctr"/>
            <a:r>
              <a:rPr sz="1000" b="1">
                <a:solidFill>
                  <a:srgbClr val="FFFFFF"/>
                </a:solidFill>
                <a:latin typeface="Aptos"/>
              </a:rPr>
              <a:t>Data Engineering</a:t>
            </a:r>
          </a:p>
        </p:txBody>
      </p:sp>
      <p:sp>
        <p:nvSpPr>
          <p:cNvPr id="29" name="Rounded Rectangle 28"/>
          <p:cNvSpPr/>
          <p:nvPr/>
        </p:nvSpPr>
        <p:spPr>
          <a:xfrm>
            <a:off x="7360920" y="4983480"/>
            <a:ext cx="1920240" cy="3840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0920" y="5010912"/>
            <a:ext cx="1920240" cy="256032"/>
          </a:xfrm>
          <a:prstGeom prst="rect">
            <a:avLst/>
          </a:prstGeom>
          <a:noFill/>
        </p:spPr>
        <p:txBody>
          <a:bodyPr wrap="square" anchor="t">
            <a:spAutoFit/>
          </a:bodyPr>
          <a:lstStyle/>
          <a:p>
            <a:pPr algn="ctr"/>
            <a:r>
              <a:rPr sz="1000" b="1">
                <a:solidFill>
                  <a:srgbClr val="FFFFFF"/>
                </a:solidFill>
                <a:latin typeface="Aptos"/>
              </a:rPr>
              <a:t>Data Science / ML</a:t>
            </a:r>
          </a:p>
        </p:txBody>
      </p:sp>
      <p:sp>
        <p:nvSpPr>
          <p:cNvPr id="31" name="Rounded Rectangle 30"/>
          <p:cNvSpPr/>
          <p:nvPr/>
        </p:nvSpPr>
        <p:spPr>
          <a:xfrm>
            <a:off x="9464040" y="4983480"/>
            <a:ext cx="1965960"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5010912"/>
            <a:ext cx="1965960" cy="256032"/>
          </a:xfrm>
          <a:prstGeom prst="rect">
            <a:avLst/>
          </a:prstGeom>
          <a:noFill/>
        </p:spPr>
        <p:txBody>
          <a:bodyPr wrap="square" anchor="t">
            <a:spAutoFit/>
          </a:bodyPr>
          <a:lstStyle/>
          <a:p>
            <a:pPr algn="ctr"/>
            <a:r>
              <a:rPr sz="1000" b="1">
                <a:solidFill>
                  <a:srgbClr val="FFFFFF"/>
                </a:solidFill>
                <a:latin typeface="Aptos"/>
              </a:rPr>
              <a:t>Business / Finance</a:t>
            </a:r>
          </a:p>
        </p:txBody>
      </p:sp>
      <p:sp>
        <p:nvSpPr>
          <p:cNvPr id="33" name="TextBox 32"/>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Instructor requirement: Domain Business Expertise + Data Expertise + Analytics Expertise.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UNDERSTAND OBJECTIVES</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Translate the assignment into business objectives</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Algorithms are not objectives; they are possible methods used later.</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920240"/>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920240"/>
            <a:ext cx="64008" cy="1417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057400"/>
            <a:ext cx="3227832" cy="320040"/>
          </a:xfrm>
          <a:prstGeom prst="rect">
            <a:avLst/>
          </a:prstGeom>
          <a:noFill/>
        </p:spPr>
        <p:txBody>
          <a:bodyPr wrap="square" anchor="t">
            <a:spAutoFit/>
          </a:bodyPr>
          <a:lstStyle/>
          <a:p>
            <a:pPr algn="l"/>
            <a:r>
              <a:rPr sz="1400" b="1">
                <a:solidFill>
                  <a:srgbClr val="0C1D3A"/>
                </a:solidFill>
                <a:latin typeface="Aptos"/>
              </a:rPr>
              <a:t>1 · QUANTIFY</a:t>
            </a:r>
          </a:p>
        </p:txBody>
      </p:sp>
      <p:sp>
        <p:nvSpPr>
          <p:cNvPr id="9" name="TextBox 8"/>
          <p:cNvSpPr txBox="1"/>
          <p:nvPr/>
        </p:nvSpPr>
        <p:spPr>
          <a:xfrm>
            <a:off x="804671" y="2450592"/>
            <a:ext cx="3227832" cy="777240"/>
          </a:xfrm>
          <a:prstGeom prst="rect">
            <a:avLst/>
          </a:prstGeom>
          <a:noFill/>
        </p:spPr>
        <p:txBody>
          <a:bodyPr wrap="square" anchor="t">
            <a:spAutoFit/>
          </a:bodyPr>
          <a:lstStyle/>
          <a:p>
            <a:pPr algn="l"/>
            <a:r>
              <a:rPr sz="1100" b="0">
                <a:solidFill>
                  <a:srgbClr val="0F172A"/>
                </a:solidFill>
                <a:latin typeface="Aptos"/>
              </a:rPr>
              <a:t>Measure actual vs expected power and locate the generation gap.</a:t>
            </a:r>
          </a:p>
        </p:txBody>
      </p:sp>
      <p:sp>
        <p:nvSpPr>
          <p:cNvPr id="10" name="Rounded Rectangle 9"/>
          <p:cNvSpPr/>
          <p:nvPr/>
        </p:nvSpPr>
        <p:spPr>
          <a:xfrm>
            <a:off x="4434840" y="1920240"/>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920240"/>
            <a:ext cx="64008"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2" y="2057400"/>
            <a:ext cx="3227832" cy="320040"/>
          </a:xfrm>
          <a:prstGeom prst="rect">
            <a:avLst/>
          </a:prstGeom>
          <a:noFill/>
        </p:spPr>
        <p:txBody>
          <a:bodyPr wrap="square" anchor="t">
            <a:spAutoFit/>
          </a:bodyPr>
          <a:lstStyle/>
          <a:p>
            <a:pPr algn="l"/>
            <a:r>
              <a:rPr sz="1400" b="1">
                <a:solidFill>
                  <a:srgbClr val="0C1D3A"/>
                </a:solidFill>
                <a:latin typeface="Aptos"/>
              </a:rPr>
              <a:t>2 · IDENTIFY</a:t>
            </a:r>
          </a:p>
        </p:txBody>
      </p:sp>
      <p:sp>
        <p:nvSpPr>
          <p:cNvPr id="13" name="TextBox 12"/>
          <p:cNvSpPr txBox="1"/>
          <p:nvPr/>
        </p:nvSpPr>
        <p:spPr>
          <a:xfrm>
            <a:off x="4599432" y="2450592"/>
            <a:ext cx="3227832" cy="777240"/>
          </a:xfrm>
          <a:prstGeom prst="rect">
            <a:avLst/>
          </a:prstGeom>
          <a:noFill/>
        </p:spPr>
        <p:txBody>
          <a:bodyPr wrap="square" anchor="t">
            <a:spAutoFit/>
          </a:bodyPr>
          <a:lstStyle/>
          <a:p>
            <a:pPr algn="l"/>
            <a:r>
              <a:rPr sz="1100" b="0">
                <a:solidFill>
                  <a:srgbClr val="0F172A"/>
                </a:solidFill>
                <a:latin typeface="Aptos"/>
              </a:rPr>
              <a:t>Identify turbine-hours / turbines with material underperformance.</a:t>
            </a:r>
          </a:p>
        </p:txBody>
      </p:sp>
      <p:sp>
        <p:nvSpPr>
          <p:cNvPr id="14" name="Rounded Rectangle 13"/>
          <p:cNvSpPr/>
          <p:nvPr/>
        </p:nvSpPr>
        <p:spPr>
          <a:xfrm>
            <a:off x="8229600" y="1920240"/>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920240"/>
            <a:ext cx="64008"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94192" y="2057400"/>
            <a:ext cx="3227832" cy="320040"/>
          </a:xfrm>
          <a:prstGeom prst="rect">
            <a:avLst/>
          </a:prstGeom>
          <a:noFill/>
        </p:spPr>
        <p:txBody>
          <a:bodyPr wrap="square" anchor="t">
            <a:spAutoFit/>
          </a:bodyPr>
          <a:lstStyle/>
          <a:p>
            <a:pPr algn="l"/>
            <a:r>
              <a:rPr sz="1400" b="1">
                <a:solidFill>
                  <a:srgbClr val="0C1D3A"/>
                </a:solidFill>
                <a:latin typeface="Aptos"/>
              </a:rPr>
              <a:t>3 · EXPLAIN</a:t>
            </a:r>
          </a:p>
        </p:txBody>
      </p:sp>
      <p:sp>
        <p:nvSpPr>
          <p:cNvPr id="17" name="TextBox 16"/>
          <p:cNvSpPr txBox="1"/>
          <p:nvPr/>
        </p:nvSpPr>
        <p:spPr>
          <a:xfrm>
            <a:off x="8394192" y="2450592"/>
            <a:ext cx="3227832" cy="777240"/>
          </a:xfrm>
          <a:prstGeom prst="rect">
            <a:avLst/>
          </a:prstGeom>
          <a:noFill/>
        </p:spPr>
        <p:txBody>
          <a:bodyPr wrap="square" anchor="t">
            <a:spAutoFit/>
          </a:bodyPr>
          <a:lstStyle/>
          <a:p>
            <a:pPr algn="l"/>
            <a:r>
              <a:rPr sz="1100" b="0">
                <a:solidFill>
                  <a:srgbClr val="0F172A"/>
                </a:solidFill>
                <a:latin typeface="Aptos"/>
              </a:rPr>
              <a:t>Separate weather, curtailment, availability and potentially technical drivers.</a:t>
            </a:r>
          </a:p>
        </p:txBody>
      </p:sp>
      <p:sp>
        <p:nvSpPr>
          <p:cNvPr id="18" name="Rounded Rectangle 17"/>
          <p:cNvSpPr/>
          <p:nvPr/>
        </p:nvSpPr>
        <p:spPr>
          <a:xfrm>
            <a:off x="640080" y="3749039"/>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749039"/>
            <a:ext cx="64008"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1" y="3886200"/>
            <a:ext cx="3227832" cy="320040"/>
          </a:xfrm>
          <a:prstGeom prst="rect">
            <a:avLst/>
          </a:prstGeom>
          <a:noFill/>
        </p:spPr>
        <p:txBody>
          <a:bodyPr wrap="square" anchor="t">
            <a:spAutoFit/>
          </a:bodyPr>
          <a:lstStyle/>
          <a:p>
            <a:pPr algn="l"/>
            <a:r>
              <a:rPr sz="1400" b="1">
                <a:solidFill>
                  <a:srgbClr val="0C1D3A"/>
                </a:solidFill>
                <a:latin typeface="Aptos"/>
              </a:rPr>
              <a:t>4 · EXPECT</a:t>
            </a:r>
          </a:p>
        </p:txBody>
      </p:sp>
      <p:sp>
        <p:nvSpPr>
          <p:cNvPr id="21" name="TextBox 20"/>
          <p:cNvSpPr txBox="1"/>
          <p:nvPr/>
        </p:nvSpPr>
        <p:spPr>
          <a:xfrm>
            <a:off x="804671" y="4279392"/>
            <a:ext cx="3227832" cy="777240"/>
          </a:xfrm>
          <a:prstGeom prst="rect">
            <a:avLst/>
          </a:prstGeom>
          <a:noFill/>
        </p:spPr>
        <p:txBody>
          <a:bodyPr wrap="square" anchor="t">
            <a:spAutoFit/>
          </a:bodyPr>
          <a:lstStyle/>
          <a:p>
            <a:pPr algn="l"/>
            <a:r>
              <a:rPr sz="1100" b="0">
                <a:solidFill>
                  <a:srgbClr val="0F172A"/>
                </a:solidFill>
                <a:latin typeface="Aptos"/>
              </a:rPr>
              <a:t>Estimate what power should be produced under comparable valid conditions.</a:t>
            </a:r>
          </a:p>
        </p:txBody>
      </p:sp>
      <p:sp>
        <p:nvSpPr>
          <p:cNvPr id="22" name="Rounded Rectangle 21"/>
          <p:cNvSpPr/>
          <p:nvPr/>
        </p:nvSpPr>
        <p:spPr>
          <a:xfrm>
            <a:off x="4434840" y="3749039"/>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749039"/>
            <a:ext cx="64008" cy="1417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3886200"/>
            <a:ext cx="3227832" cy="320040"/>
          </a:xfrm>
          <a:prstGeom prst="rect">
            <a:avLst/>
          </a:prstGeom>
          <a:noFill/>
        </p:spPr>
        <p:txBody>
          <a:bodyPr wrap="square" anchor="t">
            <a:spAutoFit/>
          </a:bodyPr>
          <a:lstStyle/>
          <a:p>
            <a:pPr algn="l"/>
            <a:r>
              <a:rPr sz="1400" b="1">
                <a:solidFill>
                  <a:srgbClr val="0C1D3A"/>
                </a:solidFill>
                <a:latin typeface="Aptos"/>
              </a:rPr>
              <a:t>5 · PRIORITIZE</a:t>
            </a:r>
          </a:p>
        </p:txBody>
      </p:sp>
      <p:sp>
        <p:nvSpPr>
          <p:cNvPr id="25" name="TextBox 24"/>
          <p:cNvSpPr txBox="1"/>
          <p:nvPr/>
        </p:nvSpPr>
        <p:spPr>
          <a:xfrm>
            <a:off x="4599432" y="4279392"/>
            <a:ext cx="3227832" cy="777240"/>
          </a:xfrm>
          <a:prstGeom prst="rect">
            <a:avLst/>
          </a:prstGeom>
          <a:noFill/>
        </p:spPr>
        <p:txBody>
          <a:bodyPr wrap="square" anchor="t">
            <a:spAutoFit/>
          </a:bodyPr>
          <a:lstStyle/>
          <a:p>
            <a:pPr algn="l"/>
            <a:r>
              <a:rPr sz="1100" b="0">
                <a:solidFill>
                  <a:srgbClr val="0F172A"/>
                </a:solidFill>
                <a:latin typeface="Aptos"/>
              </a:rPr>
              <a:t>Rank potentially addressable losses by recoverable MWh / business value.</a:t>
            </a:r>
          </a:p>
        </p:txBody>
      </p:sp>
      <p:sp>
        <p:nvSpPr>
          <p:cNvPr id="26" name="Rounded Rectangle 25"/>
          <p:cNvSpPr/>
          <p:nvPr/>
        </p:nvSpPr>
        <p:spPr>
          <a:xfrm>
            <a:off x="8229600" y="3749039"/>
            <a:ext cx="3520440" cy="1417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9600" y="3749039"/>
            <a:ext cx="64008" cy="14173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94192" y="3886200"/>
            <a:ext cx="3227832" cy="320040"/>
          </a:xfrm>
          <a:prstGeom prst="rect">
            <a:avLst/>
          </a:prstGeom>
          <a:noFill/>
        </p:spPr>
        <p:txBody>
          <a:bodyPr wrap="square" anchor="t">
            <a:spAutoFit/>
          </a:bodyPr>
          <a:lstStyle/>
          <a:p>
            <a:pPr algn="l"/>
            <a:r>
              <a:rPr sz="1400" b="1">
                <a:solidFill>
                  <a:srgbClr val="0C1D3A"/>
                </a:solidFill>
                <a:latin typeface="Aptos"/>
              </a:rPr>
              <a:t>6 · OPERATIONALIZE</a:t>
            </a:r>
          </a:p>
        </p:txBody>
      </p:sp>
      <p:sp>
        <p:nvSpPr>
          <p:cNvPr id="29" name="TextBox 28"/>
          <p:cNvSpPr txBox="1"/>
          <p:nvPr/>
        </p:nvSpPr>
        <p:spPr>
          <a:xfrm>
            <a:off x="8394192" y="4279392"/>
            <a:ext cx="3227832" cy="777240"/>
          </a:xfrm>
          <a:prstGeom prst="rect">
            <a:avLst/>
          </a:prstGeom>
          <a:noFill/>
        </p:spPr>
        <p:txBody>
          <a:bodyPr wrap="square" anchor="t">
            <a:spAutoFit/>
          </a:bodyPr>
          <a:lstStyle/>
          <a:p>
            <a:pPr algn="l"/>
            <a:r>
              <a:rPr sz="1100" b="0">
                <a:solidFill>
                  <a:srgbClr val="0F172A"/>
                </a:solidFill>
                <a:latin typeface="Aptos"/>
              </a:rPr>
              <a:t>Define how monitoring and decision support could eventually use SCADA data.</a:t>
            </a:r>
          </a:p>
        </p:txBody>
      </p:sp>
      <p:sp>
        <p:nvSpPr>
          <p:cNvPr id="30" name="TextBox 29"/>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capstone brief, Project Objectives. Wording reframed at business level.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EXTRACT INTERESTING QUESTIONS</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The required 5 × 5 question bank</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Every question must trace back to the wind underperformance problem.</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2103120"/>
            <a:ext cx="205740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2103120"/>
            <a:ext cx="6400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240279"/>
            <a:ext cx="1764792" cy="320040"/>
          </a:xfrm>
          <a:prstGeom prst="rect">
            <a:avLst/>
          </a:prstGeom>
          <a:noFill/>
        </p:spPr>
        <p:txBody>
          <a:bodyPr wrap="square" anchor="t">
            <a:spAutoFit/>
          </a:bodyPr>
          <a:lstStyle/>
          <a:p>
            <a:pPr algn="l"/>
            <a:r>
              <a:rPr sz="1300" b="1">
                <a:solidFill>
                  <a:srgbClr val="0C1D3A"/>
                </a:solidFill>
                <a:latin typeface="Aptos"/>
              </a:rPr>
              <a:t>DESCRIPTIVE</a:t>
            </a:r>
          </a:p>
        </p:txBody>
      </p:sp>
      <p:sp>
        <p:nvSpPr>
          <p:cNvPr id="9" name="TextBox 8"/>
          <p:cNvSpPr txBox="1"/>
          <p:nvPr/>
        </p:nvSpPr>
        <p:spPr>
          <a:xfrm>
            <a:off x="758952" y="2633472"/>
            <a:ext cx="1764792" cy="1417320"/>
          </a:xfrm>
          <a:prstGeom prst="rect">
            <a:avLst/>
          </a:prstGeom>
          <a:noFill/>
        </p:spPr>
        <p:txBody>
          <a:bodyPr wrap="square" anchor="t">
            <a:spAutoFit/>
          </a:bodyPr>
          <a:lstStyle/>
          <a:p>
            <a:pPr algn="l"/>
            <a:r>
              <a:rPr sz="1400" b="0">
                <a:solidFill>
                  <a:srgbClr val="0F172A"/>
                </a:solidFill>
                <a:latin typeface="Aptos"/>
              </a:rPr>
              <a:t>What happened?
5 questions</a:t>
            </a:r>
          </a:p>
        </p:txBody>
      </p:sp>
      <p:sp>
        <p:nvSpPr>
          <p:cNvPr id="10" name="Rounded Rectangle 9"/>
          <p:cNvSpPr/>
          <p:nvPr/>
        </p:nvSpPr>
        <p:spPr>
          <a:xfrm>
            <a:off x="2898648" y="2103120"/>
            <a:ext cx="205740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98648" y="2103120"/>
            <a:ext cx="64008" cy="2057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63240" y="2240279"/>
            <a:ext cx="1764792" cy="320040"/>
          </a:xfrm>
          <a:prstGeom prst="rect">
            <a:avLst/>
          </a:prstGeom>
          <a:noFill/>
        </p:spPr>
        <p:txBody>
          <a:bodyPr wrap="square" anchor="t">
            <a:spAutoFit/>
          </a:bodyPr>
          <a:lstStyle/>
          <a:p>
            <a:pPr algn="l"/>
            <a:r>
              <a:rPr sz="1300" b="1">
                <a:solidFill>
                  <a:srgbClr val="0C1D3A"/>
                </a:solidFill>
                <a:latin typeface="Aptos"/>
              </a:rPr>
              <a:t>DIAGNOSTIC</a:t>
            </a:r>
          </a:p>
        </p:txBody>
      </p:sp>
      <p:sp>
        <p:nvSpPr>
          <p:cNvPr id="13" name="TextBox 12"/>
          <p:cNvSpPr txBox="1"/>
          <p:nvPr/>
        </p:nvSpPr>
        <p:spPr>
          <a:xfrm>
            <a:off x="3063240" y="2633472"/>
            <a:ext cx="1764792" cy="1417320"/>
          </a:xfrm>
          <a:prstGeom prst="rect">
            <a:avLst/>
          </a:prstGeom>
          <a:noFill/>
        </p:spPr>
        <p:txBody>
          <a:bodyPr wrap="square" anchor="t">
            <a:spAutoFit/>
          </a:bodyPr>
          <a:lstStyle/>
          <a:p>
            <a:pPr algn="l"/>
            <a:r>
              <a:rPr sz="1400" b="0">
                <a:solidFill>
                  <a:srgbClr val="0F172A"/>
                </a:solidFill>
                <a:latin typeface="Aptos"/>
              </a:rPr>
              <a:t>Why did it happen?
5 questions</a:t>
            </a:r>
          </a:p>
        </p:txBody>
      </p:sp>
      <p:sp>
        <p:nvSpPr>
          <p:cNvPr id="14" name="Rounded Rectangle 13"/>
          <p:cNvSpPr/>
          <p:nvPr/>
        </p:nvSpPr>
        <p:spPr>
          <a:xfrm>
            <a:off x="5202936" y="2103120"/>
            <a:ext cx="205740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02936" y="2103120"/>
            <a:ext cx="64008" cy="2057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67528" y="2240279"/>
            <a:ext cx="1764792" cy="320040"/>
          </a:xfrm>
          <a:prstGeom prst="rect">
            <a:avLst/>
          </a:prstGeom>
          <a:noFill/>
        </p:spPr>
        <p:txBody>
          <a:bodyPr wrap="square" anchor="t">
            <a:spAutoFit/>
          </a:bodyPr>
          <a:lstStyle/>
          <a:p>
            <a:pPr algn="l"/>
            <a:r>
              <a:rPr sz="1300" b="1">
                <a:solidFill>
                  <a:srgbClr val="0C1D3A"/>
                </a:solidFill>
                <a:latin typeface="Aptos"/>
              </a:rPr>
              <a:t>PREDICTIVE</a:t>
            </a:r>
          </a:p>
        </p:txBody>
      </p:sp>
      <p:sp>
        <p:nvSpPr>
          <p:cNvPr id="17" name="TextBox 16"/>
          <p:cNvSpPr txBox="1"/>
          <p:nvPr/>
        </p:nvSpPr>
        <p:spPr>
          <a:xfrm>
            <a:off x="5367528" y="2633472"/>
            <a:ext cx="1764792" cy="1417320"/>
          </a:xfrm>
          <a:prstGeom prst="rect">
            <a:avLst/>
          </a:prstGeom>
          <a:noFill/>
        </p:spPr>
        <p:txBody>
          <a:bodyPr wrap="square" anchor="t">
            <a:spAutoFit/>
          </a:bodyPr>
          <a:lstStyle/>
          <a:p>
            <a:pPr algn="l"/>
            <a:r>
              <a:rPr sz="1400" b="0">
                <a:solidFill>
                  <a:srgbClr val="0F172A"/>
                </a:solidFill>
                <a:latin typeface="Aptos"/>
              </a:rPr>
              <a:t>What is likely / expected?
5 questions</a:t>
            </a:r>
          </a:p>
        </p:txBody>
      </p:sp>
      <p:sp>
        <p:nvSpPr>
          <p:cNvPr id="18" name="Rounded Rectangle 17"/>
          <p:cNvSpPr/>
          <p:nvPr/>
        </p:nvSpPr>
        <p:spPr>
          <a:xfrm>
            <a:off x="7507224" y="2103120"/>
            <a:ext cx="205740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07224" y="2103120"/>
            <a:ext cx="64008" cy="2057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71816" y="2240279"/>
            <a:ext cx="1764792" cy="320040"/>
          </a:xfrm>
          <a:prstGeom prst="rect">
            <a:avLst/>
          </a:prstGeom>
          <a:noFill/>
        </p:spPr>
        <p:txBody>
          <a:bodyPr wrap="square" anchor="t">
            <a:spAutoFit/>
          </a:bodyPr>
          <a:lstStyle/>
          <a:p>
            <a:pPr algn="l"/>
            <a:r>
              <a:rPr sz="1300" b="1">
                <a:solidFill>
                  <a:srgbClr val="0C1D3A"/>
                </a:solidFill>
                <a:latin typeface="Aptos"/>
              </a:rPr>
              <a:t>PRESCRIPTIVE</a:t>
            </a:r>
          </a:p>
        </p:txBody>
      </p:sp>
      <p:sp>
        <p:nvSpPr>
          <p:cNvPr id="21" name="TextBox 20"/>
          <p:cNvSpPr txBox="1"/>
          <p:nvPr/>
        </p:nvSpPr>
        <p:spPr>
          <a:xfrm>
            <a:off x="7671816" y="2633472"/>
            <a:ext cx="1764792" cy="1417320"/>
          </a:xfrm>
          <a:prstGeom prst="rect">
            <a:avLst/>
          </a:prstGeom>
          <a:noFill/>
        </p:spPr>
        <p:txBody>
          <a:bodyPr wrap="square" anchor="t">
            <a:spAutoFit/>
          </a:bodyPr>
          <a:lstStyle/>
          <a:p>
            <a:pPr algn="l"/>
            <a:r>
              <a:rPr sz="1400" b="0">
                <a:solidFill>
                  <a:srgbClr val="0F172A"/>
                </a:solidFill>
                <a:latin typeface="Aptos"/>
              </a:rPr>
              <a:t>What should we do?
5 questions</a:t>
            </a:r>
          </a:p>
        </p:txBody>
      </p:sp>
      <p:sp>
        <p:nvSpPr>
          <p:cNvPr id="22" name="Rounded Rectangle 21"/>
          <p:cNvSpPr/>
          <p:nvPr/>
        </p:nvSpPr>
        <p:spPr>
          <a:xfrm>
            <a:off x="9811512" y="2103120"/>
            <a:ext cx="2057400" cy="2057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811512" y="2103120"/>
            <a:ext cx="64008" cy="2057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76104" y="2240279"/>
            <a:ext cx="1764792" cy="320040"/>
          </a:xfrm>
          <a:prstGeom prst="rect">
            <a:avLst/>
          </a:prstGeom>
          <a:noFill/>
        </p:spPr>
        <p:txBody>
          <a:bodyPr wrap="square" anchor="t">
            <a:spAutoFit/>
          </a:bodyPr>
          <a:lstStyle/>
          <a:p>
            <a:pPr algn="l"/>
            <a:r>
              <a:rPr sz="1300" b="1">
                <a:solidFill>
                  <a:srgbClr val="0C1D3A"/>
                </a:solidFill>
                <a:latin typeface="Aptos"/>
              </a:rPr>
              <a:t>COGNITIVE</a:t>
            </a:r>
          </a:p>
        </p:txBody>
      </p:sp>
      <p:sp>
        <p:nvSpPr>
          <p:cNvPr id="25" name="TextBox 24"/>
          <p:cNvSpPr txBox="1"/>
          <p:nvPr/>
        </p:nvSpPr>
        <p:spPr>
          <a:xfrm>
            <a:off x="9976104" y="2633472"/>
            <a:ext cx="1764792" cy="1417320"/>
          </a:xfrm>
          <a:prstGeom prst="rect">
            <a:avLst/>
          </a:prstGeom>
          <a:noFill/>
        </p:spPr>
        <p:txBody>
          <a:bodyPr wrap="square" anchor="t">
            <a:spAutoFit/>
          </a:bodyPr>
          <a:lstStyle/>
          <a:p>
            <a:pPr algn="l"/>
            <a:r>
              <a:rPr sz="1400" b="0">
                <a:solidFill>
                  <a:srgbClr val="0F172A"/>
                </a:solidFill>
                <a:latin typeface="Aptos"/>
              </a:rPr>
              <a:t>How can the system learn/adapt?
5 questions</a:t>
            </a:r>
          </a:p>
        </p:txBody>
      </p:sp>
      <p:sp>
        <p:nvSpPr>
          <p:cNvPr id="26" name="TextBox 25"/>
          <p:cNvSpPr txBox="1"/>
          <p:nvPr/>
        </p:nvSpPr>
        <p:spPr>
          <a:xfrm>
            <a:off x="1005840" y="4800600"/>
            <a:ext cx="10149840" cy="731520"/>
          </a:xfrm>
          <a:prstGeom prst="rect">
            <a:avLst/>
          </a:prstGeom>
          <a:noFill/>
        </p:spPr>
        <p:txBody>
          <a:bodyPr wrap="square" anchor="t">
            <a:spAutoFit/>
          </a:bodyPr>
          <a:lstStyle/>
          <a:p>
            <a:pPr algn="ctr"/>
            <a:r>
              <a:rPr sz="2000" b="1">
                <a:solidFill>
                  <a:srgbClr val="0C1D3A"/>
                </a:solidFill>
                <a:latin typeface="Aptos"/>
              </a:rPr>
              <a:t>5 + 5 + 5 + 5 + 5 = 25 business/analytical questions — framed now, answered later with evidence.</a:t>
            </a:r>
          </a:p>
        </p:txBody>
      </p:sp>
      <p:sp>
        <p:nvSpPr>
          <p:cNvPr id="27" name="TextBox 26"/>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Dr. Mo requirement; Stage-1 question bank in team framing document.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25-QUESTION BANK</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Descriptive + Diagnostic</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Descriptive = what happened. Diagnostic = why it happened.</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74519"/>
            <a:ext cx="5440680" cy="42519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74519"/>
            <a:ext cx="64008" cy="4251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011679"/>
            <a:ext cx="5148072" cy="320040"/>
          </a:xfrm>
          <a:prstGeom prst="rect">
            <a:avLst/>
          </a:prstGeom>
          <a:noFill/>
        </p:spPr>
        <p:txBody>
          <a:bodyPr wrap="square" anchor="t">
            <a:spAutoFit/>
          </a:bodyPr>
          <a:lstStyle/>
          <a:p>
            <a:pPr algn="l"/>
            <a:r>
              <a:rPr sz="1500" b="1">
                <a:solidFill>
                  <a:srgbClr val="0C1D3A"/>
                </a:solidFill>
                <a:latin typeface="Aptos"/>
              </a:rPr>
              <a:t>DESCRIPTIVE · 5</a:t>
            </a:r>
          </a:p>
        </p:txBody>
      </p:sp>
      <p:sp>
        <p:nvSpPr>
          <p:cNvPr id="9" name="TextBox 8"/>
          <p:cNvSpPr txBox="1"/>
          <p:nvPr/>
        </p:nvSpPr>
        <p:spPr>
          <a:xfrm>
            <a:off x="804671" y="2404872"/>
            <a:ext cx="5148072" cy="1938992"/>
          </a:xfrm>
          <a:prstGeom prst="rect">
            <a:avLst/>
          </a:prstGeom>
          <a:noFill/>
        </p:spPr>
        <p:txBody>
          <a:bodyPr wrap="square" anchor="t">
            <a:spAutoFit/>
          </a:bodyPr>
          <a:lstStyle/>
          <a:p>
            <a:pPr algn="l"/>
            <a:r>
              <a:rPr sz="1200" b="0" dirty="0">
                <a:solidFill>
                  <a:srgbClr val="0F172A"/>
                </a:solidFill>
                <a:latin typeface="Aptos"/>
              </a:rPr>
              <a:t>1. How much actual power did each turbine produce versus expected?
2. What fraction of operating hours were &gt;10% below expected?
3. Where are the largest generation gaps by farm, turbine and model?
4. When do the largest deficits occur?
5. Under what observed environmental/operating conditions do deficits occur most often?</a:t>
            </a:r>
            <a:endParaRPr lang="en-US" sz="1200" b="0" dirty="0">
              <a:solidFill>
                <a:srgbClr val="0F172A"/>
              </a:solidFill>
              <a:latin typeface="Aptos"/>
            </a:endParaRPr>
          </a:p>
          <a:p>
            <a:pPr algn="l"/>
            <a:r>
              <a:rPr lang="en-US" sz="1200" dirty="0">
                <a:solidFill>
                  <a:srgbClr val="0F172A"/>
                </a:solidFill>
                <a:latin typeface="Aptos"/>
              </a:rPr>
              <a:t>6. What seasons of the month the turbine produce more power ?</a:t>
            </a:r>
          </a:p>
          <a:p>
            <a:r>
              <a:rPr lang="en-US" sz="1200" b="0" dirty="0">
                <a:solidFill>
                  <a:srgbClr val="0F172A"/>
                </a:solidFill>
                <a:latin typeface="Aptos"/>
              </a:rPr>
              <a:t>7.What </a:t>
            </a:r>
            <a:r>
              <a:rPr lang="en-US" sz="1200" dirty="0">
                <a:solidFill>
                  <a:srgbClr val="0F172A"/>
                </a:solidFill>
                <a:latin typeface="Aptos"/>
              </a:rPr>
              <a:t>seasons of the month the turbine produce less power ?</a:t>
            </a:r>
          </a:p>
          <a:p>
            <a:r>
              <a:rPr lang="en-US" sz="1200" b="0" dirty="0">
                <a:solidFill>
                  <a:srgbClr val="0F172A"/>
                </a:solidFill>
                <a:latin typeface="Aptos"/>
              </a:rPr>
              <a:t>8. Which </a:t>
            </a:r>
            <a:r>
              <a:rPr lang="en-US" sz="1200" dirty="0">
                <a:solidFill>
                  <a:srgbClr val="0F172A"/>
                </a:solidFill>
                <a:latin typeface="Aptos"/>
              </a:rPr>
              <a:t>geographical areas consume more power ?</a:t>
            </a:r>
          </a:p>
          <a:p>
            <a:r>
              <a:rPr lang="en-US" sz="1200" b="0" dirty="0">
                <a:solidFill>
                  <a:srgbClr val="0F172A"/>
                </a:solidFill>
                <a:latin typeface="Aptos"/>
              </a:rPr>
              <a:t>9. </a:t>
            </a:r>
            <a:r>
              <a:rPr lang="en-US" sz="1200" dirty="0">
                <a:solidFill>
                  <a:srgbClr val="0F172A"/>
                </a:solidFill>
                <a:latin typeface="Aptos"/>
              </a:rPr>
              <a:t>Which geographical areas consume less power </a:t>
            </a:r>
            <a:endParaRPr sz="1200" b="0" dirty="0">
              <a:solidFill>
                <a:srgbClr val="0F172A"/>
              </a:solidFill>
              <a:latin typeface="Aptos"/>
            </a:endParaRPr>
          </a:p>
        </p:txBody>
      </p:sp>
      <p:sp>
        <p:nvSpPr>
          <p:cNvPr id="10" name="Rounded Rectangle 9"/>
          <p:cNvSpPr/>
          <p:nvPr/>
        </p:nvSpPr>
        <p:spPr>
          <a:xfrm>
            <a:off x="6263640" y="1874519"/>
            <a:ext cx="5257800" cy="42519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874519"/>
            <a:ext cx="64008" cy="4251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2011679"/>
            <a:ext cx="4965192" cy="320040"/>
          </a:xfrm>
          <a:prstGeom prst="rect">
            <a:avLst/>
          </a:prstGeom>
          <a:noFill/>
        </p:spPr>
        <p:txBody>
          <a:bodyPr wrap="square" anchor="t">
            <a:spAutoFit/>
          </a:bodyPr>
          <a:lstStyle/>
          <a:p>
            <a:pPr algn="l"/>
            <a:r>
              <a:rPr sz="1500" b="1">
                <a:solidFill>
                  <a:srgbClr val="0C1D3A"/>
                </a:solidFill>
                <a:latin typeface="Aptos"/>
              </a:rPr>
              <a:t>DIAGNOSTIC · 5</a:t>
            </a:r>
          </a:p>
        </p:txBody>
      </p:sp>
      <p:sp>
        <p:nvSpPr>
          <p:cNvPr id="13" name="TextBox 12"/>
          <p:cNvSpPr txBox="1"/>
          <p:nvPr/>
        </p:nvSpPr>
        <p:spPr>
          <a:xfrm>
            <a:off x="6428231" y="2404872"/>
            <a:ext cx="4965192" cy="2308324"/>
          </a:xfrm>
          <a:prstGeom prst="rect">
            <a:avLst/>
          </a:prstGeom>
          <a:noFill/>
        </p:spPr>
        <p:txBody>
          <a:bodyPr wrap="square" anchor="t">
            <a:spAutoFit/>
          </a:bodyPr>
          <a:lstStyle/>
          <a:p>
            <a:pPr algn="l"/>
            <a:r>
              <a:rPr sz="1200" b="0" dirty="0">
                <a:solidFill>
                  <a:srgbClr val="0F172A"/>
                </a:solidFill>
                <a:latin typeface="Aptos"/>
              </a:rPr>
              <a:t>1. How much apparent loss is associated with weather/resource conditions?
2. How much is associated with curtailment?
3. How much is associated with reduced availability?
4. Are yaw, rotor or condition signals associated with eligible underperformance?
5. Could missing, invalid or inconsistent data explain part of the apparent gap?</a:t>
            </a:r>
            <a:endParaRPr lang="en-US" sz="1200" b="0" dirty="0">
              <a:solidFill>
                <a:srgbClr val="0F172A"/>
              </a:solidFill>
              <a:latin typeface="Aptos"/>
            </a:endParaRPr>
          </a:p>
          <a:p>
            <a:pPr algn="l"/>
            <a:r>
              <a:rPr lang="en-US" sz="1200" dirty="0">
                <a:solidFill>
                  <a:srgbClr val="0F172A"/>
                </a:solidFill>
                <a:latin typeface="Aptos"/>
              </a:rPr>
              <a:t>6. Is the preventive maintenance done regularly ?</a:t>
            </a:r>
          </a:p>
          <a:p>
            <a:pPr algn="l"/>
            <a:r>
              <a:rPr lang="en-US" sz="1200" b="0" dirty="0">
                <a:solidFill>
                  <a:srgbClr val="0F172A"/>
                </a:solidFill>
                <a:latin typeface="Aptos"/>
              </a:rPr>
              <a:t>7. Is the SCADA monitoring enough for preventive maintenance in real time?</a:t>
            </a:r>
          </a:p>
          <a:p>
            <a:pPr algn="l"/>
            <a:r>
              <a:rPr lang="en-US" sz="1200" dirty="0">
                <a:solidFill>
                  <a:srgbClr val="0F172A"/>
                </a:solidFill>
                <a:latin typeface="Aptos"/>
              </a:rPr>
              <a:t>8. Which sensors are the first to fail, do we have data to help diagnose ?</a:t>
            </a:r>
          </a:p>
        </p:txBody>
      </p:sp>
      <p:sp>
        <p:nvSpPr>
          <p:cNvPr id="14" name="TextBox 13"/>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Questions refined from the team’s Stage-1 framing; final wording should be team-approved before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25-QUESTION BANK</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Predictive + Prescriptive + Cognitive</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Keep Stage-1 questions ambitious, but distinguish what may require additional data.</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828800"/>
            <a:ext cx="3703320" cy="4343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64008" cy="4343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965960"/>
            <a:ext cx="3410712" cy="320040"/>
          </a:xfrm>
          <a:prstGeom prst="rect">
            <a:avLst/>
          </a:prstGeom>
          <a:noFill/>
        </p:spPr>
        <p:txBody>
          <a:bodyPr wrap="square" anchor="t">
            <a:spAutoFit/>
          </a:bodyPr>
          <a:lstStyle/>
          <a:p>
            <a:pPr algn="l"/>
            <a:r>
              <a:rPr sz="1400" b="1">
                <a:solidFill>
                  <a:srgbClr val="0C1D3A"/>
                </a:solidFill>
                <a:latin typeface="Aptos"/>
              </a:rPr>
              <a:t>PREDICTIVE · 5</a:t>
            </a:r>
          </a:p>
        </p:txBody>
      </p:sp>
      <p:sp>
        <p:nvSpPr>
          <p:cNvPr id="9" name="TextBox 8"/>
          <p:cNvSpPr txBox="1"/>
          <p:nvPr/>
        </p:nvSpPr>
        <p:spPr>
          <a:xfrm>
            <a:off x="667512" y="2359152"/>
            <a:ext cx="3410712" cy="2462213"/>
          </a:xfrm>
          <a:prstGeom prst="rect">
            <a:avLst/>
          </a:prstGeom>
          <a:noFill/>
        </p:spPr>
        <p:txBody>
          <a:bodyPr wrap="square" anchor="t">
            <a:spAutoFit/>
          </a:bodyPr>
          <a:lstStyle/>
          <a:p>
            <a:pPr algn="l"/>
            <a:r>
              <a:rPr sz="1100" b="0" dirty="0">
                <a:solidFill>
                  <a:srgbClr val="0F172A"/>
                </a:solidFill>
                <a:latin typeface="Aptos"/>
              </a:rPr>
              <a:t>1. What power should a turbine produce under comparable valid conditions?
2. Which turbine-hours are likely to become underperforming?
3. How large could the future energy deficit become if patterns persist?
4. Can SCADA condition signals predict emerging underperformance?
5. Can short-horizon generation be forecast reliably with available history?</a:t>
            </a:r>
            <a:endParaRPr lang="en-US" sz="1100" b="0" dirty="0">
              <a:solidFill>
                <a:srgbClr val="0F172A"/>
              </a:solidFill>
              <a:latin typeface="Aptos"/>
            </a:endParaRPr>
          </a:p>
          <a:p>
            <a:pPr algn="l"/>
            <a:r>
              <a:rPr lang="en-US" sz="1100" dirty="0">
                <a:solidFill>
                  <a:srgbClr val="0F172A"/>
                </a:solidFill>
                <a:latin typeface="Aptos"/>
              </a:rPr>
              <a:t>6. Based on the season, winter, summer, </a:t>
            </a:r>
            <a:r>
              <a:rPr lang="en-US" sz="1100" dirty="0" err="1">
                <a:solidFill>
                  <a:srgbClr val="0F172A"/>
                </a:solidFill>
                <a:latin typeface="Aptos"/>
              </a:rPr>
              <a:t>etc</a:t>
            </a:r>
            <a:r>
              <a:rPr lang="en-US" sz="1100" dirty="0">
                <a:solidFill>
                  <a:srgbClr val="0F172A"/>
                </a:solidFill>
                <a:latin typeface="Aptos"/>
              </a:rPr>
              <a:t> or month could we quantify that we need more turbines ?</a:t>
            </a:r>
          </a:p>
          <a:p>
            <a:pPr algn="l"/>
            <a:endParaRPr sz="1100" b="0" dirty="0">
              <a:solidFill>
                <a:srgbClr val="0F172A"/>
              </a:solidFill>
              <a:latin typeface="Aptos"/>
            </a:endParaRPr>
          </a:p>
        </p:txBody>
      </p:sp>
      <p:sp>
        <p:nvSpPr>
          <p:cNvPr id="10" name="Rounded Rectangle 9"/>
          <p:cNvSpPr/>
          <p:nvPr/>
        </p:nvSpPr>
        <p:spPr>
          <a:xfrm>
            <a:off x="4251960" y="1828800"/>
            <a:ext cx="3703320" cy="4343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51960" y="1828800"/>
            <a:ext cx="64008" cy="4343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6552" y="1965960"/>
            <a:ext cx="3410712" cy="320040"/>
          </a:xfrm>
          <a:prstGeom prst="rect">
            <a:avLst/>
          </a:prstGeom>
          <a:noFill/>
        </p:spPr>
        <p:txBody>
          <a:bodyPr wrap="square" anchor="t">
            <a:spAutoFit/>
          </a:bodyPr>
          <a:lstStyle/>
          <a:p>
            <a:pPr algn="l"/>
            <a:r>
              <a:rPr sz="1400" b="1">
                <a:solidFill>
                  <a:srgbClr val="0C1D3A"/>
                </a:solidFill>
                <a:latin typeface="Aptos"/>
              </a:rPr>
              <a:t>PRESCRIPTIVE · 5</a:t>
            </a:r>
          </a:p>
        </p:txBody>
      </p:sp>
      <p:sp>
        <p:nvSpPr>
          <p:cNvPr id="13" name="TextBox 12"/>
          <p:cNvSpPr txBox="1"/>
          <p:nvPr/>
        </p:nvSpPr>
        <p:spPr>
          <a:xfrm>
            <a:off x="4416552" y="2359152"/>
            <a:ext cx="3410712" cy="2292935"/>
          </a:xfrm>
          <a:prstGeom prst="rect">
            <a:avLst/>
          </a:prstGeom>
          <a:noFill/>
        </p:spPr>
        <p:txBody>
          <a:bodyPr wrap="square" anchor="t">
            <a:spAutoFit/>
          </a:bodyPr>
          <a:lstStyle/>
          <a:p>
            <a:pPr algn="l"/>
            <a:r>
              <a:rPr sz="1100" b="0" dirty="0">
                <a:solidFill>
                  <a:srgbClr val="0F172A"/>
                </a:solidFill>
                <a:latin typeface="Aptos"/>
              </a:rPr>
              <a:t>1. Which turbines should Operations investigate first?
2. Which potentially controllable loss categories offer the most recoverable MWh?
3. What alert threshold balances actionability and false alarms?
4. When should maintenance/intervention be scheduled to minimize generation loss?
5. What pilot actions should be tested before fleet-wide rollout?</a:t>
            </a:r>
            <a:endParaRPr lang="en-US" sz="1100" b="0" dirty="0">
              <a:solidFill>
                <a:srgbClr val="0F172A"/>
              </a:solidFill>
              <a:latin typeface="Aptos"/>
            </a:endParaRPr>
          </a:p>
          <a:p>
            <a:pPr algn="l"/>
            <a:r>
              <a:rPr lang="en-US" sz="1100" dirty="0">
                <a:solidFill>
                  <a:srgbClr val="0F172A"/>
                </a:solidFill>
                <a:latin typeface="Aptos"/>
              </a:rPr>
              <a:t>6. Which sensors are most common to be replaced and how long it will take ?</a:t>
            </a:r>
          </a:p>
          <a:p>
            <a:pPr algn="l"/>
            <a:r>
              <a:rPr lang="en-US" sz="1100" b="0" dirty="0">
                <a:solidFill>
                  <a:srgbClr val="0F172A"/>
                </a:solidFill>
                <a:latin typeface="Aptos"/>
              </a:rPr>
              <a:t>7. What are the priority list components in a turbine to check when </a:t>
            </a:r>
            <a:r>
              <a:rPr lang="en-US" sz="1100" dirty="0">
                <a:solidFill>
                  <a:srgbClr val="0F172A"/>
                </a:solidFill>
                <a:latin typeface="Aptos"/>
              </a:rPr>
              <a:t>there is an operational issue</a:t>
            </a:r>
            <a:r>
              <a:rPr lang="en-US" sz="1100" b="0" dirty="0">
                <a:solidFill>
                  <a:srgbClr val="0F172A"/>
                </a:solidFill>
                <a:latin typeface="Aptos"/>
              </a:rPr>
              <a:t>?</a:t>
            </a:r>
            <a:endParaRPr sz="1100" b="0" dirty="0">
              <a:solidFill>
                <a:srgbClr val="0F172A"/>
              </a:solidFill>
              <a:latin typeface="Aptos"/>
            </a:endParaRPr>
          </a:p>
        </p:txBody>
      </p:sp>
      <p:sp>
        <p:nvSpPr>
          <p:cNvPr id="14" name="Rounded Rectangle 13"/>
          <p:cNvSpPr/>
          <p:nvPr/>
        </p:nvSpPr>
        <p:spPr>
          <a:xfrm>
            <a:off x="8001000" y="1828800"/>
            <a:ext cx="3703320" cy="43434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01000" y="1828800"/>
            <a:ext cx="64008" cy="4343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65592" y="1965960"/>
            <a:ext cx="3410712" cy="320040"/>
          </a:xfrm>
          <a:prstGeom prst="rect">
            <a:avLst/>
          </a:prstGeom>
          <a:noFill/>
        </p:spPr>
        <p:txBody>
          <a:bodyPr wrap="square" anchor="t">
            <a:spAutoFit/>
          </a:bodyPr>
          <a:lstStyle/>
          <a:p>
            <a:pPr algn="l"/>
            <a:r>
              <a:rPr sz="1400" b="1">
                <a:solidFill>
                  <a:srgbClr val="0C1D3A"/>
                </a:solidFill>
                <a:latin typeface="Aptos"/>
              </a:rPr>
              <a:t>COGNITIVE · 5</a:t>
            </a:r>
          </a:p>
        </p:txBody>
      </p:sp>
      <p:sp>
        <p:nvSpPr>
          <p:cNvPr id="17" name="TextBox 16"/>
          <p:cNvSpPr txBox="1"/>
          <p:nvPr/>
        </p:nvSpPr>
        <p:spPr>
          <a:xfrm>
            <a:off x="8165592" y="2359152"/>
            <a:ext cx="3410712" cy="2292935"/>
          </a:xfrm>
          <a:prstGeom prst="rect">
            <a:avLst/>
          </a:prstGeom>
          <a:noFill/>
        </p:spPr>
        <p:txBody>
          <a:bodyPr wrap="square" anchor="t">
            <a:spAutoFit/>
          </a:bodyPr>
          <a:lstStyle/>
          <a:p>
            <a:pPr algn="l"/>
            <a:r>
              <a:rPr sz="1100" b="0" dirty="0">
                <a:solidFill>
                  <a:srgbClr val="0F172A"/>
                </a:solidFill>
                <a:latin typeface="Aptos"/>
              </a:rPr>
              <a:t>1. How can new verified outcomes improve the benchmark over time?
2. How can field feedback distinguish normal variation from persistent degradation?
3. How can the system detect changing turbine behavior/drift?
4. How can new data sources refine root-cause hypotheses?
5. How can analytical findings be translated into explainable guidance for operators?</a:t>
            </a:r>
            <a:endParaRPr lang="en-US" sz="1100" b="0" dirty="0">
              <a:solidFill>
                <a:srgbClr val="0F172A"/>
              </a:solidFill>
              <a:latin typeface="Aptos"/>
            </a:endParaRPr>
          </a:p>
          <a:p>
            <a:pPr algn="l"/>
            <a:r>
              <a:rPr lang="en-US" sz="1100" dirty="0">
                <a:solidFill>
                  <a:srgbClr val="0F172A"/>
                </a:solidFill>
                <a:latin typeface="Aptos"/>
              </a:rPr>
              <a:t>6. How can we achieve real time monitoring ?</a:t>
            </a:r>
          </a:p>
          <a:p>
            <a:pPr algn="l"/>
            <a:r>
              <a:rPr lang="en-US" sz="1100" b="0" dirty="0">
                <a:solidFill>
                  <a:srgbClr val="0F172A"/>
                </a:solidFill>
                <a:latin typeface="Aptos"/>
              </a:rPr>
              <a:t>7. How we can automate some configurations at the turbines to improve efficiency</a:t>
            </a:r>
          </a:p>
        </p:txBody>
      </p:sp>
      <p:sp>
        <p:nvSpPr>
          <p:cNvPr id="18" name="TextBox 17"/>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Note: failure/RUL prediction requires maintenance/failure labels not currently established in the supplied 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DEFINE SUCCESS MEASUREMENTS</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Agree on success before modeling</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SMART can support this CRISP-DM task; it does not replace CRISP-DM.</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74519"/>
            <a:ext cx="3474720" cy="34747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74519"/>
            <a:ext cx="64008" cy="3474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011679"/>
            <a:ext cx="3182112" cy="320040"/>
          </a:xfrm>
          <a:prstGeom prst="rect">
            <a:avLst/>
          </a:prstGeom>
          <a:noFill/>
        </p:spPr>
        <p:txBody>
          <a:bodyPr wrap="square" anchor="t">
            <a:spAutoFit/>
          </a:bodyPr>
          <a:lstStyle/>
          <a:p>
            <a:pPr algn="l"/>
            <a:r>
              <a:rPr sz="1500" b="1">
                <a:solidFill>
                  <a:srgbClr val="0C1D3A"/>
                </a:solidFill>
                <a:latin typeface="Aptos"/>
              </a:rPr>
              <a:t>BUSINESS SUCCESS</a:t>
            </a:r>
          </a:p>
        </p:txBody>
      </p:sp>
      <p:sp>
        <p:nvSpPr>
          <p:cNvPr id="9" name="TextBox 8"/>
          <p:cNvSpPr txBox="1"/>
          <p:nvPr/>
        </p:nvSpPr>
        <p:spPr>
          <a:xfrm>
            <a:off x="804671" y="2404872"/>
            <a:ext cx="3182112" cy="2834639"/>
          </a:xfrm>
          <a:prstGeom prst="rect">
            <a:avLst/>
          </a:prstGeom>
          <a:noFill/>
        </p:spPr>
        <p:txBody>
          <a:bodyPr wrap="square" anchor="t">
            <a:spAutoFit/>
          </a:bodyPr>
          <a:lstStyle/>
          <a:p>
            <a:pPr algn="l"/>
            <a:r>
              <a:rPr sz="1300" b="0">
                <a:solidFill>
                  <a:srgbClr val="0F172A"/>
                </a:solidFill>
                <a:latin typeface="Aptos"/>
              </a:rPr>
              <a:t>• Recover ≥2–3% of annual energy production
• Quantify potentially recoverable MWh
• Prioritize interventions with clear operational value</a:t>
            </a:r>
          </a:p>
        </p:txBody>
      </p:sp>
      <p:sp>
        <p:nvSpPr>
          <p:cNvPr id="10" name="Rounded Rectangle 9"/>
          <p:cNvSpPr/>
          <p:nvPr/>
        </p:nvSpPr>
        <p:spPr>
          <a:xfrm>
            <a:off x="4343400" y="1874519"/>
            <a:ext cx="3474720" cy="34747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874519"/>
            <a:ext cx="64008" cy="3474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7992" y="2011679"/>
            <a:ext cx="3182112" cy="320040"/>
          </a:xfrm>
          <a:prstGeom prst="rect">
            <a:avLst/>
          </a:prstGeom>
          <a:noFill/>
        </p:spPr>
        <p:txBody>
          <a:bodyPr wrap="square" anchor="t">
            <a:spAutoFit/>
          </a:bodyPr>
          <a:lstStyle/>
          <a:p>
            <a:pPr algn="l"/>
            <a:r>
              <a:rPr sz="1500" b="1">
                <a:solidFill>
                  <a:srgbClr val="0C1D3A"/>
                </a:solidFill>
                <a:latin typeface="Aptos"/>
              </a:rPr>
              <a:t>ANALYTICAL SUCCESS</a:t>
            </a:r>
          </a:p>
        </p:txBody>
      </p:sp>
      <p:sp>
        <p:nvSpPr>
          <p:cNvPr id="13" name="TextBox 12"/>
          <p:cNvSpPr txBox="1"/>
          <p:nvPr/>
        </p:nvSpPr>
        <p:spPr>
          <a:xfrm>
            <a:off x="4507992" y="2404872"/>
            <a:ext cx="3182112" cy="2834639"/>
          </a:xfrm>
          <a:prstGeom prst="rect">
            <a:avLst/>
          </a:prstGeom>
          <a:noFill/>
        </p:spPr>
        <p:txBody>
          <a:bodyPr wrap="square" anchor="t">
            <a:spAutoFit/>
          </a:bodyPr>
          <a:lstStyle/>
          <a:p>
            <a:pPr algn="l"/>
            <a:r>
              <a:rPr sz="1300" b="0">
                <a:solidFill>
                  <a:srgbClr val="0F172A"/>
                </a:solidFill>
                <a:latin typeface="Aptos"/>
              </a:rPr>
              <a:t>• Expected-power model target: R² ≥ 0.90
• Reliable identification of &gt;10% underperformance under eligible conditions
• Clear separation of major loss categories</a:t>
            </a:r>
          </a:p>
        </p:txBody>
      </p:sp>
      <p:sp>
        <p:nvSpPr>
          <p:cNvPr id="14" name="Rounded Rectangle 13"/>
          <p:cNvSpPr/>
          <p:nvPr/>
        </p:nvSpPr>
        <p:spPr>
          <a:xfrm>
            <a:off x="8046720" y="1874519"/>
            <a:ext cx="3474720" cy="34747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74519"/>
            <a:ext cx="64008" cy="3474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1312" y="2011679"/>
            <a:ext cx="3182112" cy="320040"/>
          </a:xfrm>
          <a:prstGeom prst="rect">
            <a:avLst/>
          </a:prstGeom>
          <a:noFill/>
        </p:spPr>
        <p:txBody>
          <a:bodyPr wrap="square" anchor="t">
            <a:spAutoFit/>
          </a:bodyPr>
          <a:lstStyle/>
          <a:p>
            <a:pPr algn="l"/>
            <a:r>
              <a:rPr sz="1500" b="1">
                <a:solidFill>
                  <a:srgbClr val="0C1D3A"/>
                </a:solidFill>
                <a:latin typeface="Aptos"/>
              </a:rPr>
              <a:t>QUALITY / OPERABILITY</a:t>
            </a:r>
          </a:p>
        </p:txBody>
      </p:sp>
      <p:sp>
        <p:nvSpPr>
          <p:cNvPr id="17" name="TextBox 16"/>
          <p:cNvSpPr txBox="1"/>
          <p:nvPr/>
        </p:nvSpPr>
        <p:spPr>
          <a:xfrm>
            <a:off x="8211312" y="2404872"/>
            <a:ext cx="3182112" cy="2834639"/>
          </a:xfrm>
          <a:prstGeom prst="rect">
            <a:avLst/>
          </a:prstGeom>
          <a:noFill/>
        </p:spPr>
        <p:txBody>
          <a:bodyPr wrap="square" anchor="t">
            <a:spAutoFit/>
          </a:bodyPr>
          <a:lstStyle/>
          <a:p>
            <a:pPr algn="l"/>
            <a:r>
              <a:rPr sz="1300" b="0">
                <a:solidFill>
                  <a:srgbClr val="0F172A"/>
                </a:solidFill>
                <a:latin typeface="Aptos"/>
              </a:rPr>
              <a:t>• Data-quality rules documented
• Leakage controlled
• Time/entity-aware validation
• Findings explainable and reproducible</a:t>
            </a:r>
          </a:p>
        </p:txBody>
      </p:sp>
      <p:sp>
        <p:nvSpPr>
          <p:cNvPr id="18" name="TextBox 17"/>
          <p:cNvSpPr txBox="1"/>
          <p:nvPr/>
        </p:nvSpPr>
        <p:spPr>
          <a:xfrm>
            <a:off x="822960" y="5669280"/>
            <a:ext cx="10698480" cy="411480"/>
          </a:xfrm>
          <a:prstGeom prst="rect">
            <a:avLst/>
          </a:prstGeom>
          <a:noFill/>
        </p:spPr>
        <p:txBody>
          <a:bodyPr wrap="square" anchor="t">
            <a:spAutoFit/>
          </a:bodyPr>
          <a:lstStyle/>
          <a:p>
            <a:pPr algn="ctr"/>
            <a:r>
              <a:rPr sz="1300" b="1">
                <a:solidFill>
                  <a:srgbClr val="0C1D3A"/>
                </a:solidFill>
                <a:latin typeface="Aptos"/>
              </a:rPr>
              <a:t>SMART is used here to test whether objectives and measures are Specific · Measurable · Actionable · Relevant · Time-Bound.</a:t>
            </a:r>
          </a:p>
        </p:txBody>
      </p:sp>
      <p:sp>
        <p:nvSpPr>
          <p:cNvPr id="19" name="TextBox 18"/>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capstone brief, Key Baselines &amp; Success Criteria + Model Governance Requirements.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UNIT OF ANALYSIS &amp; TARGET</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Define the grain before defining the model</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The unit and target must match the business question.</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20240"/>
            <a:ext cx="3383280" cy="3895344"/>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920240"/>
            <a:ext cx="64008" cy="3337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57400"/>
            <a:ext cx="3090672" cy="320040"/>
          </a:xfrm>
          <a:prstGeom prst="rect">
            <a:avLst/>
          </a:prstGeom>
          <a:noFill/>
        </p:spPr>
        <p:txBody>
          <a:bodyPr wrap="square" anchor="t">
            <a:spAutoFit/>
          </a:bodyPr>
          <a:lstStyle/>
          <a:p>
            <a:pPr algn="l"/>
            <a:r>
              <a:rPr sz="1500" b="1">
                <a:solidFill>
                  <a:srgbClr val="0C1D3A"/>
                </a:solidFill>
                <a:latin typeface="Aptos"/>
              </a:rPr>
              <a:t>PRIMARY UNIT OF ANALYSIS</a:t>
            </a:r>
          </a:p>
        </p:txBody>
      </p:sp>
      <p:sp>
        <p:nvSpPr>
          <p:cNvPr id="9" name="TextBox 8"/>
          <p:cNvSpPr txBox="1"/>
          <p:nvPr/>
        </p:nvSpPr>
        <p:spPr>
          <a:xfrm>
            <a:off x="850392" y="2450592"/>
            <a:ext cx="3090672" cy="2697480"/>
          </a:xfrm>
          <a:prstGeom prst="rect">
            <a:avLst/>
          </a:prstGeom>
          <a:noFill/>
        </p:spPr>
        <p:txBody>
          <a:bodyPr wrap="square" anchor="t">
            <a:spAutoFit/>
          </a:bodyPr>
          <a:lstStyle/>
          <a:p>
            <a:pPr algn="l"/>
            <a:r>
              <a:rPr sz="1400" dirty="0">
                <a:solidFill>
                  <a:srgbClr val="242B34"/>
                </a:solidFill>
                <a:latin typeface="Aptos"/>
              </a:rPr>
              <a:t>One turbine during one operating time interval
1 analytical observation = the performance and operating conditions of one specific turbine at one specific timestamp.
ABT grain: 1 row = 1 turbine × 1 SCADA time interval.
Validate the actual time/entity structure in Stage 2 before assuming continuous panel history.</a:t>
            </a:r>
          </a:p>
        </p:txBody>
      </p:sp>
      <p:sp>
        <p:nvSpPr>
          <p:cNvPr id="10" name="Rounded Rectangle 9"/>
          <p:cNvSpPr/>
          <p:nvPr/>
        </p:nvSpPr>
        <p:spPr>
          <a:xfrm>
            <a:off x="4389120" y="1920240"/>
            <a:ext cx="3383280" cy="3877056"/>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920240"/>
            <a:ext cx="64008" cy="3337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2057400"/>
            <a:ext cx="3090672" cy="320040"/>
          </a:xfrm>
          <a:prstGeom prst="rect">
            <a:avLst/>
          </a:prstGeom>
          <a:noFill/>
        </p:spPr>
        <p:txBody>
          <a:bodyPr wrap="square" anchor="t">
            <a:spAutoFit/>
          </a:bodyPr>
          <a:lstStyle/>
          <a:p>
            <a:pPr algn="l"/>
            <a:r>
              <a:rPr sz="1500" b="1">
                <a:solidFill>
                  <a:srgbClr val="0C1D3A"/>
                </a:solidFill>
                <a:latin typeface="Aptos"/>
              </a:rPr>
              <a:t>REGRESSION TARGET</a:t>
            </a:r>
          </a:p>
        </p:txBody>
      </p:sp>
      <p:sp>
        <p:nvSpPr>
          <p:cNvPr id="13" name="TextBox 12"/>
          <p:cNvSpPr txBox="1"/>
          <p:nvPr/>
        </p:nvSpPr>
        <p:spPr>
          <a:xfrm>
            <a:off x="4553712" y="2450592"/>
            <a:ext cx="3090672" cy="2697480"/>
          </a:xfrm>
          <a:prstGeom prst="rect">
            <a:avLst/>
          </a:prstGeom>
          <a:noFill/>
        </p:spPr>
        <p:txBody>
          <a:bodyPr wrap="square" anchor="t">
            <a:spAutoFit/>
          </a:bodyPr>
          <a:lstStyle/>
          <a:p>
            <a:pPr algn="l"/>
            <a:r>
              <a:rPr sz="1300" b="0">
                <a:solidFill>
                  <a:srgbClr val="0F172A"/>
                </a:solidFill>
                <a:latin typeface="Aptos"/>
              </a:rPr>
              <a:t>Expected_Power_kW
Continuous target for expected-power / normal-behavior estimation.
Turbine_ID is an identifier — not the target.</a:t>
            </a:r>
          </a:p>
        </p:txBody>
      </p:sp>
      <p:sp>
        <p:nvSpPr>
          <p:cNvPr id="14" name="Rounded Rectangle 13"/>
          <p:cNvSpPr/>
          <p:nvPr/>
        </p:nvSpPr>
        <p:spPr>
          <a:xfrm>
            <a:off x="8092440" y="1920240"/>
            <a:ext cx="3383280" cy="3877056"/>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920240"/>
            <a:ext cx="64008" cy="33375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1" y="2057400"/>
            <a:ext cx="3090672" cy="320040"/>
          </a:xfrm>
          <a:prstGeom prst="rect">
            <a:avLst/>
          </a:prstGeom>
          <a:noFill/>
        </p:spPr>
        <p:txBody>
          <a:bodyPr wrap="square" anchor="t">
            <a:spAutoFit/>
          </a:bodyPr>
          <a:lstStyle/>
          <a:p>
            <a:pPr algn="l"/>
            <a:r>
              <a:rPr sz="1500" b="1">
                <a:solidFill>
                  <a:srgbClr val="0C1D3A"/>
                </a:solidFill>
                <a:latin typeface="Aptos"/>
              </a:rPr>
              <a:t>CLASSIFICATION TARGET</a:t>
            </a:r>
          </a:p>
        </p:txBody>
      </p:sp>
      <p:sp>
        <p:nvSpPr>
          <p:cNvPr id="17" name="TextBox 16"/>
          <p:cNvSpPr txBox="1"/>
          <p:nvPr/>
        </p:nvSpPr>
        <p:spPr>
          <a:xfrm>
            <a:off x="8257031" y="2450592"/>
            <a:ext cx="3090672" cy="2697480"/>
          </a:xfrm>
          <a:prstGeom prst="rect">
            <a:avLst/>
          </a:prstGeom>
          <a:noFill/>
        </p:spPr>
        <p:txBody>
          <a:bodyPr wrap="square" anchor="t">
            <a:spAutoFit/>
          </a:bodyPr>
          <a:lstStyle/>
          <a:p>
            <a:pPr algn="l"/>
            <a:r>
              <a:rPr sz="1300" b="0">
                <a:solidFill>
                  <a:srgbClr val="0F172A"/>
                </a:solidFill>
                <a:latin typeface="Aptos"/>
              </a:rPr>
              <a:t>Underperformance_Flag
Binary target for eligible &gt;10% underperformance.
Power_Deviation_Pct and derived outcome fields require leakage controls.</a:t>
            </a:r>
          </a:p>
        </p:txBody>
      </p:sp>
      <p:sp>
        <p:nvSpPr>
          <p:cNvPr id="18" name="TextBox 17"/>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capstone brief, Project Objectives. Grain is a Stage-1 specification subject to Stage-2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REQUIRED DATA</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Problem first → data requirement second</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MECE is used here as a supporting structuring tool to avoid blind spots and double-counting.</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828800"/>
            <a:ext cx="352044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28800"/>
            <a:ext cx="64008" cy="36118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965960"/>
            <a:ext cx="3227832" cy="320040"/>
          </a:xfrm>
          <a:prstGeom prst="rect">
            <a:avLst/>
          </a:prstGeom>
          <a:noFill/>
        </p:spPr>
        <p:txBody>
          <a:bodyPr wrap="square" anchor="t">
            <a:spAutoFit/>
          </a:bodyPr>
          <a:lstStyle/>
          <a:p>
            <a:pPr algn="l"/>
            <a:r>
              <a:rPr sz="1400" b="1">
                <a:solidFill>
                  <a:srgbClr val="0C1D3A"/>
                </a:solidFill>
                <a:latin typeface="Aptos"/>
              </a:rPr>
              <a:t>A · EXTERNAL / NON-CONTROLLABLE</a:t>
            </a:r>
          </a:p>
        </p:txBody>
      </p:sp>
      <p:sp>
        <p:nvSpPr>
          <p:cNvPr id="9" name="TextBox 8"/>
          <p:cNvSpPr txBox="1"/>
          <p:nvPr/>
        </p:nvSpPr>
        <p:spPr>
          <a:xfrm>
            <a:off x="713232" y="2359152"/>
            <a:ext cx="3227832" cy="2971800"/>
          </a:xfrm>
          <a:prstGeom prst="rect">
            <a:avLst/>
          </a:prstGeom>
          <a:noFill/>
        </p:spPr>
        <p:txBody>
          <a:bodyPr wrap="square" anchor="t">
            <a:spAutoFit/>
          </a:bodyPr>
          <a:lstStyle/>
          <a:p>
            <a:pPr algn="l"/>
            <a:r>
              <a:rPr sz="1200" b="0">
                <a:solidFill>
                  <a:srgbClr val="0F172A"/>
                </a:solidFill>
                <a:latin typeface="Aptos"/>
              </a:rPr>
              <a:t>Question: was output constrained for reasons that should not be labeled technical underperformance?
Need: meteorology, wind resource, curtailment, grid constraints, availability/downtime.</a:t>
            </a:r>
          </a:p>
        </p:txBody>
      </p:sp>
      <p:sp>
        <p:nvSpPr>
          <p:cNvPr id="10" name="Rounded Rectangle 9"/>
          <p:cNvSpPr/>
          <p:nvPr/>
        </p:nvSpPr>
        <p:spPr>
          <a:xfrm>
            <a:off x="4343400" y="1828800"/>
            <a:ext cx="352044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828800"/>
            <a:ext cx="64008" cy="3611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7992" y="1965960"/>
            <a:ext cx="3227832" cy="320040"/>
          </a:xfrm>
          <a:prstGeom prst="rect">
            <a:avLst/>
          </a:prstGeom>
          <a:noFill/>
        </p:spPr>
        <p:txBody>
          <a:bodyPr wrap="square" anchor="t">
            <a:spAutoFit/>
          </a:bodyPr>
          <a:lstStyle/>
          <a:p>
            <a:pPr algn="l"/>
            <a:r>
              <a:rPr sz="1400" b="1">
                <a:solidFill>
                  <a:srgbClr val="0C1D3A"/>
                </a:solidFill>
                <a:latin typeface="Aptos"/>
              </a:rPr>
              <a:t>B · POTENTIALLY CONTROLLABLE</a:t>
            </a:r>
          </a:p>
        </p:txBody>
      </p:sp>
      <p:sp>
        <p:nvSpPr>
          <p:cNvPr id="13" name="TextBox 12"/>
          <p:cNvSpPr txBox="1"/>
          <p:nvPr/>
        </p:nvSpPr>
        <p:spPr>
          <a:xfrm>
            <a:off x="4507992" y="2359152"/>
            <a:ext cx="3227832" cy="2971800"/>
          </a:xfrm>
          <a:prstGeom prst="rect">
            <a:avLst/>
          </a:prstGeom>
          <a:noFill/>
        </p:spPr>
        <p:txBody>
          <a:bodyPr wrap="square" anchor="t">
            <a:spAutoFit/>
          </a:bodyPr>
          <a:lstStyle/>
          <a:p>
            <a:pPr algn="l"/>
            <a:r>
              <a:rPr sz="1200" b="0">
                <a:solidFill>
                  <a:srgbClr val="0F172A"/>
                </a:solidFill>
                <a:latin typeface="Aptos"/>
              </a:rPr>
              <a:t>Question: was the turbine eligible to produce but still below expectation?
Need: SCADA controls, yaw/pitch/rotor, temperatures, vibration, alarms, maintenance/work orders, asset specs.</a:t>
            </a:r>
          </a:p>
        </p:txBody>
      </p:sp>
      <p:sp>
        <p:nvSpPr>
          <p:cNvPr id="14" name="Rounded Rectangle 13"/>
          <p:cNvSpPr/>
          <p:nvPr/>
        </p:nvSpPr>
        <p:spPr>
          <a:xfrm>
            <a:off x="8138160" y="1828800"/>
            <a:ext cx="352044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828800"/>
            <a:ext cx="64008" cy="36118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1965960"/>
            <a:ext cx="3227832" cy="320040"/>
          </a:xfrm>
          <a:prstGeom prst="rect">
            <a:avLst/>
          </a:prstGeom>
          <a:noFill/>
        </p:spPr>
        <p:txBody>
          <a:bodyPr wrap="square" anchor="t">
            <a:spAutoFit/>
          </a:bodyPr>
          <a:lstStyle/>
          <a:p>
            <a:pPr algn="l"/>
            <a:r>
              <a:rPr sz="1400" b="1">
                <a:solidFill>
                  <a:srgbClr val="0C1D3A"/>
                </a:solidFill>
                <a:latin typeface="Aptos"/>
              </a:rPr>
              <a:t>C · DATA / MEASUREMENT</a:t>
            </a:r>
          </a:p>
        </p:txBody>
      </p:sp>
      <p:sp>
        <p:nvSpPr>
          <p:cNvPr id="17" name="TextBox 16"/>
          <p:cNvSpPr txBox="1"/>
          <p:nvPr/>
        </p:nvSpPr>
        <p:spPr>
          <a:xfrm>
            <a:off x="8302752" y="2359152"/>
            <a:ext cx="3227832" cy="2971800"/>
          </a:xfrm>
          <a:prstGeom prst="rect">
            <a:avLst/>
          </a:prstGeom>
          <a:noFill/>
        </p:spPr>
        <p:txBody>
          <a:bodyPr wrap="square" anchor="t">
            <a:spAutoFit/>
          </a:bodyPr>
          <a:lstStyle/>
          <a:p>
            <a:pPr algn="l"/>
            <a:r>
              <a:rPr sz="1200" b="0">
                <a:solidFill>
                  <a:srgbClr val="0F172A"/>
                </a:solidFill>
                <a:latin typeface="Aptos"/>
              </a:rPr>
              <a:t>Question: is part of the apparent gap a data artifact?
Need: sensor metadata/calibration, missingness, invalid readings, timestamps, duplicates, units, data lineage.</a:t>
            </a:r>
          </a:p>
        </p:txBody>
      </p:sp>
      <p:sp>
        <p:nvSpPr>
          <p:cNvPr id="18" name="TextBox 17"/>
          <p:cNvSpPr txBox="1"/>
          <p:nvPr/>
        </p:nvSpPr>
        <p:spPr>
          <a:xfrm>
            <a:off x="777240" y="5760720"/>
            <a:ext cx="10607040" cy="365760"/>
          </a:xfrm>
          <a:prstGeom prst="rect">
            <a:avLst/>
          </a:prstGeom>
          <a:noFill/>
        </p:spPr>
        <p:txBody>
          <a:bodyPr wrap="square" anchor="t">
            <a:spAutoFit/>
          </a:bodyPr>
          <a:lstStyle/>
          <a:p>
            <a:pPr algn="ctr"/>
            <a:r>
              <a:rPr sz="1500" b="1">
                <a:solidFill>
                  <a:srgbClr val="0C1D3A"/>
                </a:solidFill>
                <a:latin typeface="Aptos"/>
              </a:rPr>
              <a:t>MECE helps structure what evidence we need; Stage 2 determines what evidence we actually received.</a:t>
            </a:r>
          </a:p>
        </p:txBody>
      </p:sp>
      <p:sp>
        <p:nvSpPr>
          <p:cNvPr id="19" name="TextBox 18"/>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McKinsey tool embedded within CRISP-DM Stage-1 framing / data-requirement definition.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11155680" cy="347472"/>
          </a:xfrm>
          <a:prstGeom prst="rect">
            <a:avLst/>
          </a:prstGeom>
          <a:noFill/>
        </p:spPr>
        <p:txBody>
          <a:bodyPr wrap="none" anchor="ctr">
            <a:spAutoFit/>
          </a:bodyPr>
          <a:lstStyle/>
          <a:p>
            <a:pPr algn="l"/>
            <a:r>
              <a:rPr sz="2200" b="1">
                <a:solidFill>
                  <a:srgbClr val="14223B"/>
                </a:solidFill>
                <a:latin typeface="Aptos"/>
              </a:rPr>
              <a:t>STAGE 1 · ANALYTICAL BASE TABLE (ABT)</a:t>
            </a:r>
          </a:p>
        </p:txBody>
      </p:sp>
      <p:sp>
        <p:nvSpPr>
          <p:cNvPr id="3" name="TextBox 2"/>
          <p:cNvSpPr txBox="1"/>
          <p:nvPr/>
        </p:nvSpPr>
        <p:spPr>
          <a:xfrm>
            <a:off x="502920" y="566928"/>
            <a:ext cx="11155680" cy="310896"/>
          </a:xfrm>
          <a:prstGeom prst="rect">
            <a:avLst/>
          </a:prstGeom>
          <a:noFill/>
        </p:spPr>
        <p:txBody>
          <a:bodyPr wrap="none" anchor="ctr">
            <a:spAutoFit/>
          </a:bodyPr>
          <a:lstStyle/>
          <a:p>
            <a:pPr algn="l"/>
            <a:r>
              <a:rPr sz="1200" b="0">
                <a:solidFill>
                  <a:srgbClr val="5C6774"/>
                </a:solidFill>
                <a:latin typeface="Aptos"/>
              </a:rPr>
              <a:t>Dr. Mo’s concept: define the table we need before Stage 2 data analysis begins.</a:t>
            </a:r>
          </a:p>
        </p:txBody>
      </p:sp>
      <p:sp>
        <p:nvSpPr>
          <p:cNvPr id="4" name="TextBox 3"/>
          <p:cNvSpPr txBox="1"/>
          <p:nvPr/>
        </p:nvSpPr>
        <p:spPr>
          <a:xfrm>
            <a:off x="502920" y="1005840"/>
            <a:ext cx="1828800" cy="256032"/>
          </a:xfrm>
          <a:prstGeom prst="rect">
            <a:avLst/>
          </a:prstGeom>
          <a:noFill/>
        </p:spPr>
        <p:txBody>
          <a:bodyPr wrap="none" anchor="ctr">
            <a:spAutoFit/>
          </a:bodyPr>
          <a:lstStyle/>
          <a:p>
            <a:pPr algn="l"/>
            <a:r>
              <a:rPr sz="1100" b="1">
                <a:solidFill>
                  <a:srgbClr val="5C6774"/>
                </a:solidFill>
                <a:latin typeface="Aptos"/>
              </a:rPr>
              <a:t>SOURCE DATA FAMILIES</a:t>
            </a:r>
          </a:p>
        </p:txBody>
      </p:sp>
      <p:sp>
        <p:nvSpPr>
          <p:cNvPr id="5" name="Rounded Rectangle 4"/>
          <p:cNvSpPr/>
          <p:nvPr/>
        </p:nvSpPr>
        <p:spPr>
          <a:xfrm>
            <a:off x="128016" y="1325880"/>
            <a:ext cx="2386584" cy="1097280"/>
          </a:xfrm>
          <a:prstGeom prst="roundRect">
            <a:avLst/>
          </a:prstGeom>
          <a:solidFill>
            <a:srgbClr val="2F5C96"/>
          </a:solidFill>
          <a:ln>
            <a:solidFill>
              <a:srgbClr val="2F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7744" y="1383754"/>
            <a:ext cx="1940956" cy="323165"/>
          </a:xfrm>
          <a:prstGeom prst="rect">
            <a:avLst/>
          </a:prstGeom>
          <a:noFill/>
        </p:spPr>
        <p:txBody>
          <a:bodyPr wrap="square" anchor="ctr">
            <a:spAutoFit/>
          </a:bodyPr>
          <a:lstStyle/>
          <a:p>
            <a:pPr algn="l"/>
            <a:r>
              <a:rPr sz="1500" b="1">
                <a:solidFill>
                  <a:srgbClr val="FFFFFF"/>
                </a:solidFill>
                <a:latin typeface="Aptos"/>
              </a:rPr>
              <a:t>TURBINE / ASSET</a:t>
            </a:r>
          </a:p>
        </p:txBody>
      </p:sp>
      <p:sp>
        <p:nvSpPr>
          <p:cNvPr id="7" name="TextBox 6"/>
          <p:cNvSpPr txBox="1"/>
          <p:nvPr/>
        </p:nvSpPr>
        <p:spPr>
          <a:xfrm>
            <a:off x="237744" y="1709927"/>
            <a:ext cx="1940956" cy="600164"/>
          </a:xfrm>
          <a:prstGeom prst="rect">
            <a:avLst/>
          </a:prstGeom>
          <a:noFill/>
        </p:spPr>
        <p:txBody>
          <a:bodyPr wrap="square" anchor="t">
            <a:spAutoFit/>
          </a:bodyPr>
          <a:lstStyle/>
          <a:p>
            <a:pPr algn="l"/>
            <a:r>
              <a:rPr sz="1100" b="0" dirty="0" err="1">
                <a:solidFill>
                  <a:srgbClr val="FFFFFF"/>
                </a:solidFill>
                <a:latin typeface="Aptos"/>
              </a:rPr>
              <a:t>Farm_ID</a:t>
            </a:r>
            <a:r>
              <a:rPr sz="1100" b="0" dirty="0">
                <a:solidFill>
                  <a:srgbClr val="FFFFFF"/>
                </a:solidFill>
                <a:latin typeface="Aptos"/>
              </a:rPr>
              <a:t> · Region · </a:t>
            </a:r>
            <a:r>
              <a:rPr sz="1100" b="0" dirty="0" err="1">
                <a:solidFill>
                  <a:srgbClr val="FFFFFF"/>
                </a:solidFill>
                <a:latin typeface="Aptos"/>
              </a:rPr>
              <a:t>Site_Zone</a:t>
            </a:r>
            <a:r>
              <a:rPr sz="1100" b="0" dirty="0">
                <a:solidFill>
                  <a:srgbClr val="FFFFFF"/>
                </a:solidFill>
                <a:latin typeface="Aptos"/>
              </a:rPr>
              <a:t>
</a:t>
            </a:r>
            <a:r>
              <a:rPr sz="1100" b="0" dirty="0" err="1">
                <a:solidFill>
                  <a:srgbClr val="FFFFFF"/>
                </a:solidFill>
                <a:latin typeface="Aptos"/>
              </a:rPr>
              <a:t>Turbine_ID</a:t>
            </a:r>
            <a:r>
              <a:rPr sz="1100" b="0" dirty="0">
                <a:solidFill>
                  <a:srgbClr val="FFFFFF"/>
                </a:solidFill>
                <a:latin typeface="Aptos"/>
              </a:rPr>
              <a:t> · </a:t>
            </a:r>
            <a:r>
              <a:rPr sz="1100" b="0" dirty="0" err="1">
                <a:solidFill>
                  <a:srgbClr val="FFFFFF"/>
                </a:solidFill>
                <a:latin typeface="Aptos"/>
              </a:rPr>
              <a:t>Turbine_Model</a:t>
            </a:r>
            <a:r>
              <a:rPr sz="1100" b="0" dirty="0">
                <a:solidFill>
                  <a:srgbClr val="FFFFFF"/>
                </a:solidFill>
                <a:latin typeface="Aptos"/>
              </a:rPr>
              <a:t> · </a:t>
            </a:r>
            <a:r>
              <a:rPr sz="1100" b="0" dirty="0" err="1">
                <a:solidFill>
                  <a:srgbClr val="FFFFFF"/>
                </a:solidFill>
                <a:latin typeface="Aptos"/>
              </a:rPr>
              <a:t>Sensor_ID</a:t>
            </a:r>
            <a:endParaRPr sz="1100" b="0" dirty="0">
              <a:solidFill>
                <a:srgbClr val="FFFFFF"/>
              </a:solidFill>
              <a:latin typeface="Aptos"/>
            </a:endParaRPr>
          </a:p>
        </p:txBody>
      </p:sp>
      <p:sp>
        <p:nvSpPr>
          <p:cNvPr id="8" name="Rounded Rectangle 7"/>
          <p:cNvSpPr/>
          <p:nvPr/>
        </p:nvSpPr>
        <p:spPr>
          <a:xfrm>
            <a:off x="2624327" y="1298448"/>
            <a:ext cx="2039113" cy="1097280"/>
          </a:xfrm>
          <a:prstGeom prst="roundRect">
            <a:avLst/>
          </a:prstGeom>
          <a:solidFill>
            <a:srgbClr val="2D8791"/>
          </a:solidFill>
          <a:ln>
            <a:solidFill>
              <a:srgbClr val="2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61488" y="1371600"/>
            <a:ext cx="1792224" cy="292608"/>
          </a:xfrm>
          <a:prstGeom prst="rect">
            <a:avLst/>
          </a:prstGeom>
          <a:noFill/>
        </p:spPr>
        <p:txBody>
          <a:bodyPr wrap="none" anchor="ctr">
            <a:spAutoFit/>
          </a:bodyPr>
          <a:lstStyle/>
          <a:p>
            <a:pPr algn="l"/>
            <a:r>
              <a:rPr sz="1500" b="1">
                <a:solidFill>
                  <a:srgbClr val="FFFFFF"/>
                </a:solidFill>
                <a:latin typeface="Aptos"/>
              </a:rPr>
              <a:t>METEOROLOGY</a:t>
            </a:r>
          </a:p>
        </p:txBody>
      </p:sp>
      <p:sp>
        <p:nvSpPr>
          <p:cNvPr id="10" name="TextBox 9"/>
          <p:cNvSpPr txBox="1"/>
          <p:nvPr/>
        </p:nvSpPr>
        <p:spPr>
          <a:xfrm>
            <a:off x="2761488" y="1682495"/>
            <a:ext cx="1792224" cy="658368"/>
          </a:xfrm>
          <a:prstGeom prst="rect">
            <a:avLst/>
          </a:prstGeom>
          <a:noFill/>
        </p:spPr>
        <p:txBody>
          <a:bodyPr wrap="none" anchor="t">
            <a:spAutoFit/>
          </a:bodyPr>
          <a:lstStyle/>
          <a:p>
            <a:pPr algn="l"/>
            <a:r>
              <a:rPr sz="1100" b="0">
                <a:solidFill>
                  <a:srgbClr val="FFFFFF"/>
                </a:solidFill>
                <a:latin typeface="Aptos"/>
              </a:rPr>
              <a:t>Wind speed · Wind direction
Turbulence · Air temperature · Air density</a:t>
            </a:r>
          </a:p>
        </p:txBody>
      </p:sp>
      <p:sp>
        <p:nvSpPr>
          <p:cNvPr id="11" name="Rounded Rectangle 10"/>
          <p:cNvSpPr/>
          <p:nvPr/>
        </p:nvSpPr>
        <p:spPr>
          <a:xfrm>
            <a:off x="4800600" y="1298448"/>
            <a:ext cx="2039110" cy="1097280"/>
          </a:xfrm>
          <a:prstGeom prst="roundRect">
            <a:avLst/>
          </a:prstGeom>
          <a:solidFill>
            <a:srgbClr val="DA9E2B"/>
          </a:solidFill>
          <a:ln>
            <a:solidFill>
              <a:srgbClr val="DA9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10328" y="1371600"/>
            <a:ext cx="1792224" cy="292608"/>
          </a:xfrm>
          <a:prstGeom prst="rect">
            <a:avLst/>
          </a:prstGeom>
          <a:noFill/>
        </p:spPr>
        <p:txBody>
          <a:bodyPr wrap="none" anchor="ctr">
            <a:spAutoFit/>
          </a:bodyPr>
          <a:lstStyle/>
          <a:p>
            <a:pPr algn="l"/>
            <a:r>
              <a:rPr sz="1500" b="1">
                <a:solidFill>
                  <a:srgbClr val="FFFFFF"/>
                </a:solidFill>
                <a:latin typeface="Aptos"/>
              </a:rPr>
              <a:t>SCADA / CONDITION</a:t>
            </a:r>
          </a:p>
        </p:txBody>
      </p:sp>
      <p:sp>
        <p:nvSpPr>
          <p:cNvPr id="13" name="TextBox 12"/>
          <p:cNvSpPr txBox="1"/>
          <p:nvPr/>
        </p:nvSpPr>
        <p:spPr>
          <a:xfrm>
            <a:off x="4809743" y="1682495"/>
            <a:ext cx="1731564" cy="600164"/>
          </a:xfrm>
          <a:prstGeom prst="rect">
            <a:avLst/>
          </a:prstGeom>
          <a:noFill/>
        </p:spPr>
        <p:txBody>
          <a:bodyPr wrap="none" anchor="t">
            <a:spAutoFit/>
          </a:bodyPr>
          <a:lstStyle/>
          <a:p>
            <a:pPr algn="l"/>
            <a:r>
              <a:rPr sz="1100" b="0" dirty="0">
                <a:solidFill>
                  <a:srgbClr val="FFFFFF"/>
                </a:solidFill>
                <a:latin typeface="Aptos"/>
              </a:rPr>
              <a:t>Rotor speed · Yaw error
Gearbox oil temperature ·</a:t>
            </a:r>
            <a:endParaRPr lang="en-US" sz="1100" b="0" dirty="0">
              <a:solidFill>
                <a:srgbClr val="FFFFFF"/>
              </a:solidFill>
              <a:latin typeface="Aptos"/>
            </a:endParaRPr>
          </a:p>
          <a:p>
            <a:pPr algn="l"/>
            <a:r>
              <a:rPr sz="1100" b="0" dirty="0">
                <a:solidFill>
                  <a:srgbClr val="FFFFFF"/>
                </a:solidFill>
                <a:latin typeface="Aptos"/>
              </a:rPr>
              <a:t> Drivetrain vibration</a:t>
            </a:r>
          </a:p>
        </p:txBody>
      </p:sp>
      <p:sp>
        <p:nvSpPr>
          <p:cNvPr id="14" name="Rounded Rectangle 13"/>
          <p:cNvSpPr/>
          <p:nvPr/>
        </p:nvSpPr>
        <p:spPr>
          <a:xfrm>
            <a:off x="6949440" y="1298448"/>
            <a:ext cx="2011680" cy="1097280"/>
          </a:xfrm>
          <a:prstGeom prst="roundRect">
            <a:avLst/>
          </a:prstGeom>
          <a:solidFill>
            <a:srgbClr val="57915A"/>
          </a:solidFill>
          <a:ln>
            <a:solidFill>
              <a:srgbClr val="5791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59168" y="1371600"/>
            <a:ext cx="1792224" cy="292608"/>
          </a:xfrm>
          <a:prstGeom prst="rect">
            <a:avLst/>
          </a:prstGeom>
          <a:noFill/>
        </p:spPr>
        <p:txBody>
          <a:bodyPr wrap="none" anchor="ctr">
            <a:spAutoFit/>
          </a:bodyPr>
          <a:lstStyle/>
          <a:p>
            <a:pPr algn="l"/>
            <a:r>
              <a:rPr sz="1500" b="1">
                <a:solidFill>
                  <a:srgbClr val="FFFFFF"/>
                </a:solidFill>
                <a:latin typeface="Aptos"/>
              </a:rPr>
              <a:t>OPERATIONS</a:t>
            </a:r>
          </a:p>
        </p:txBody>
      </p:sp>
      <p:sp>
        <p:nvSpPr>
          <p:cNvPr id="16" name="TextBox 15"/>
          <p:cNvSpPr txBox="1"/>
          <p:nvPr/>
        </p:nvSpPr>
        <p:spPr>
          <a:xfrm>
            <a:off x="7059168" y="1682495"/>
            <a:ext cx="1792224" cy="658368"/>
          </a:xfrm>
          <a:prstGeom prst="rect">
            <a:avLst/>
          </a:prstGeom>
          <a:noFill/>
        </p:spPr>
        <p:txBody>
          <a:bodyPr wrap="none" anchor="t">
            <a:spAutoFit/>
          </a:bodyPr>
          <a:lstStyle/>
          <a:p>
            <a:pPr algn="l"/>
            <a:r>
              <a:rPr sz="1100" b="0">
                <a:solidFill>
                  <a:srgbClr val="FFFFFF"/>
                </a:solidFill>
                <a:latin typeface="Aptos"/>
              </a:rPr>
              <a:t>Turbine availability
Curtailment status</a:t>
            </a:r>
          </a:p>
        </p:txBody>
      </p:sp>
      <p:sp>
        <p:nvSpPr>
          <p:cNvPr id="17" name="Rounded Rectangle 16"/>
          <p:cNvSpPr/>
          <p:nvPr/>
        </p:nvSpPr>
        <p:spPr>
          <a:xfrm>
            <a:off x="9098280" y="1298448"/>
            <a:ext cx="2560320" cy="1097280"/>
          </a:xfrm>
          <a:prstGeom prst="roundRect">
            <a:avLst/>
          </a:prstGeom>
          <a:solidFill>
            <a:srgbClr val="C0484E"/>
          </a:solidFill>
          <a:ln>
            <a:solidFill>
              <a:srgbClr val="C04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08007" y="1371600"/>
            <a:ext cx="2340863" cy="292608"/>
          </a:xfrm>
          <a:prstGeom prst="rect">
            <a:avLst/>
          </a:prstGeom>
          <a:noFill/>
        </p:spPr>
        <p:txBody>
          <a:bodyPr wrap="none" anchor="ctr">
            <a:spAutoFit/>
          </a:bodyPr>
          <a:lstStyle/>
          <a:p>
            <a:pPr algn="l"/>
            <a:r>
              <a:rPr sz="1500" b="1">
                <a:solidFill>
                  <a:srgbClr val="FFFFFF"/>
                </a:solidFill>
                <a:latin typeface="Aptos"/>
              </a:rPr>
              <a:t>PERFORMANCE / TARGET</a:t>
            </a:r>
          </a:p>
        </p:txBody>
      </p:sp>
      <p:sp>
        <p:nvSpPr>
          <p:cNvPr id="19" name="TextBox 18"/>
          <p:cNvSpPr txBox="1"/>
          <p:nvPr/>
        </p:nvSpPr>
        <p:spPr>
          <a:xfrm>
            <a:off x="9208007" y="1682495"/>
            <a:ext cx="2053767" cy="600164"/>
          </a:xfrm>
          <a:prstGeom prst="rect">
            <a:avLst/>
          </a:prstGeom>
          <a:noFill/>
        </p:spPr>
        <p:txBody>
          <a:bodyPr wrap="none" anchor="t">
            <a:spAutoFit/>
          </a:bodyPr>
          <a:lstStyle/>
          <a:p>
            <a:pPr algn="l"/>
            <a:r>
              <a:rPr sz="1100" b="0" dirty="0">
                <a:solidFill>
                  <a:srgbClr val="FFFFFF"/>
                </a:solidFill>
                <a:latin typeface="Aptos"/>
              </a:rPr>
              <a:t>Actual power · Expected power
Power deviation </a:t>
            </a:r>
            <a:endParaRPr lang="en-US" sz="1100" b="0" dirty="0">
              <a:solidFill>
                <a:srgbClr val="FFFFFF"/>
              </a:solidFill>
              <a:latin typeface="Aptos"/>
            </a:endParaRPr>
          </a:p>
          <a:p>
            <a:pPr algn="l"/>
            <a:r>
              <a:rPr sz="1100" b="0" dirty="0">
                <a:solidFill>
                  <a:srgbClr val="FFFFFF"/>
                </a:solidFill>
                <a:latin typeface="Aptos"/>
              </a:rPr>
              <a:t>· Underperformance flag</a:t>
            </a:r>
          </a:p>
        </p:txBody>
      </p:sp>
      <p:sp>
        <p:nvSpPr>
          <p:cNvPr id="20" name="TextBox 19"/>
          <p:cNvSpPr txBox="1"/>
          <p:nvPr/>
        </p:nvSpPr>
        <p:spPr>
          <a:xfrm>
            <a:off x="502920" y="2542032"/>
            <a:ext cx="11155680" cy="310896"/>
          </a:xfrm>
          <a:prstGeom prst="rect">
            <a:avLst/>
          </a:prstGeom>
          <a:noFill/>
        </p:spPr>
        <p:txBody>
          <a:bodyPr wrap="none" anchor="ctr">
            <a:spAutoFit/>
          </a:bodyPr>
          <a:lstStyle/>
          <a:p>
            <a:pPr algn="ctr"/>
            <a:r>
              <a:rPr sz="1200" b="1">
                <a:solidFill>
                  <a:srgbClr val="14223B"/>
                </a:solidFill>
                <a:latin typeface="Aptos"/>
              </a:rPr>
              <a:t>↓  COMBINE THE RELEVANT FEATURES AT ONE COMMON GRAIN:  TURBINE + TIME  ↓</a:t>
            </a:r>
          </a:p>
        </p:txBody>
      </p:sp>
      <p:sp>
        <p:nvSpPr>
          <p:cNvPr id="21" name="Rounded Rectangle 20"/>
          <p:cNvSpPr/>
          <p:nvPr/>
        </p:nvSpPr>
        <p:spPr>
          <a:xfrm>
            <a:off x="685800" y="2907792"/>
            <a:ext cx="10789920" cy="1426464"/>
          </a:xfrm>
          <a:prstGeom prst="roundRect">
            <a:avLst/>
          </a:prstGeom>
          <a:solidFill>
            <a:srgbClr val="F4F7FA"/>
          </a:solidFill>
          <a:ln w="25400">
            <a:solidFill>
              <a:srgbClr val="2F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3054096"/>
            <a:ext cx="10378440" cy="310896"/>
          </a:xfrm>
          <a:prstGeom prst="rect">
            <a:avLst/>
          </a:prstGeom>
          <a:noFill/>
        </p:spPr>
        <p:txBody>
          <a:bodyPr wrap="none" anchor="ctr">
            <a:spAutoFit/>
          </a:bodyPr>
          <a:lstStyle/>
          <a:p>
            <a:pPr algn="ctr"/>
            <a:r>
              <a:rPr sz="1800" b="1">
                <a:solidFill>
                  <a:srgbClr val="14223B"/>
                </a:solidFill>
                <a:latin typeface="Aptos"/>
              </a:rPr>
              <a:t>WIND TURBINE ANALYTICAL BASE TABLE (ABT)</a:t>
            </a:r>
          </a:p>
        </p:txBody>
      </p:sp>
      <p:sp>
        <p:nvSpPr>
          <p:cNvPr id="23" name="TextBox 22"/>
          <p:cNvSpPr txBox="1"/>
          <p:nvPr/>
        </p:nvSpPr>
        <p:spPr>
          <a:xfrm>
            <a:off x="896112" y="3419856"/>
            <a:ext cx="10378440" cy="292608"/>
          </a:xfrm>
          <a:prstGeom prst="rect">
            <a:avLst/>
          </a:prstGeom>
          <a:noFill/>
        </p:spPr>
        <p:txBody>
          <a:bodyPr wrap="none" anchor="ctr">
            <a:spAutoFit/>
          </a:bodyPr>
          <a:lstStyle/>
          <a:p>
            <a:pPr algn="ctr"/>
            <a:r>
              <a:rPr sz="1500" b="1">
                <a:solidFill>
                  <a:srgbClr val="2F5C96"/>
                </a:solidFill>
                <a:latin typeface="Aptos"/>
              </a:rPr>
              <a:t>1 row = 1 turbine observed at 1 timestamped operating interval</a:t>
            </a:r>
          </a:p>
        </p:txBody>
      </p:sp>
      <p:sp>
        <p:nvSpPr>
          <p:cNvPr id="24" name="TextBox 23"/>
          <p:cNvSpPr txBox="1"/>
          <p:nvPr/>
        </p:nvSpPr>
        <p:spPr>
          <a:xfrm>
            <a:off x="1005840" y="3767328"/>
            <a:ext cx="10149840" cy="384048"/>
          </a:xfrm>
          <a:prstGeom prst="rect">
            <a:avLst/>
          </a:prstGeom>
          <a:noFill/>
        </p:spPr>
        <p:txBody>
          <a:bodyPr wrap="none" anchor="ctr">
            <a:spAutoFit/>
          </a:bodyPr>
          <a:lstStyle/>
          <a:p>
            <a:pPr algn="ctr"/>
            <a:r>
              <a:rPr sz="1050" b="0">
                <a:solidFill>
                  <a:srgbClr val="242B34"/>
                </a:solidFill>
                <a:latin typeface="Aptos"/>
              </a:rPr>
              <a:t>Record_ID | Turbine_ID | Timestamp | Wind | Actual kW | Expected kW | Rotor | Yaw | Vibration | Availability | Curtailment | Target</a:t>
            </a:r>
          </a:p>
        </p:txBody>
      </p:sp>
      <p:sp>
        <p:nvSpPr>
          <p:cNvPr id="25" name="TextBox 24"/>
          <p:cNvSpPr txBox="1"/>
          <p:nvPr/>
        </p:nvSpPr>
        <p:spPr>
          <a:xfrm>
            <a:off x="502920" y="4553712"/>
            <a:ext cx="2011680" cy="256032"/>
          </a:xfrm>
          <a:prstGeom prst="rect">
            <a:avLst/>
          </a:prstGeom>
          <a:noFill/>
        </p:spPr>
        <p:txBody>
          <a:bodyPr wrap="none" anchor="ctr">
            <a:spAutoFit/>
          </a:bodyPr>
          <a:lstStyle/>
          <a:p>
            <a:pPr algn="l"/>
            <a:r>
              <a:rPr sz="1100" b="1">
                <a:solidFill>
                  <a:srgbClr val="5C6774"/>
                </a:solidFill>
                <a:latin typeface="Aptos"/>
              </a:rPr>
              <a:t>EXAMPLE FROM THE SUPPLIED CSV</a:t>
            </a:r>
          </a:p>
        </p:txBody>
      </p:sp>
      <p:sp>
        <p:nvSpPr>
          <p:cNvPr id="26" name="Rounded Rectangle 25"/>
          <p:cNvSpPr/>
          <p:nvPr/>
        </p:nvSpPr>
        <p:spPr>
          <a:xfrm>
            <a:off x="685800" y="4846320"/>
            <a:ext cx="10789920" cy="749808"/>
          </a:xfrm>
          <a:prstGeom prst="roundRect">
            <a:avLst/>
          </a:prstGeom>
          <a:solidFill>
            <a:srgbClr val="14223B"/>
          </a:solidFill>
          <a:ln>
            <a:solidFill>
              <a:srgbClr val="142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4928616"/>
            <a:ext cx="10424160" cy="548640"/>
          </a:xfrm>
          <a:prstGeom prst="rect">
            <a:avLst/>
          </a:prstGeom>
          <a:noFill/>
        </p:spPr>
        <p:txBody>
          <a:bodyPr wrap="none" anchor="ctr">
            <a:spAutoFit/>
          </a:bodyPr>
          <a:lstStyle/>
          <a:p>
            <a:pPr algn="ctr"/>
            <a:r>
              <a:rPr sz="1019" b="0">
                <a:solidFill>
                  <a:srgbClr val="FFFFFF"/>
                </a:solidFill>
                <a:latin typeface="Aptos"/>
              </a:rPr>
              <a:t>WTG-03561  |  2025-01-01 00:00  |  Wind 10.10 m/s  |  Actual 2,469 kW  |  Expected 2,712 kW  |  Yaw −14.83°  |  Availability 96.72%  |  Curtailment 0  |  Underperformance 0</a:t>
            </a:r>
          </a:p>
        </p:txBody>
      </p:sp>
      <p:sp>
        <p:nvSpPr>
          <p:cNvPr id="28" name="TextBox 27"/>
          <p:cNvSpPr txBox="1"/>
          <p:nvPr/>
        </p:nvSpPr>
        <p:spPr>
          <a:xfrm>
            <a:off x="685800" y="5760720"/>
            <a:ext cx="5257800" cy="548640"/>
          </a:xfrm>
          <a:prstGeom prst="rect">
            <a:avLst/>
          </a:prstGeom>
          <a:noFill/>
        </p:spPr>
        <p:txBody>
          <a:bodyPr wrap="none" anchor="t">
            <a:spAutoFit/>
          </a:bodyPr>
          <a:lstStyle/>
          <a:p>
            <a:pPr algn="l"/>
            <a:r>
              <a:rPr sz="1150" b="1">
                <a:solidFill>
                  <a:srgbClr val="14223B"/>
                </a:solidFill>
                <a:latin typeface="Aptos"/>
              </a:rPr>
              <a:t>STAGE 1 → Specify the ideal ABT:
what one row means + what data/features are required.</a:t>
            </a:r>
          </a:p>
        </p:txBody>
      </p:sp>
      <p:sp>
        <p:nvSpPr>
          <p:cNvPr id="29" name="TextBox 28"/>
          <p:cNvSpPr txBox="1"/>
          <p:nvPr/>
        </p:nvSpPr>
        <p:spPr>
          <a:xfrm>
            <a:off x="6199632" y="5760720"/>
            <a:ext cx="5257800" cy="548640"/>
          </a:xfrm>
          <a:prstGeom prst="rect">
            <a:avLst/>
          </a:prstGeom>
          <a:noFill/>
        </p:spPr>
        <p:txBody>
          <a:bodyPr wrap="none" anchor="t">
            <a:spAutoFit/>
          </a:bodyPr>
          <a:lstStyle/>
          <a:p>
            <a:pPr algn="l"/>
            <a:r>
              <a:rPr sz="1150" b="1">
                <a:solidFill>
                  <a:srgbClr val="14223B"/>
                </a:solidFill>
                <a:latin typeface="Aptos"/>
              </a:rPr>
              <a:t>STAGE 2 → Inspect the supplied data:
what is available, missing, valid, usable, or limiting.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IDENTIFY ANALYTICAL APPROACH</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Choose the analysis family — not the final algorithm</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Specific algorithms are evaluated later after Data Understanding and Preparation.</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965960"/>
            <a:ext cx="2057400" cy="2377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965960"/>
            <a:ext cx="64008" cy="2377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103120"/>
            <a:ext cx="1764792" cy="320040"/>
          </a:xfrm>
          <a:prstGeom prst="rect">
            <a:avLst/>
          </a:prstGeom>
          <a:noFill/>
        </p:spPr>
        <p:txBody>
          <a:bodyPr wrap="square" anchor="t">
            <a:spAutoFit/>
          </a:bodyPr>
          <a:lstStyle/>
          <a:p>
            <a:pPr algn="l"/>
            <a:r>
              <a:rPr sz="1200" b="1">
                <a:solidFill>
                  <a:srgbClr val="0C1D3A"/>
                </a:solidFill>
                <a:latin typeface="Aptos"/>
              </a:rPr>
              <a:t>DESCRIPTIVE</a:t>
            </a:r>
          </a:p>
        </p:txBody>
      </p:sp>
      <p:sp>
        <p:nvSpPr>
          <p:cNvPr id="9" name="TextBox 8"/>
          <p:cNvSpPr txBox="1"/>
          <p:nvPr/>
        </p:nvSpPr>
        <p:spPr>
          <a:xfrm>
            <a:off x="758952" y="2496312"/>
            <a:ext cx="1764792" cy="1737360"/>
          </a:xfrm>
          <a:prstGeom prst="rect">
            <a:avLst/>
          </a:prstGeom>
          <a:noFill/>
        </p:spPr>
        <p:txBody>
          <a:bodyPr wrap="square" anchor="t">
            <a:spAutoFit/>
          </a:bodyPr>
          <a:lstStyle/>
          <a:p>
            <a:pPr algn="l"/>
            <a:r>
              <a:rPr sz="1100" b="0">
                <a:solidFill>
                  <a:srgbClr val="0F172A"/>
                </a:solidFill>
                <a:latin typeface="Aptos"/>
              </a:rPr>
              <a:t>Actual vs expected; distribution; concentration</a:t>
            </a:r>
          </a:p>
        </p:txBody>
      </p:sp>
      <p:sp>
        <p:nvSpPr>
          <p:cNvPr id="10" name="Rounded Rectangle 9"/>
          <p:cNvSpPr/>
          <p:nvPr/>
        </p:nvSpPr>
        <p:spPr>
          <a:xfrm>
            <a:off x="2898648" y="1965960"/>
            <a:ext cx="2057400" cy="2377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98648" y="1965960"/>
            <a:ext cx="64008" cy="2377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63240" y="2103120"/>
            <a:ext cx="1764792" cy="320040"/>
          </a:xfrm>
          <a:prstGeom prst="rect">
            <a:avLst/>
          </a:prstGeom>
          <a:noFill/>
        </p:spPr>
        <p:txBody>
          <a:bodyPr wrap="square" anchor="t">
            <a:spAutoFit/>
          </a:bodyPr>
          <a:lstStyle/>
          <a:p>
            <a:pPr algn="l"/>
            <a:r>
              <a:rPr sz="1200" b="1">
                <a:solidFill>
                  <a:srgbClr val="0C1D3A"/>
                </a:solidFill>
                <a:latin typeface="Aptos"/>
              </a:rPr>
              <a:t>DIAGNOSTIC</a:t>
            </a:r>
          </a:p>
        </p:txBody>
      </p:sp>
      <p:sp>
        <p:nvSpPr>
          <p:cNvPr id="13" name="TextBox 12"/>
          <p:cNvSpPr txBox="1"/>
          <p:nvPr/>
        </p:nvSpPr>
        <p:spPr>
          <a:xfrm>
            <a:off x="3063240" y="2496312"/>
            <a:ext cx="1764792" cy="1737360"/>
          </a:xfrm>
          <a:prstGeom prst="rect">
            <a:avLst/>
          </a:prstGeom>
          <a:noFill/>
        </p:spPr>
        <p:txBody>
          <a:bodyPr wrap="square" anchor="t">
            <a:spAutoFit/>
          </a:bodyPr>
          <a:lstStyle/>
          <a:p>
            <a:pPr algn="l"/>
            <a:r>
              <a:rPr sz="1100" b="0">
                <a:solidFill>
                  <a:srgbClr val="0F172A"/>
                </a:solidFill>
                <a:latin typeface="Aptos"/>
              </a:rPr>
              <a:t>Loss attribution; associations; hypothesis tests</a:t>
            </a:r>
          </a:p>
        </p:txBody>
      </p:sp>
      <p:sp>
        <p:nvSpPr>
          <p:cNvPr id="14" name="Rounded Rectangle 13"/>
          <p:cNvSpPr/>
          <p:nvPr/>
        </p:nvSpPr>
        <p:spPr>
          <a:xfrm>
            <a:off x="5202936" y="1965960"/>
            <a:ext cx="2057400" cy="2377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02936" y="1965960"/>
            <a:ext cx="64008" cy="2377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67528" y="2103120"/>
            <a:ext cx="1764792" cy="320040"/>
          </a:xfrm>
          <a:prstGeom prst="rect">
            <a:avLst/>
          </a:prstGeom>
          <a:noFill/>
        </p:spPr>
        <p:txBody>
          <a:bodyPr wrap="square" anchor="t">
            <a:spAutoFit/>
          </a:bodyPr>
          <a:lstStyle/>
          <a:p>
            <a:pPr algn="l"/>
            <a:r>
              <a:rPr sz="1200" b="1">
                <a:solidFill>
                  <a:srgbClr val="0C1D3A"/>
                </a:solidFill>
                <a:latin typeface="Aptos"/>
              </a:rPr>
              <a:t>PREDICTIVE</a:t>
            </a:r>
          </a:p>
        </p:txBody>
      </p:sp>
      <p:sp>
        <p:nvSpPr>
          <p:cNvPr id="17" name="TextBox 16"/>
          <p:cNvSpPr txBox="1"/>
          <p:nvPr/>
        </p:nvSpPr>
        <p:spPr>
          <a:xfrm>
            <a:off x="5367528" y="2496312"/>
            <a:ext cx="1764792" cy="1737360"/>
          </a:xfrm>
          <a:prstGeom prst="rect">
            <a:avLst/>
          </a:prstGeom>
          <a:noFill/>
        </p:spPr>
        <p:txBody>
          <a:bodyPr wrap="square" anchor="t">
            <a:spAutoFit/>
          </a:bodyPr>
          <a:lstStyle/>
          <a:p>
            <a:pPr algn="l"/>
            <a:r>
              <a:rPr sz="1100" b="0">
                <a:solidFill>
                  <a:srgbClr val="0F172A"/>
                </a:solidFill>
                <a:latin typeface="Aptos"/>
              </a:rPr>
              <a:t>Expected-power regression; underperformance prediction</a:t>
            </a:r>
          </a:p>
        </p:txBody>
      </p:sp>
      <p:sp>
        <p:nvSpPr>
          <p:cNvPr id="18" name="Rounded Rectangle 17"/>
          <p:cNvSpPr/>
          <p:nvPr/>
        </p:nvSpPr>
        <p:spPr>
          <a:xfrm>
            <a:off x="7507224" y="1965960"/>
            <a:ext cx="2057400" cy="2377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07224" y="1965960"/>
            <a:ext cx="64008" cy="23774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71816" y="2103120"/>
            <a:ext cx="1764792" cy="320040"/>
          </a:xfrm>
          <a:prstGeom prst="rect">
            <a:avLst/>
          </a:prstGeom>
          <a:noFill/>
        </p:spPr>
        <p:txBody>
          <a:bodyPr wrap="square" anchor="t">
            <a:spAutoFit/>
          </a:bodyPr>
          <a:lstStyle/>
          <a:p>
            <a:pPr algn="l"/>
            <a:r>
              <a:rPr sz="1200" b="1">
                <a:solidFill>
                  <a:srgbClr val="0C1D3A"/>
                </a:solidFill>
                <a:latin typeface="Aptos"/>
              </a:rPr>
              <a:t>PRESCRIPTIVE</a:t>
            </a:r>
          </a:p>
        </p:txBody>
      </p:sp>
      <p:sp>
        <p:nvSpPr>
          <p:cNvPr id="21" name="TextBox 20"/>
          <p:cNvSpPr txBox="1"/>
          <p:nvPr/>
        </p:nvSpPr>
        <p:spPr>
          <a:xfrm>
            <a:off x="7671816" y="2496312"/>
            <a:ext cx="1764792" cy="1737360"/>
          </a:xfrm>
          <a:prstGeom prst="rect">
            <a:avLst/>
          </a:prstGeom>
          <a:noFill/>
        </p:spPr>
        <p:txBody>
          <a:bodyPr wrap="square" anchor="t">
            <a:spAutoFit/>
          </a:bodyPr>
          <a:lstStyle/>
          <a:p>
            <a:pPr algn="l"/>
            <a:r>
              <a:rPr sz="1100" b="0">
                <a:solidFill>
                  <a:srgbClr val="0F172A"/>
                </a:solidFill>
                <a:latin typeface="Aptos"/>
              </a:rPr>
              <a:t>Priority ranking; intervention/pilot logic</a:t>
            </a:r>
          </a:p>
        </p:txBody>
      </p:sp>
      <p:sp>
        <p:nvSpPr>
          <p:cNvPr id="22" name="Rounded Rectangle 21"/>
          <p:cNvSpPr/>
          <p:nvPr/>
        </p:nvSpPr>
        <p:spPr>
          <a:xfrm>
            <a:off x="9811512" y="1965960"/>
            <a:ext cx="2057400" cy="2377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811512" y="1965960"/>
            <a:ext cx="64008" cy="2377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76104" y="2103120"/>
            <a:ext cx="1764792" cy="320040"/>
          </a:xfrm>
          <a:prstGeom prst="rect">
            <a:avLst/>
          </a:prstGeom>
          <a:noFill/>
        </p:spPr>
        <p:txBody>
          <a:bodyPr wrap="square" anchor="t">
            <a:spAutoFit/>
          </a:bodyPr>
          <a:lstStyle/>
          <a:p>
            <a:pPr algn="l"/>
            <a:r>
              <a:rPr sz="1200" b="1">
                <a:solidFill>
                  <a:srgbClr val="0C1D3A"/>
                </a:solidFill>
                <a:latin typeface="Aptos"/>
              </a:rPr>
              <a:t>COGNITIVE</a:t>
            </a:r>
          </a:p>
        </p:txBody>
      </p:sp>
      <p:sp>
        <p:nvSpPr>
          <p:cNvPr id="25" name="TextBox 24"/>
          <p:cNvSpPr txBox="1"/>
          <p:nvPr/>
        </p:nvSpPr>
        <p:spPr>
          <a:xfrm>
            <a:off x="9976104" y="2496312"/>
            <a:ext cx="1764792" cy="1737360"/>
          </a:xfrm>
          <a:prstGeom prst="rect">
            <a:avLst/>
          </a:prstGeom>
          <a:noFill/>
        </p:spPr>
        <p:txBody>
          <a:bodyPr wrap="square" anchor="t">
            <a:spAutoFit/>
          </a:bodyPr>
          <a:lstStyle/>
          <a:p>
            <a:pPr algn="l"/>
            <a:r>
              <a:rPr sz="1100" b="0">
                <a:solidFill>
                  <a:srgbClr val="0F172A"/>
                </a:solidFill>
                <a:latin typeface="Aptos"/>
              </a:rPr>
              <a:t>Feedback, drift, learning and explainability</a:t>
            </a:r>
          </a:p>
        </p:txBody>
      </p:sp>
      <p:sp>
        <p:nvSpPr>
          <p:cNvPr id="26" name="TextBox 25"/>
          <p:cNvSpPr txBox="1"/>
          <p:nvPr/>
        </p:nvSpPr>
        <p:spPr>
          <a:xfrm>
            <a:off x="731520" y="4800600"/>
            <a:ext cx="10789920" cy="615553"/>
          </a:xfrm>
          <a:prstGeom prst="rect">
            <a:avLst/>
          </a:prstGeom>
          <a:noFill/>
        </p:spPr>
        <p:txBody>
          <a:bodyPr wrap="square" anchor="t">
            <a:spAutoFit/>
          </a:bodyPr>
          <a:lstStyle/>
          <a:p>
            <a:pPr algn="ctr"/>
            <a:r>
              <a:rPr sz="1700" b="1" dirty="0">
                <a:solidFill>
                  <a:srgbClr val="0C1D3A"/>
                </a:solidFill>
                <a:latin typeface="Aptos"/>
              </a:rPr>
              <a:t>Candidate techniques such as regression, Random Forest, gradient boosting or anomaly detection are subordinate choices </a:t>
            </a:r>
            <a:r>
              <a:rPr lang="en-US" sz="1700" b="1" dirty="0">
                <a:solidFill>
                  <a:srgbClr val="0C1D3A"/>
                </a:solidFill>
                <a:latin typeface="Aptos"/>
              </a:rPr>
              <a:t>, </a:t>
            </a:r>
            <a:r>
              <a:rPr sz="1700" b="1" dirty="0">
                <a:solidFill>
                  <a:srgbClr val="0C1D3A"/>
                </a:solidFill>
                <a:latin typeface="Aptos"/>
              </a:rPr>
              <a:t> they are not the business objective.</a:t>
            </a:r>
          </a:p>
        </p:txBody>
      </p:sp>
      <p:sp>
        <p:nvSpPr>
          <p:cNvPr id="27" name="TextBox 26"/>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EWA · InnovatiCS ACWA Power capstone brief; Dr. Mo Business Problem Framework.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 1 · DEPLOYMENT PLAN + STAKEHOLDERS</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Define how evidence could become an operational decision</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Stage 1 commits to the deployment shape; it does not claim production deployment exists.</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28800"/>
            <a:ext cx="6492240" cy="35661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828800"/>
            <a:ext cx="64008" cy="3566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965960"/>
            <a:ext cx="6199631" cy="320040"/>
          </a:xfrm>
          <a:prstGeom prst="rect">
            <a:avLst/>
          </a:prstGeom>
          <a:noFill/>
        </p:spPr>
        <p:txBody>
          <a:bodyPr wrap="square" anchor="t">
            <a:spAutoFit/>
          </a:bodyPr>
          <a:lstStyle/>
          <a:p>
            <a:pPr algn="l"/>
            <a:r>
              <a:rPr sz="1500" b="1">
                <a:solidFill>
                  <a:srgbClr val="0C1D3A"/>
                </a:solidFill>
                <a:latin typeface="Aptos"/>
              </a:rPr>
              <a:t>DEPLOYMENT CONCEPT</a:t>
            </a:r>
          </a:p>
        </p:txBody>
      </p:sp>
      <p:sp>
        <p:nvSpPr>
          <p:cNvPr id="9" name="TextBox 8"/>
          <p:cNvSpPr txBox="1"/>
          <p:nvPr/>
        </p:nvSpPr>
        <p:spPr>
          <a:xfrm>
            <a:off x="758952" y="2359152"/>
            <a:ext cx="6199631" cy="2926080"/>
          </a:xfrm>
          <a:prstGeom prst="rect">
            <a:avLst/>
          </a:prstGeom>
          <a:noFill/>
        </p:spPr>
        <p:txBody>
          <a:bodyPr wrap="square" anchor="t">
            <a:spAutoFit/>
          </a:bodyPr>
          <a:lstStyle/>
          <a:p>
            <a:pPr algn="l"/>
            <a:r>
              <a:rPr sz="1400" b="0">
                <a:solidFill>
                  <a:srgbClr val="0F172A"/>
                </a:solidFill>
                <a:latin typeface="Aptos"/>
              </a:rPr>
              <a:t>Historical data → ABT → offline validation → pilot / shadow mode → SCADA scoring → dashboard / alerts → human operational decision → verified outcome → feedback
Human operators/engineers remain responsible for field decisions and root-cause confirmation.</a:t>
            </a:r>
          </a:p>
        </p:txBody>
      </p:sp>
      <p:sp>
        <p:nvSpPr>
          <p:cNvPr id="10" name="Rounded Rectangle 9"/>
          <p:cNvSpPr/>
          <p:nvPr/>
        </p:nvSpPr>
        <p:spPr>
          <a:xfrm>
            <a:off x="7360920" y="1828800"/>
            <a:ext cx="4206240" cy="35661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60920" y="1828800"/>
            <a:ext cx="64008" cy="3566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25512" y="1965960"/>
            <a:ext cx="3913631" cy="320040"/>
          </a:xfrm>
          <a:prstGeom prst="rect">
            <a:avLst/>
          </a:prstGeom>
          <a:noFill/>
        </p:spPr>
        <p:txBody>
          <a:bodyPr wrap="square" anchor="t">
            <a:spAutoFit/>
          </a:bodyPr>
          <a:lstStyle/>
          <a:p>
            <a:pPr algn="l"/>
            <a:r>
              <a:rPr sz="1500" b="1">
                <a:solidFill>
                  <a:srgbClr val="0C1D3A"/>
                </a:solidFill>
                <a:latin typeface="Aptos"/>
              </a:rPr>
              <a:t>STAKEHOLDERS</a:t>
            </a:r>
          </a:p>
        </p:txBody>
      </p:sp>
      <p:sp>
        <p:nvSpPr>
          <p:cNvPr id="13" name="TextBox 12"/>
          <p:cNvSpPr txBox="1"/>
          <p:nvPr/>
        </p:nvSpPr>
        <p:spPr>
          <a:xfrm>
            <a:off x="7525512" y="2359152"/>
            <a:ext cx="3913631" cy="2926080"/>
          </a:xfrm>
          <a:prstGeom prst="rect">
            <a:avLst/>
          </a:prstGeom>
          <a:noFill/>
        </p:spPr>
        <p:txBody>
          <a:bodyPr wrap="square" anchor="t">
            <a:spAutoFit/>
          </a:bodyPr>
          <a:lstStyle/>
          <a:p>
            <a:pPr algn="l"/>
            <a:r>
              <a:rPr sz="1300" b="0">
                <a:solidFill>
                  <a:srgbClr val="0F172A"/>
                </a:solidFill>
                <a:latin typeface="Aptos"/>
              </a:rPr>
              <a:t>Operations / site engineers
Maintenance &amp; Reliability
Asset Management
Data / Digital / SCADA
Finance
OEM / turbine supplier
IT / Cyber
Executive sponsor</a:t>
            </a:r>
          </a:p>
        </p:txBody>
      </p:sp>
      <p:sp>
        <p:nvSpPr>
          <p:cNvPr id="14" name="TextBox 13"/>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Stakeholders are separate from the analytical project team.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274320"/>
          </a:xfrm>
          <a:prstGeom prst="rect">
            <a:avLst/>
          </a:prstGeom>
          <a:noFill/>
        </p:spPr>
        <p:txBody>
          <a:bodyPr wrap="square" anchor="t">
            <a:spAutoFit/>
          </a:bodyPr>
          <a:lstStyle/>
          <a:p>
            <a:pPr algn="l"/>
            <a:r>
              <a:rPr sz="1000" b="1">
                <a:solidFill>
                  <a:srgbClr val="0EA5E9"/>
                </a:solidFill>
                <a:latin typeface="Aptos"/>
              </a:rPr>
              <a:t>STAGE-1 EXIT GATE</a:t>
            </a:r>
          </a:p>
        </p:txBody>
      </p:sp>
      <p:sp>
        <p:nvSpPr>
          <p:cNvPr id="3" name="TextBox 2"/>
          <p:cNvSpPr txBox="1"/>
          <p:nvPr/>
        </p:nvSpPr>
        <p:spPr>
          <a:xfrm>
            <a:off x="502920" y="621792"/>
            <a:ext cx="11064240" cy="594360"/>
          </a:xfrm>
          <a:prstGeom prst="rect">
            <a:avLst/>
          </a:prstGeom>
          <a:noFill/>
        </p:spPr>
        <p:txBody>
          <a:bodyPr wrap="square" anchor="t">
            <a:spAutoFit/>
          </a:bodyPr>
          <a:lstStyle/>
          <a:p>
            <a:pPr algn="l"/>
            <a:r>
              <a:rPr sz="2700" b="1">
                <a:solidFill>
                  <a:srgbClr val="0C1D3A"/>
                </a:solidFill>
                <a:latin typeface="Aptos"/>
              </a:rPr>
              <a:t>What must be agreed before Stage 2 begins</a:t>
            </a:r>
          </a:p>
        </p:txBody>
      </p:sp>
      <p:sp>
        <p:nvSpPr>
          <p:cNvPr id="4" name="TextBox 3"/>
          <p:cNvSpPr txBox="1"/>
          <p:nvPr/>
        </p:nvSpPr>
        <p:spPr>
          <a:xfrm>
            <a:off x="502920" y="1234440"/>
            <a:ext cx="10972800" cy="411480"/>
          </a:xfrm>
          <a:prstGeom prst="rect">
            <a:avLst/>
          </a:prstGeom>
          <a:noFill/>
        </p:spPr>
        <p:txBody>
          <a:bodyPr wrap="square" anchor="t">
            <a:spAutoFit/>
          </a:bodyPr>
          <a:lstStyle/>
          <a:p>
            <a:pPr algn="l"/>
            <a:r>
              <a:rPr sz="1200" b="0">
                <a:solidFill>
                  <a:srgbClr val="64748B"/>
                </a:solidFill>
                <a:latin typeface="Aptos"/>
              </a:rPr>
              <a:t>If these are not clear, we are not ready to analyze the dataset.</a:t>
            </a:r>
          </a:p>
        </p:txBody>
      </p:sp>
      <p:sp>
        <p:nvSpPr>
          <p:cNvPr id="5" name="Rectangle 4"/>
          <p:cNvSpPr/>
          <p:nvPr/>
        </p:nvSpPr>
        <p:spPr>
          <a:xfrm>
            <a:off x="502920" y="1691640"/>
            <a:ext cx="1115568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2880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2880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1965960"/>
            <a:ext cx="2267712" cy="320040"/>
          </a:xfrm>
          <a:prstGeom prst="rect">
            <a:avLst/>
          </a:prstGeom>
          <a:noFill/>
        </p:spPr>
        <p:txBody>
          <a:bodyPr wrap="square" anchor="t">
            <a:spAutoFit/>
          </a:bodyPr>
          <a:lstStyle/>
          <a:p>
            <a:pPr algn="l"/>
            <a:r>
              <a:rPr sz="1200" b="1">
                <a:solidFill>
                  <a:srgbClr val="0C1D3A"/>
                </a:solidFill>
                <a:latin typeface="Aptos"/>
              </a:rPr>
              <a:t>Problem statement</a:t>
            </a:r>
          </a:p>
        </p:txBody>
      </p:sp>
      <p:sp>
        <p:nvSpPr>
          <p:cNvPr id="9" name="TextBox 8"/>
          <p:cNvSpPr txBox="1"/>
          <p:nvPr/>
        </p:nvSpPr>
        <p:spPr>
          <a:xfrm>
            <a:off x="804671" y="2359152"/>
            <a:ext cx="2267712" cy="457200"/>
          </a:xfrm>
          <a:prstGeom prst="rect">
            <a:avLst/>
          </a:prstGeom>
          <a:noFill/>
        </p:spPr>
        <p:txBody>
          <a:bodyPr wrap="square" anchor="t">
            <a:spAutoFit/>
          </a:bodyPr>
          <a:lstStyle/>
          <a:p>
            <a:pPr algn="l"/>
            <a:r>
              <a:rPr sz="1000" b="0">
                <a:solidFill>
                  <a:srgbClr val="0F172A"/>
                </a:solidFill>
                <a:latin typeface="Aptos"/>
              </a:rPr>
              <a:t>Agreed and cause-neutral</a:t>
            </a:r>
          </a:p>
        </p:txBody>
      </p:sp>
      <p:sp>
        <p:nvSpPr>
          <p:cNvPr id="10" name="Rounded Rectangle 9"/>
          <p:cNvSpPr/>
          <p:nvPr/>
        </p:nvSpPr>
        <p:spPr>
          <a:xfrm>
            <a:off x="3474720" y="182880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0" y="182880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9312" y="1965960"/>
            <a:ext cx="2267712" cy="320040"/>
          </a:xfrm>
          <a:prstGeom prst="rect">
            <a:avLst/>
          </a:prstGeom>
          <a:noFill/>
        </p:spPr>
        <p:txBody>
          <a:bodyPr wrap="square" anchor="t">
            <a:spAutoFit/>
          </a:bodyPr>
          <a:lstStyle/>
          <a:p>
            <a:pPr algn="l"/>
            <a:r>
              <a:rPr sz="1200" b="1">
                <a:solidFill>
                  <a:srgbClr val="0C1D3A"/>
                </a:solidFill>
                <a:latin typeface="Aptos"/>
              </a:rPr>
              <a:t>Team &amp; stakeholders</a:t>
            </a:r>
          </a:p>
        </p:txBody>
      </p:sp>
      <p:sp>
        <p:nvSpPr>
          <p:cNvPr id="13" name="TextBox 12"/>
          <p:cNvSpPr txBox="1"/>
          <p:nvPr/>
        </p:nvSpPr>
        <p:spPr>
          <a:xfrm>
            <a:off x="3639312" y="2359152"/>
            <a:ext cx="2267712" cy="457200"/>
          </a:xfrm>
          <a:prstGeom prst="rect">
            <a:avLst/>
          </a:prstGeom>
          <a:noFill/>
        </p:spPr>
        <p:txBody>
          <a:bodyPr wrap="square" anchor="t">
            <a:spAutoFit/>
          </a:bodyPr>
          <a:lstStyle/>
          <a:p>
            <a:pPr algn="l"/>
            <a:r>
              <a:rPr sz="1000" b="0">
                <a:solidFill>
                  <a:srgbClr val="0F172A"/>
                </a:solidFill>
                <a:latin typeface="Aptos"/>
              </a:rPr>
              <a:t>Roles and evidence needs clear</a:t>
            </a:r>
          </a:p>
        </p:txBody>
      </p:sp>
      <p:sp>
        <p:nvSpPr>
          <p:cNvPr id="14" name="Rounded Rectangle 13"/>
          <p:cNvSpPr/>
          <p:nvPr/>
        </p:nvSpPr>
        <p:spPr>
          <a:xfrm>
            <a:off x="6309360" y="182880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182880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1965960"/>
            <a:ext cx="2267712" cy="320040"/>
          </a:xfrm>
          <a:prstGeom prst="rect">
            <a:avLst/>
          </a:prstGeom>
          <a:noFill/>
        </p:spPr>
        <p:txBody>
          <a:bodyPr wrap="square" anchor="t">
            <a:spAutoFit/>
          </a:bodyPr>
          <a:lstStyle/>
          <a:p>
            <a:pPr algn="l"/>
            <a:r>
              <a:rPr sz="1200" b="1">
                <a:solidFill>
                  <a:srgbClr val="0C1D3A"/>
                </a:solidFill>
                <a:latin typeface="Aptos"/>
              </a:rPr>
              <a:t>Objectives</a:t>
            </a:r>
          </a:p>
        </p:txBody>
      </p:sp>
      <p:sp>
        <p:nvSpPr>
          <p:cNvPr id="17" name="TextBox 16"/>
          <p:cNvSpPr txBox="1"/>
          <p:nvPr/>
        </p:nvSpPr>
        <p:spPr>
          <a:xfrm>
            <a:off x="6473952" y="2359152"/>
            <a:ext cx="2267712" cy="457200"/>
          </a:xfrm>
          <a:prstGeom prst="rect">
            <a:avLst/>
          </a:prstGeom>
          <a:noFill/>
        </p:spPr>
        <p:txBody>
          <a:bodyPr wrap="square" anchor="t">
            <a:spAutoFit/>
          </a:bodyPr>
          <a:lstStyle/>
          <a:p>
            <a:pPr algn="l"/>
            <a:r>
              <a:rPr sz="1000" b="0">
                <a:solidFill>
                  <a:srgbClr val="0F172A"/>
                </a:solidFill>
                <a:latin typeface="Aptos"/>
              </a:rPr>
              <a:t>Business outcomes defined</a:t>
            </a:r>
          </a:p>
        </p:txBody>
      </p:sp>
      <p:sp>
        <p:nvSpPr>
          <p:cNvPr id="18" name="Rounded Rectangle 17"/>
          <p:cNvSpPr/>
          <p:nvPr/>
        </p:nvSpPr>
        <p:spPr>
          <a:xfrm>
            <a:off x="9144000" y="182880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0" y="182880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08592" y="1965960"/>
            <a:ext cx="2267712" cy="320040"/>
          </a:xfrm>
          <a:prstGeom prst="rect">
            <a:avLst/>
          </a:prstGeom>
          <a:noFill/>
        </p:spPr>
        <p:txBody>
          <a:bodyPr wrap="square" anchor="t">
            <a:spAutoFit/>
          </a:bodyPr>
          <a:lstStyle/>
          <a:p>
            <a:pPr algn="l"/>
            <a:r>
              <a:rPr sz="1200" b="1">
                <a:solidFill>
                  <a:srgbClr val="0C1D3A"/>
                </a:solidFill>
                <a:latin typeface="Aptos"/>
              </a:rPr>
              <a:t>25 questions</a:t>
            </a:r>
          </a:p>
        </p:txBody>
      </p:sp>
      <p:sp>
        <p:nvSpPr>
          <p:cNvPr id="21" name="TextBox 20"/>
          <p:cNvSpPr txBox="1"/>
          <p:nvPr/>
        </p:nvSpPr>
        <p:spPr>
          <a:xfrm>
            <a:off x="9308592" y="2359152"/>
            <a:ext cx="2267712" cy="457200"/>
          </a:xfrm>
          <a:prstGeom prst="rect">
            <a:avLst/>
          </a:prstGeom>
          <a:noFill/>
        </p:spPr>
        <p:txBody>
          <a:bodyPr wrap="square" anchor="t">
            <a:spAutoFit/>
          </a:bodyPr>
          <a:lstStyle/>
          <a:p>
            <a:pPr algn="l"/>
            <a:r>
              <a:rPr sz="1000" b="0">
                <a:solidFill>
                  <a:srgbClr val="0F172A"/>
                </a:solidFill>
                <a:latin typeface="Aptos"/>
              </a:rPr>
              <a:t>5×5 bank agreed</a:t>
            </a:r>
          </a:p>
        </p:txBody>
      </p:sp>
      <p:sp>
        <p:nvSpPr>
          <p:cNvPr id="22" name="Rounded Rectangle 21"/>
          <p:cNvSpPr/>
          <p:nvPr/>
        </p:nvSpPr>
        <p:spPr>
          <a:xfrm>
            <a:off x="640080" y="324612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324612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1" y="3383279"/>
            <a:ext cx="2267712" cy="320040"/>
          </a:xfrm>
          <a:prstGeom prst="rect">
            <a:avLst/>
          </a:prstGeom>
          <a:noFill/>
        </p:spPr>
        <p:txBody>
          <a:bodyPr wrap="square" anchor="t">
            <a:spAutoFit/>
          </a:bodyPr>
          <a:lstStyle/>
          <a:p>
            <a:pPr algn="l"/>
            <a:r>
              <a:rPr sz="1200" b="1">
                <a:solidFill>
                  <a:srgbClr val="0C1D3A"/>
                </a:solidFill>
                <a:latin typeface="Aptos"/>
              </a:rPr>
              <a:t>Success KPIs</a:t>
            </a:r>
          </a:p>
        </p:txBody>
      </p:sp>
      <p:sp>
        <p:nvSpPr>
          <p:cNvPr id="25" name="TextBox 24"/>
          <p:cNvSpPr txBox="1"/>
          <p:nvPr/>
        </p:nvSpPr>
        <p:spPr>
          <a:xfrm>
            <a:off x="804671" y="3776472"/>
            <a:ext cx="2267712" cy="457200"/>
          </a:xfrm>
          <a:prstGeom prst="rect">
            <a:avLst/>
          </a:prstGeom>
          <a:noFill/>
        </p:spPr>
        <p:txBody>
          <a:bodyPr wrap="square" anchor="t">
            <a:spAutoFit/>
          </a:bodyPr>
          <a:lstStyle/>
          <a:p>
            <a:pPr algn="l"/>
            <a:r>
              <a:rPr sz="1000" b="0">
                <a:solidFill>
                  <a:srgbClr val="0F172A"/>
                </a:solidFill>
                <a:latin typeface="Aptos"/>
              </a:rPr>
              <a:t>Business + analytical + quality</a:t>
            </a:r>
          </a:p>
        </p:txBody>
      </p:sp>
      <p:sp>
        <p:nvSpPr>
          <p:cNvPr id="26" name="Rounded Rectangle 25"/>
          <p:cNvSpPr/>
          <p:nvPr/>
        </p:nvSpPr>
        <p:spPr>
          <a:xfrm>
            <a:off x="3474720" y="324612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474720" y="324612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39312" y="3383279"/>
            <a:ext cx="2267712" cy="320040"/>
          </a:xfrm>
          <a:prstGeom prst="rect">
            <a:avLst/>
          </a:prstGeom>
          <a:noFill/>
        </p:spPr>
        <p:txBody>
          <a:bodyPr wrap="square" anchor="t">
            <a:spAutoFit/>
          </a:bodyPr>
          <a:lstStyle/>
          <a:p>
            <a:pPr algn="l"/>
            <a:r>
              <a:rPr sz="1200" b="1">
                <a:solidFill>
                  <a:srgbClr val="0C1D3A"/>
                </a:solidFill>
                <a:latin typeface="Aptos"/>
              </a:rPr>
              <a:t>Unit &amp; targets</a:t>
            </a:r>
          </a:p>
        </p:txBody>
      </p:sp>
      <p:sp>
        <p:nvSpPr>
          <p:cNvPr id="29" name="TextBox 28"/>
          <p:cNvSpPr txBox="1"/>
          <p:nvPr/>
        </p:nvSpPr>
        <p:spPr>
          <a:xfrm>
            <a:off x="3639312" y="3776472"/>
            <a:ext cx="2267712" cy="457200"/>
          </a:xfrm>
          <a:prstGeom prst="rect">
            <a:avLst/>
          </a:prstGeom>
          <a:noFill/>
        </p:spPr>
        <p:txBody>
          <a:bodyPr wrap="square" anchor="t">
            <a:spAutoFit/>
          </a:bodyPr>
          <a:lstStyle/>
          <a:p>
            <a:pPr algn="l"/>
            <a:r>
              <a:rPr sz="1000" b="0">
                <a:solidFill>
                  <a:srgbClr val="0F172A"/>
                </a:solidFill>
                <a:latin typeface="Aptos"/>
              </a:rPr>
              <a:t>Grain and labels defined</a:t>
            </a:r>
          </a:p>
        </p:txBody>
      </p:sp>
      <p:sp>
        <p:nvSpPr>
          <p:cNvPr id="30" name="Rounded Rectangle 29"/>
          <p:cNvSpPr/>
          <p:nvPr/>
        </p:nvSpPr>
        <p:spPr>
          <a:xfrm>
            <a:off x="6309360" y="324612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09360" y="324612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73952" y="3383279"/>
            <a:ext cx="2267712" cy="320040"/>
          </a:xfrm>
          <a:prstGeom prst="rect">
            <a:avLst/>
          </a:prstGeom>
          <a:noFill/>
        </p:spPr>
        <p:txBody>
          <a:bodyPr wrap="square" anchor="t">
            <a:spAutoFit/>
          </a:bodyPr>
          <a:lstStyle/>
          <a:p>
            <a:pPr algn="l"/>
            <a:r>
              <a:rPr sz="1200" b="1">
                <a:solidFill>
                  <a:srgbClr val="0C1D3A"/>
                </a:solidFill>
                <a:latin typeface="Aptos"/>
              </a:rPr>
              <a:t>Required data / ABT</a:t>
            </a:r>
          </a:p>
        </p:txBody>
      </p:sp>
      <p:sp>
        <p:nvSpPr>
          <p:cNvPr id="33" name="TextBox 32"/>
          <p:cNvSpPr txBox="1"/>
          <p:nvPr/>
        </p:nvSpPr>
        <p:spPr>
          <a:xfrm>
            <a:off x="6473952" y="3776472"/>
            <a:ext cx="2267712" cy="457200"/>
          </a:xfrm>
          <a:prstGeom prst="rect">
            <a:avLst/>
          </a:prstGeom>
          <a:noFill/>
        </p:spPr>
        <p:txBody>
          <a:bodyPr wrap="square" anchor="t">
            <a:spAutoFit/>
          </a:bodyPr>
          <a:lstStyle/>
          <a:p>
            <a:pPr algn="l"/>
            <a:r>
              <a:rPr sz="1000" b="0">
                <a:solidFill>
                  <a:srgbClr val="0F172A"/>
                </a:solidFill>
                <a:latin typeface="Aptos"/>
              </a:rPr>
              <a:t>Ideal evidence specified</a:t>
            </a:r>
          </a:p>
        </p:txBody>
      </p:sp>
      <p:sp>
        <p:nvSpPr>
          <p:cNvPr id="34" name="Rounded Rectangle 33"/>
          <p:cNvSpPr/>
          <p:nvPr/>
        </p:nvSpPr>
        <p:spPr>
          <a:xfrm>
            <a:off x="9144000" y="3246120"/>
            <a:ext cx="2560320" cy="1097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144000" y="3246120"/>
            <a:ext cx="6400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08592" y="3383279"/>
            <a:ext cx="2267712" cy="320040"/>
          </a:xfrm>
          <a:prstGeom prst="rect">
            <a:avLst/>
          </a:prstGeom>
          <a:noFill/>
        </p:spPr>
        <p:txBody>
          <a:bodyPr wrap="square" anchor="t">
            <a:spAutoFit/>
          </a:bodyPr>
          <a:lstStyle/>
          <a:p>
            <a:pPr algn="l"/>
            <a:r>
              <a:rPr sz="1200" b="1">
                <a:solidFill>
                  <a:srgbClr val="0C1D3A"/>
                </a:solidFill>
                <a:latin typeface="Aptos"/>
              </a:rPr>
              <a:t>Approach &amp; deployment</a:t>
            </a:r>
          </a:p>
        </p:txBody>
      </p:sp>
      <p:sp>
        <p:nvSpPr>
          <p:cNvPr id="37" name="TextBox 36"/>
          <p:cNvSpPr txBox="1"/>
          <p:nvPr/>
        </p:nvSpPr>
        <p:spPr>
          <a:xfrm>
            <a:off x="9308592" y="3776472"/>
            <a:ext cx="2267712" cy="457200"/>
          </a:xfrm>
          <a:prstGeom prst="rect">
            <a:avLst/>
          </a:prstGeom>
          <a:noFill/>
        </p:spPr>
        <p:txBody>
          <a:bodyPr wrap="square" anchor="t">
            <a:spAutoFit/>
          </a:bodyPr>
          <a:lstStyle/>
          <a:p>
            <a:pPr algn="l"/>
            <a:r>
              <a:rPr sz="1000" b="0">
                <a:solidFill>
                  <a:srgbClr val="0F172A"/>
                </a:solidFill>
                <a:latin typeface="Aptos"/>
              </a:rPr>
              <a:t>High-level plan agreed</a:t>
            </a:r>
          </a:p>
        </p:txBody>
      </p:sp>
      <p:sp>
        <p:nvSpPr>
          <p:cNvPr id="38" name="TextBox 37"/>
          <p:cNvSpPr txBox="1"/>
          <p:nvPr/>
        </p:nvSpPr>
        <p:spPr>
          <a:xfrm>
            <a:off x="914400" y="5074920"/>
            <a:ext cx="10332720" cy="502920"/>
          </a:xfrm>
          <a:prstGeom prst="rect">
            <a:avLst/>
          </a:prstGeom>
          <a:noFill/>
        </p:spPr>
        <p:txBody>
          <a:bodyPr wrap="square" anchor="t">
            <a:spAutoFit/>
          </a:bodyPr>
          <a:lstStyle/>
          <a:p>
            <a:pPr algn="ctr"/>
            <a:r>
              <a:rPr sz="2200" b="1">
                <a:solidFill>
                  <a:srgbClr val="0C1D3A"/>
                </a:solidFill>
                <a:latin typeface="Aptos"/>
              </a:rPr>
              <a:t>THEN → CRISP-DM STAGE 2: DATA UNDERSTANDING</a:t>
            </a:r>
          </a:p>
        </p:txBody>
      </p:sp>
      <p:sp>
        <p:nvSpPr>
          <p:cNvPr id="39" name="TextBox 38"/>
          <p:cNvSpPr txBox="1"/>
          <p:nvPr/>
        </p:nvSpPr>
        <p:spPr>
          <a:xfrm>
            <a:off x="914400" y="5623560"/>
            <a:ext cx="10332720" cy="457200"/>
          </a:xfrm>
          <a:prstGeom prst="rect">
            <a:avLst/>
          </a:prstGeom>
          <a:noFill/>
        </p:spPr>
        <p:txBody>
          <a:bodyPr wrap="square" anchor="t">
            <a:spAutoFit/>
          </a:bodyPr>
          <a:lstStyle/>
          <a:p>
            <a:pPr algn="ctr"/>
            <a:r>
              <a:rPr sz="1400" b="0">
                <a:solidFill>
                  <a:srgbClr val="64748B"/>
                </a:solidFill>
                <a:latin typeface="Aptos"/>
              </a:rPr>
              <a:t>Compare the ideal data requirement against the supplied dataset; assess quality, feasibility and gaps before preparation/modeling.</a:t>
            </a:r>
          </a:p>
        </p:txBody>
      </p:sp>
      <p:sp>
        <p:nvSpPr>
          <p:cNvPr id="40" name="TextBox 39"/>
          <p:cNvSpPr txBox="1"/>
          <p:nvPr/>
        </p:nvSpPr>
        <p:spPr>
          <a:xfrm>
            <a:off x="502920" y="6510528"/>
            <a:ext cx="11155680" cy="201168"/>
          </a:xfrm>
          <a:prstGeom prst="rect">
            <a:avLst/>
          </a:prstGeom>
          <a:noFill/>
        </p:spPr>
        <p:txBody>
          <a:bodyPr wrap="square" anchor="t">
            <a:spAutoFit/>
          </a:bodyPr>
          <a:lstStyle/>
          <a:p>
            <a:pPr algn="l"/>
            <a:r>
              <a:rPr sz="800" b="0">
                <a:solidFill>
                  <a:srgbClr val="64748B"/>
                </a:solidFill>
                <a:latin typeface="Aptos"/>
              </a:rPr>
              <a:t>Source: capstone brief Required Analytical Workflow — Business Understanding precedes Data Understanding, Preparation and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2435</Words>
  <Application>Microsoft Office PowerPoint</Application>
  <PresentationFormat>Widescreen</PresentationFormat>
  <Paragraphs>216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vim</dc:creator>
  <cp:keywords/>
  <dc:description>generated using python-pptx</dc:description>
  <cp:lastModifiedBy>Raul Rivera</cp:lastModifiedBy>
  <cp:revision>2</cp:revision>
  <dcterms:created xsi:type="dcterms:W3CDTF">2013-01-27T09:14:16Z</dcterms:created>
  <dcterms:modified xsi:type="dcterms:W3CDTF">2026-09-17T02:38:02Z</dcterms:modified>
  <cp:category/>
</cp:coreProperties>
</file>