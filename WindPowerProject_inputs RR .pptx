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9" r:id="rId11"/>
    <p:sldId id="263" r:id="rId12"/>
    <p:sldId id="264" r:id="rId13"/>
    <p:sldId id="265" r:id="rId14"/>
    <p:sldId id="271" r:id="rId15"/>
    <p:sldId id="266" r:id="rId16"/>
  </p:sldIdLst>
  <p:sldSz cx="16257588" cy="9144000"/>
  <p:notesSz cx="7772400" cy="100584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76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5CCE10-3945-4190-AF73-FBF4D9B4C2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812880" y="2139480"/>
            <a:ext cx="1463148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032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2DF10-A7BB-4C20-B3E1-1CB921EF0E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30120" y="274680"/>
            <a:ext cx="205740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2028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793162-FA65-4BAE-98CC-38F848D004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0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F414EE-3FBA-4D8D-8F5B-FD0CABF537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76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76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6479C6-9B19-41F2-8629-E51241FE83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4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680" y="1600200"/>
            <a:ext cx="40384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1B2F6D-2069-48AB-9307-6D9066F8C9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402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4028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440" y="1535040"/>
            <a:ext cx="40417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440" y="2174760"/>
            <a:ext cx="40417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6CE5CC-CE63-48E5-BB84-EE20AE353F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402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4028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4645440" y="1535040"/>
            <a:ext cx="40417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645440" y="2174760"/>
            <a:ext cx="40417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8" name="PlaceHolder 8"/>
          <p:cNvSpPr>
            <a:spLocks noGrp="1"/>
          </p:cNvSpPr>
          <p:nvPr>
            <p:ph type="sldNum" idx="24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DA7668-C817-4E98-804C-64ABB08E11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sldNum" idx="27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00EBE2-5DDE-4660-8837-1BD87AF98F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812880" y="2139480"/>
            <a:ext cx="1463148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30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F0FF2E-C3E7-4040-862E-D7113361A5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148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148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81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575520" y="272880"/>
            <a:ext cx="511200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81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DB270A-0911-46BC-B75B-00FB78E669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76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76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ABF90-0EF1-41EC-BCAA-6061E8D69D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8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34B6-B610-7E77-9275-FE9763BD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87A2AC17-253B-4B2A-8CCD-CDF0EDF32BA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6257600" cy="914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3AEA00-C846-356F-F288-BC92FA8F542F}"/>
              </a:ext>
            </a:extLst>
          </p:cNvPr>
          <p:cNvSpPr txBox="1"/>
          <p:nvPr/>
        </p:nvSpPr>
        <p:spPr>
          <a:xfrm>
            <a:off x="1524000" y="7132320"/>
            <a:ext cx="5972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 AI Solution for Predictive Analytics &amp; Revenue Recapture </a:t>
            </a:r>
            <a:endParaRPr lang="es-E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C5D6F3-AB22-C405-70F8-3990E8B2A075}"/>
              </a:ext>
            </a:extLst>
          </p:cNvPr>
          <p:cNvSpPr/>
          <p:nvPr/>
        </p:nvSpPr>
        <p:spPr>
          <a:xfrm>
            <a:off x="1133856" y="5197364"/>
            <a:ext cx="7290816" cy="2304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000" dirty="0">
              <a:solidFill>
                <a:schemeClr val="tx1"/>
              </a:solidFill>
            </a:endParaRPr>
          </a:p>
          <a:p>
            <a:r>
              <a:rPr lang="es-ES" sz="3600" b="1" dirty="0">
                <a:solidFill>
                  <a:schemeClr val="tx1"/>
                </a:solidFill>
              </a:rPr>
              <a:t>AI-</a:t>
            </a:r>
            <a:r>
              <a:rPr lang="es-ES" sz="3600" b="1" dirty="0" err="1">
                <a:solidFill>
                  <a:schemeClr val="tx1"/>
                </a:solidFill>
              </a:rPr>
              <a:t>Powered</a:t>
            </a:r>
            <a:r>
              <a:rPr lang="es-ES" sz="3600" b="1" dirty="0">
                <a:solidFill>
                  <a:schemeClr val="tx1"/>
                </a:solidFill>
              </a:rPr>
              <a:t> Predictive </a:t>
            </a:r>
            <a:r>
              <a:rPr lang="es-ES" sz="3600" b="1" dirty="0" err="1">
                <a:solidFill>
                  <a:schemeClr val="tx1"/>
                </a:solidFill>
              </a:rPr>
              <a:t>Analytics</a:t>
            </a:r>
            <a:br>
              <a:rPr lang="es-ES" sz="3600" b="1" dirty="0">
                <a:solidFill>
                  <a:schemeClr val="tx1"/>
                </a:solidFill>
              </a:rPr>
            </a:br>
            <a:r>
              <a:rPr lang="es-ES" sz="3600" b="1" dirty="0">
                <a:solidFill>
                  <a:schemeClr val="tx1"/>
                </a:solidFill>
              </a:rPr>
              <a:t>&amp; </a:t>
            </a:r>
            <a:r>
              <a:rPr lang="es-ES" sz="3600" b="1" dirty="0" err="1">
                <a:solidFill>
                  <a:schemeClr val="tx1"/>
                </a:solidFill>
              </a:rPr>
              <a:t>Revenue</a:t>
            </a:r>
            <a:r>
              <a:rPr lang="es-ES" sz="3600" b="1" dirty="0">
                <a:solidFill>
                  <a:schemeClr val="tx1"/>
                </a:solidFill>
              </a:rPr>
              <a:t> Recapture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</a:p>
          <a:p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9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-12" y="0"/>
            <a:ext cx="16257600" cy="906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07296-7D27-39AF-53C2-85DB112FD74C}"/>
              </a:ext>
            </a:extLst>
          </p:cNvPr>
          <p:cNvSpPr txBox="1"/>
          <p:nvPr/>
        </p:nvSpPr>
        <p:spPr>
          <a:xfrm>
            <a:off x="835152" y="1443332"/>
            <a:ext cx="14837663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400" dirty="0"/>
              <a:t>Wind turbine </a:t>
            </a:r>
            <a:r>
              <a:rPr lang="es-ES" sz="2400" dirty="0" err="1"/>
              <a:t>availability</a:t>
            </a:r>
            <a:r>
              <a:rPr lang="es-ES" sz="2400" dirty="0"/>
              <a:t> </a:t>
            </a:r>
            <a:r>
              <a:rPr lang="es-ES" sz="2400" dirty="0" err="1"/>
              <a:t>does</a:t>
            </a:r>
            <a:r>
              <a:rPr lang="es-ES" sz="2400" dirty="0"/>
              <a:t> </a:t>
            </a:r>
            <a:r>
              <a:rPr lang="es-ES" sz="2400" dirty="0" err="1"/>
              <a:t>not</a:t>
            </a:r>
            <a:r>
              <a:rPr lang="es-ES" sz="2400" dirty="0"/>
              <a:t> </a:t>
            </a:r>
            <a:r>
              <a:rPr lang="es-ES" sz="2400" dirty="0" err="1"/>
              <a:t>always</a:t>
            </a:r>
            <a:r>
              <a:rPr lang="es-ES" sz="2400" dirty="0"/>
              <a:t> </a:t>
            </a:r>
            <a:r>
              <a:rPr lang="es-ES" sz="2400" dirty="0" err="1"/>
              <a:t>translate</a:t>
            </a:r>
            <a:r>
              <a:rPr lang="es-ES" sz="2400" dirty="0"/>
              <a:t> </a:t>
            </a:r>
            <a:r>
              <a:rPr lang="es-ES" sz="2400" dirty="0" err="1"/>
              <a:t>into</a:t>
            </a:r>
            <a:r>
              <a:rPr lang="es-ES" sz="2400" dirty="0"/>
              <a:t> </a:t>
            </a:r>
            <a:r>
              <a:rPr lang="es-ES" sz="2400" dirty="0" err="1"/>
              <a:t>optimal</a:t>
            </a:r>
            <a:r>
              <a:rPr lang="es-ES" sz="2400" dirty="0"/>
              <a:t> </a:t>
            </a:r>
            <a:r>
              <a:rPr lang="es-ES" sz="2400" dirty="0" err="1"/>
              <a:t>energy</a:t>
            </a:r>
            <a:r>
              <a:rPr lang="es-ES" sz="2400" dirty="0"/>
              <a:t> </a:t>
            </a:r>
            <a:r>
              <a:rPr lang="es-ES" sz="2400" dirty="0" err="1"/>
              <a:t>production</a:t>
            </a:r>
            <a:r>
              <a:rPr lang="es-ES" sz="2400" dirty="0"/>
              <a:t>. </a:t>
            </a:r>
          </a:p>
          <a:p>
            <a:r>
              <a:rPr lang="es-ES" sz="2400" dirty="0"/>
              <a:t>Turbines can </a:t>
            </a:r>
            <a:r>
              <a:rPr lang="es-ES" sz="2400" dirty="0" err="1"/>
              <a:t>remain</a:t>
            </a:r>
            <a:r>
              <a:rPr lang="es-ES" sz="2400" dirty="0"/>
              <a:t> </a:t>
            </a:r>
            <a:r>
              <a:rPr lang="es-ES" sz="2400" dirty="0" err="1"/>
              <a:t>operational</a:t>
            </a:r>
            <a:r>
              <a:rPr lang="es-ES" sz="2400" dirty="0"/>
              <a:t> </a:t>
            </a:r>
            <a:r>
              <a:rPr lang="es-ES" sz="2400" dirty="0" err="1"/>
              <a:t>while</a:t>
            </a:r>
            <a:r>
              <a:rPr lang="es-ES" sz="2400" dirty="0"/>
              <a:t> </a:t>
            </a:r>
            <a:r>
              <a:rPr lang="es-ES" sz="2400" dirty="0" err="1"/>
              <a:t>generating</a:t>
            </a:r>
            <a:r>
              <a:rPr lang="es-ES" sz="2400" dirty="0"/>
              <a:t> </a:t>
            </a:r>
            <a:r>
              <a:rPr lang="es-ES" sz="2400" dirty="0" err="1"/>
              <a:t>below</a:t>
            </a:r>
            <a:r>
              <a:rPr lang="es-ES" sz="2400" dirty="0"/>
              <a:t> </a:t>
            </a:r>
            <a:r>
              <a:rPr lang="es-ES" sz="2400" dirty="0" err="1"/>
              <a:t>their</a:t>
            </a:r>
            <a:r>
              <a:rPr lang="es-ES" sz="2400" dirty="0"/>
              <a:t> </a:t>
            </a:r>
            <a:r>
              <a:rPr lang="es-ES" sz="2400" dirty="0" err="1"/>
              <a:t>potential</a:t>
            </a:r>
            <a:r>
              <a:rPr lang="es-ES" sz="2400" dirty="0"/>
              <a:t> </a:t>
            </a:r>
            <a:r>
              <a:rPr lang="es-ES" sz="2400" dirty="0" err="1"/>
              <a:t>due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</a:t>
            </a:r>
            <a:r>
              <a:rPr lang="es-ES" sz="2400" dirty="0" err="1"/>
              <a:t>changing</a:t>
            </a:r>
            <a:r>
              <a:rPr lang="es-ES" sz="2400" dirty="0"/>
              <a:t> </a:t>
            </a:r>
            <a:r>
              <a:rPr lang="es-ES" sz="2400" dirty="0" err="1"/>
              <a:t>environmental</a:t>
            </a:r>
            <a:r>
              <a:rPr lang="es-ES" sz="2400" dirty="0"/>
              <a:t>, </a:t>
            </a:r>
            <a:r>
              <a:rPr lang="es-ES" sz="2400" dirty="0" err="1"/>
              <a:t>mechanical</a:t>
            </a:r>
            <a:r>
              <a:rPr lang="es-ES" sz="2400" dirty="0"/>
              <a:t>, </a:t>
            </a:r>
            <a:r>
              <a:rPr lang="es-ES" sz="2400" dirty="0" err="1"/>
              <a:t>operational</a:t>
            </a:r>
            <a:r>
              <a:rPr lang="es-ES" sz="2400" dirty="0"/>
              <a:t>, and </a:t>
            </a:r>
            <a:r>
              <a:rPr lang="es-ES" sz="2400" dirty="0" err="1"/>
              <a:t>grid</a:t>
            </a:r>
            <a:r>
              <a:rPr lang="es-ES" sz="2400" dirty="0"/>
              <a:t> </a:t>
            </a:r>
            <a:r>
              <a:rPr lang="es-ES" sz="2400" dirty="0" err="1"/>
              <a:t>conditions</a:t>
            </a:r>
            <a:r>
              <a:rPr lang="es-ES" sz="2400" dirty="0"/>
              <a:t>, </a:t>
            </a:r>
            <a:r>
              <a:rPr lang="es-ES" sz="2400" dirty="0" err="1"/>
              <a:t>creating</a:t>
            </a:r>
            <a:r>
              <a:rPr lang="es-ES" sz="2400" dirty="0"/>
              <a:t> performance </a:t>
            </a:r>
            <a:r>
              <a:rPr lang="es-ES" sz="2400" dirty="0" err="1"/>
              <a:t>losses</a:t>
            </a:r>
            <a:r>
              <a:rPr lang="es-ES" sz="2400" dirty="0"/>
              <a:t> </a:t>
            </a:r>
            <a:r>
              <a:rPr lang="es-ES" sz="2400" dirty="0" err="1"/>
              <a:t>that</a:t>
            </a:r>
            <a:r>
              <a:rPr lang="es-ES" sz="2400" dirty="0"/>
              <a:t> are </a:t>
            </a:r>
            <a:r>
              <a:rPr lang="es-ES" sz="2400" dirty="0" err="1"/>
              <a:t>difficult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</a:t>
            </a:r>
            <a:r>
              <a:rPr lang="es-ES" sz="2400" dirty="0" err="1"/>
              <a:t>detect</a:t>
            </a:r>
            <a:r>
              <a:rPr lang="es-ES" sz="2400" dirty="0"/>
              <a:t> </a:t>
            </a:r>
            <a:r>
              <a:rPr lang="es-ES" sz="2400" dirty="0" err="1"/>
              <a:t>through</a:t>
            </a:r>
            <a:r>
              <a:rPr lang="es-ES" sz="2400" dirty="0"/>
              <a:t> </a:t>
            </a:r>
            <a:r>
              <a:rPr lang="es-ES" sz="2400" dirty="0" err="1"/>
              <a:t>conventional</a:t>
            </a:r>
            <a:r>
              <a:rPr lang="es-ES" sz="2400" dirty="0"/>
              <a:t> </a:t>
            </a:r>
            <a:r>
              <a:rPr lang="es-ES" sz="2400" dirty="0" err="1"/>
              <a:t>reporting</a:t>
            </a:r>
            <a:r>
              <a:rPr lang="es-ES" sz="2400" dirty="0"/>
              <a:t>.</a:t>
            </a:r>
          </a:p>
          <a:p>
            <a:endParaRPr lang="es-ES" sz="2400" dirty="0"/>
          </a:p>
          <a:p>
            <a:r>
              <a:rPr lang="es-ES" sz="2400" dirty="0"/>
              <a:t>As ACWA </a:t>
            </a:r>
            <a:r>
              <a:rPr lang="es-ES" sz="2400" dirty="0" err="1"/>
              <a:t>rapidly</a:t>
            </a:r>
            <a:r>
              <a:rPr lang="es-ES" sz="2400" dirty="0"/>
              <a:t> </a:t>
            </a:r>
            <a:r>
              <a:rPr lang="es-ES" sz="2400" dirty="0" err="1"/>
              <a:t>expands</a:t>
            </a:r>
            <a:r>
              <a:rPr lang="es-ES" sz="2400" dirty="0"/>
              <a:t> </a:t>
            </a:r>
            <a:r>
              <a:rPr lang="es-ES" sz="2400" dirty="0" err="1"/>
              <a:t>its</a:t>
            </a:r>
            <a:r>
              <a:rPr lang="es-ES" sz="2400" dirty="0"/>
              <a:t> </a:t>
            </a:r>
            <a:r>
              <a:rPr lang="es-ES" sz="2400" dirty="0" err="1"/>
              <a:t>renewable</a:t>
            </a:r>
            <a:r>
              <a:rPr lang="es-ES" sz="2400" dirty="0"/>
              <a:t> portfolio, </a:t>
            </a:r>
            <a:r>
              <a:rPr lang="es-ES" sz="2400" dirty="0" err="1"/>
              <a:t>strengthening</a:t>
            </a:r>
            <a:r>
              <a:rPr lang="es-ES" sz="2400" dirty="0"/>
              <a:t> data </a:t>
            </a:r>
            <a:r>
              <a:rPr lang="es-ES" sz="2400" dirty="0" err="1"/>
              <a:t>visibility</a:t>
            </a:r>
            <a:r>
              <a:rPr lang="es-ES" sz="2400" dirty="0"/>
              <a:t>, predictive </a:t>
            </a:r>
            <a:r>
              <a:rPr lang="es-ES" sz="2400" dirty="0" err="1"/>
              <a:t>asset</a:t>
            </a:r>
            <a:r>
              <a:rPr lang="es-ES" sz="2400" dirty="0"/>
              <a:t> </a:t>
            </a:r>
            <a:r>
              <a:rPr lang="es-ES" sz="2400" dirty="0" err="1"/>
              <a:t>intelligence</a:t>
            </a:r>
            <a:r>
              <a:rPr lang="es-ES" sz="2400" dirty="0"/>
              <a:t>, and </a:t>
            </a:r>
            <a:r>
              <a:rPr lang="es-ES" sz="2400" dirty="0" err="1"/>
              <a:t>operational</a:t>
            </a:r>
            <a:r>
              <a:rPr lang="es-ES" sz="2400" dirty="0"/>
              <a:t> performance </a:t>
            </a:r>
            <a:r>
              <a:rPr lang="es-ES" sz="2400" dirty="0" err="1"/>
              <a:t>is</a:t>
            </a:r>
            <a:r>
              <a:rPr lang="es-ES" sz="2400" dirty="0"/>
              <a:t> </a:t>
            </a:r>
            <a:r>
              <a:rPr lang="es-ES" sz="2400" dirty="0" err="1"/>
              <a:t>increasingly</a:t>
            </a:r>
            <a:r>
              <a:rPr lang="es-ES" sz="2400" dirty="0"/>
              <a:t> </a:t>
            </a:r>
            <a:r>
              <a:rPr lang="es-ES" sz="2400" dirty="0" err="1"/>
              <a:t>important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</a:t>
            </a:r>
            <a:r>
              <a:rPr lang="es-ES" sz="2400" dirty="0" err="1"/>
              <a:t>maximizing</a:t>
            </a:r>
            <a:r>
              <a:rPr lang="es-ES" sz="2400" dirty="0"/>
              <a:t> </a:t>
            </a:r>
            <a:r>
              <a:rPr lang="es-ES" sz="2400" dirty="0" err="1"/>
              <a:t>energy</a:t>
            </a:r>
            <a:r>
              <a:rPr lang="es-ES" sz="2400" dirty="0"/>
              <a:t> </a:t>
            </a:r>
            <a:r>
              <a:rPr lang="es-ES" sz="2400" dirty="0" err="1"/>
              <a:t>generation</a:t>
            </a:r>
            <a:r>
              <a:rPr lang="es-ES" sz="2400" dirty="0"/>
              <a:t> and </a:t>
            </a:r>
            <a:r>
              <a:rPr lang="es-ES" sz="2400" dirty="0" err="1"/>
              <a:t>asset</a:t>
            </a:r>
            <a:r>
              <a:rPr lang="es-ES" sz="2400" dirty="0"/>
              <a:t> </a:t>
            </a:r>
            <a:r>
              <a:rPr lang="es-ES" sz="2400" dirty="0" err="1"/>
              <a:t>value</a:t>
            </a:r>
            <a:r>
              <a:rPr lang="es-ES" sz="2400" dirty="0"/>
              <a:t>. ACWA </a:t>
            </a:r>
            <a:r>
              <a:rPr lang="es-ES" sz="2400" dirty="0" err="1"/>
              <a:t>is</a:t>
            </a:r>
            <a:r>
              <a:rPr lang="es-ES" sz="2400" dirty="0"/>
              <a:t> </a:t>
            </a:r>
            <a:r>
              <a:rPr lang="es-ES" sz="2400" dirty="0" err="1"/>
              <a:t>already</a:t>
            </a:r>
            <a:r>
              <a:rPr lang="es-ES" sz="2400" dirty="0"/>
              <a:t> </a:t>
            </a:r>
            <a:r>
              <a:rPr lang="es-ES" sz="2400" dirty="0" err="1"/>
              <a:t>advancing</a:t>
            </a:r>
            <a:r>
              <a:rPr lang="es-ES" sz="2400" dirty="0"/>
              <a:t> </a:t>
            </a:r>
            <a:r>
              <a:rPr lang="es-ES" sz="2400" dirty="0" err="1"/>
              <a:t>this</a:t>
            </a:r>
            <a:r>
              <a:rPr lang="es-ES" sz="2400" dirty="0"/>
              <a:t> </a:t>
            </a:r>
            <a:r>
              <a:rPr lang="es-ES" sz="2400" dirty="0" err="1"/>
              <a:t>direction</a:t>
            </a:r>
            <a:r>
              <a:rPr lang="es-ES" sz="2400" dirty="0"/>
              <a:t> </a:t>
            </a:r>
            <a:r>
              <a:rPr lang="es-ES" sz="2400" dirty="0" err="1"/>
              <a:t>through</a:t>
            </a:r>
            <a:r>
              <a:rPr lang="es-ES" sz="2400" dirty="0"/>
              <a:t> </a:t>
            </a:r>
            <a:r>
              <a:rPr lang="es-ES" sz="2400" dirty="0" err="1"/>
              <a:t>IoT-connected</a:t>
            </a:r>
            <a:r>
              <a:rPr lang="es-ES" sz="2400" dirty="0"/>
              <a:t> </a:t>
            </a:r>
            <a:r>
              <a:rPr lang="es-ES" sz="2400" dirty="0" err="1"/>
              <a:t>plants</a:t>
            </a:r>
            <a:r>
              <a:rPr lang="es-ES" sz="2400" dirty="0"/>
              <a:t>, predictive </a:t>
            </a:r>
            <a:r>
              <a:rPr lang="es-ES" sz="2400" dirty="0" err="1"/>
              <a:t>maintenance</a:t>
            </a:r>
            <a:r>
              <a:rPr lang="es-ES" sz="2400" dirty="0"/>
              <a:t>, and AI-</a:t>
            </a:r>
            <a:r>
              <a:rPr lang="es-ES" sz="2400" dirty="0" err="1"/>
              <a:t>enabled</a:t>
            </a:r>
            <a:r>
              <a:rPr lang="es-ES" sz="2400" dirty="0"/>
              <a:t> </a:t>
            </a:r>
            <a:r>
              <a:rPr lang="es-ES" sz="2400" dirty="0" err="1"/>
              <a:t>operational</a:t>
            </a:r>
            <a:r>
              <a:rPr lang="es-ES" sz="2400" dirty="0"/>
              <a:t> </a:t>
            </a:r>
            <a:r>
              <a:rPr lang="es-ES" sz="2400" dirty="0" err="1"/>
              <a:t>analytics</a:t>
            </a:r>
            <a:endParaRPr lang="es-ES" sz="2400" dirty="0"/>
          </a:p>
          <a:p>
            <a:endParaRPr lang="es-E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B20A4-01E3-5D25-F2F1-71F461F8E7B8}"/>
              </a:ext>
            </a:extLst>
          </p:cNvPr>
          <p:cNvSpPr txBox="1"/>
          <p:nvPr/>
        </p:nvSpPr>
        <p:spPr>
          <a:xfrm>
            <a:off x="2898420" y="7700668"/>
            <a:ext cx="1046073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The </a:t>
            </a:r>
            <a:r>
              <a:rPr lang="es-ES" sz="2000" dirty="0" err="1"/>
              <a:t>challenge</a:t>
            </a:r>
            <a:r>
              <a:rPr lang="es-ES" sz="2000" dirty="0"/>
              <a:t> </a:t>
            </a:r>
            <a:r>
              <a:rPr lang="es-ES" sz="2000" dirty="0" err="1"/>
              <a:t>is</a:t>
            </a:r>
            <a:r>
              <a:rPr lang="es-ES" sz="2000" dirty="0"/>
              <a:t> no </a:t>
            </a:r>
            <a:r>
              <a:rPr lang="es-ES" sz="2000" dirty="0" err="1"/>
              <a:t>longer</a:t>
            </a:r>
            <a:r>
              <a:rPr lang="es-ES" sz="2000" dirty="0"/>
              <a:t> </a:t>
            </a:r>
            <a:r>
              <a:rPr lang="es-ES" sz="2000" dirty="0" err="1"/>
              <a:t>just</a:t>
            </a:r>
            <a:r>
              <a:rPr lang="es-ES" sz="2000" dirty="0"/>
              <a:t> </a:t>
            </a:r>
            <a:r>
              <a:rPr lang="es-ES" sz="2000" dirty="0" err="1"/>
              <a:t>keeping</a:t>
            </a:r>
            <a:r>
              <a:rPr lang="es-ES" sz="2000" dirty="0"/>
              <a:t> turbines running, </a:t>
            </a:r>
            <a:r>
              <a:rPr lang="es-ES" sz="2000" dirty="0" err="1"/>
              <a:t>it</a:t>
            </a:r>
            <a:r>
              <a:rPr lang="es-ES" sz="2000" dirty="0"/>
              <a:t> </a:t>
            </a:r>
            <a:r>
              <a:rPr lang="es-ES" sz="2000" dirty="0" err="1"/>
              <a:t>is</a:t>
            </a:r>
            <a:r>
              <a:rPr lang="es-ES" sz="2000" dirty="0"/>
              <a:t> </a:t>
            </a:r>
            <a:r>
              <a:rPr lang="es-ES" sz="2000" dirty="0" err="1"/>
              <a:t>ensuring</a:t>
            </a:r>
            <a:r>
              <a:rPr lang="es-ES" sz="2000" dirty="0"/>
              <a:t> </a:t>
            </a:r>
            <a:r>
              <a:rPr lang="es-ES" sz="2000" dirty="0" err="1"/>
              <a:t>that</a:t>
            </a:r>
            <a:r>
              <a:rPr lang="es-ES" sz="2000" dirty="0"/>
              <a:t> </a:t>
            </a:r>
            <a:r>
              <a:rPr lang="es-ES" sz="2000" dirty="0" err="1"/>
              <a:t>every</a:t>
            </a:r>
            <a:r>
              <a:rPr lang="es-ES" sz="2000" dirty="0"/>
              <a:t> </a:t>
            </a:r>
            <a:r>
              <a:rPr lang="es-ES" sz="2000" dirty="0" err="1"/>
              <a:t>operating</a:t>
            </a:r>
            <a:r>
              <a:rPr lang="es-ES" sz="2000" dirty="0"/>
              <a:t> turbine </a:t>
            </a:r>
            <a:r>
              <a:rPr lang="es-ES" sz="2000" dirty="0" err="1"/>
              <a:t>generates</a:t>
            </a:r>
            <a:r>
              <a:rPr lang="es-ES" sz="2000" dirty="0"/>
              <a:t> as </a:t>
            </a:r>
            <a:r>
              <a:rPr lang="es-ES" sz="2000" dirty="0" err="1"/>
              <a:t>much</a:t>
            </a:r>
            <a:r>
              <a:rPr lang="es-ES" sz="2000" dirty="0"/>
              <a:t> </a:t>
            </a:r>
            <a:r>
              <a:rPr lang="es-ES" sz="2000" dirty="0" err="1"/>
              <a:t>energy</a:t>
            </a:r>
            <a:r>
              <a:rPr lang="es-ES" sz="2000" dirty="0"/>
              <a:t> as </a:t>
            </a:r>
            <a:r>
              <a:rPr lang="es-ES" sz="2000" dirty="0" err="1"/>
              <a:t>it</a:t>
            </a:r>
            <a:r>
              <a:rPr lang="es-ES" sz="2000" dirty="0"/>
              <a:t> </a:t>
            </a:r>
            <a:r>
              <a:rPr lang="es-ES" sz="2000" dirty="0" err="1"/>
              <a:t>should</a:t>
            </a:r>
            <a:r>
              <a:rPr lang="es-ES"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0"/>
            <a:ext cx="162576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49C1-2A2D-E595-5DEF-4D66C104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>
            <a:extLst>
              <a:ext uri="{FF2B5EF4-FFF2-40B4-BE49-F238E27FC236}">
                <a16:creationId xmlns:a16="http://schemas.microsoft.com/office/drawing/2014/main" id="{49436E25-3C81-695E-87C6-EDA203225B0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ABDF7C4-ADF9-582E-91C9-5544D66E2900}"/>
              </a:ext>
            </a:extLst>
          </p:cNvPr>
          <p:cNvSpPr/>
          <p:nvPr/>
        </p:nvSpPr>
        <p:spPr>
          <a:xfrm>
            <a:off x="475488" y="2024631"/>
            <a:ext cx="14995716" cy="5913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E9E4F4-8645-1215-8CDA-6A65780B82E5}"/>
              </a:ext>
            </a:extLst>
          </p:cNvPr>
          <p:cNvSpPr/>
          <p:nvPr/>
        </p:nvSpPr>
        <p:spPr>
          <a:xfrm>
            <a:off x="786384" y="2795781"/>
            <a:ext cx="3013584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BB0EFD-19C9-C345-91C4-BAF03199D1EA}"/>
              </a:ext>
            </a:extLst>
          </p:cNvPr>
          <p:cNvSpPr/>
          <p:nvPr/>
        </p:nvSpPr>
        <p:spPr>
          <a:xfrm>
            <a:off x="786384" y="2795781"/>
            <a:ext cx="2587752" cy="118872"/>
          </a:xfrm>
          <a:prstGeom prst="rect">
            <a:avLst/>
          </a:prstGeom>
          <a:solidFill>
            <a:srgbClr val="26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B8011A-F314-7C84-451E-5F79A10BC2E1}"/>
              </a:ext>
            </a:extLst>
          </p:cNvPr>
          <p:cNvSpPr/>
          <p:nvPr/>
        </p:nvSpPr>
        <p:spPr>
          <a:xfrm>
            <a:off x="950976" y="3051813"/>
            <a:ext cx="475488" cy="475488"/>
          </a:xfrm>
          <a:prstGeom prst="ellipse">
            <a:avLst/>
          </a:prstGeom>
          <a:solidFill>
            <a:srgbClr val="26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875FA-DDD4-339D-5306-087CDF3C46FB}"/>
              </a:ext>
            </a:extLst>
          </p:cNvPr>
          <p:cNvSpPr txBox="1"/>
          <p:nvPr/>
        </p:nvSpPr>
        <p:spPr>
          <a:xfrm>
            <a:off x="950976" y="3637029"/>
            <a:ext cx="225856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50" b="1">
                <a:solidFill>
                  <a:srgbClr val="0D263B"/>
                </a:solidFill>
                <a:latin typeface="Aptos Display"/>
              </a:defRPr>
            </a:pPr>
            <a:r>
              <a:t>REDUCE</a:t>
            </a:r>
            <a:br/>
            <a:r>
              <a:t>UNDERPERFORMANCE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D7AF9-8D4C-5302-76F9-B59553AFAC5F}"/>
              </a:ext>
            </a:extLst>
          </p:cNvPr>
          <p:cNvSpPr txBox="1"/>
          <p:nvPr/>
        </p:nvSpPr>
        <p:spPr>
          <a:xfrm>
            <a:off x="950976" y="4459989"/>
            <a:ext cx="270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62717E"/>
                </a:solidFill>
                <a:latin typeface="Aptos"/>
              </a:defRPr>
            </a:pPr>
            <a:r>
              <a:rPr sz="1200" dirty="0"/>
              <a:t>Identify turbine operating periods with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BEDCCE-0E27-7F97-686E-8181AD4807A0}"/>
              </a:ext>
            </a:extLst>
          </p:cNvPr>
          <p:cNvSpPr txBox="1"/>
          <p:nvPr/>
        </p:nvSpPr>
        <p:spPr>
          <a:xfrm>
            <a:off x="950976" y="5008629"/>
            <a:ext cx="22585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66BA6"/>
                </a:solidFill>
                <a:latin typeface="Aptos Display"/>
              </a:defRPr>
            </a:pPr>
            <a:r>
              <a:t>&gt;10%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57A386-7CD9-C3D5-E27F-4F2C90E0A971}"/>
              </a:ext>
            </a:extLst>
          </p:cNvPr>
          <p:cNvSpPr txBox="1"/>
          <p:nvPr/>
        </p:nvSpPr>
        <p:spPr>
          <a:xfrm>
            <a:off x="950976" y="5538981"/>
            <a:ext cx="23189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202D37"/>
                </a:solidFill>
                <a:latin typeface="Aptos"/>
              </a:defRPr>
            </a:pPr>
            <a:r>
              <a:rPr sz="1200" dirty="0"/>
              <a:t>deviation below expected power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37B6E535-B153-8382-02E0-D0D54FB2A164}"/>
              </a:ext>
            </a:extLst>
          </p:cNvPr>
          <p:cNvSpPr/>
          <p:nvPr/>
        </p:nvSpPr>
        <p:spPr>
          <a:xfrm>
            <a:off x="4142868" y="2880360"/>
            <a:ext cx="3380154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C98E64-E59A-1E28-90AB-AB1225B35E2E}"/>
              </a:ext>
            </a:extLst>
          </p:cNvPr>
          <p:cNvSpPr/>
          <p:nvPr/>
        </p:nvSpPr>
        <p:spPr>
          <a:xfrm>
            <a:off x="4142868" y="2880360"/>
            <a:ext cx="2587752" cy="118872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1CF018-591B-6D94-5EEE-4B16FD1841F2}"/>
              </a:ext>
            </a:extLst>
          </p:cNvPr>
          <p:cNvSpPr/>
          <p:nvPr/>
        </p:nvSpPr>
        <p:spPr>
          <a:xfrm>
            <a:off x="4307460" y="3136392"/>
            <a:ext cx="621792" cy="475488"/>
          </a:xfrm>
          <a:prstGeom prst="ellipse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09371E-50A7-57A8-68B0-514ADDAA12E0}"/>
              </a:ext>
            </a:extLst>
          </p:cNvPr>
          <p:cNvSpPr txBox="1"/>
          <p:nvPr/>
        </p:nvSpPr>
        <p:spPr>
          <a:xfrm>
            <a:off x="4307460" y="3721608"/>
            <a:ext cx="225856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50" b="1">
                <a:solidFill>
                  <a:srgbClr val="0D263B"/>
                </a:solidFill>
                <a:latin typeface="Aptos Display"/>
              </a:defRPr>
            </a:pPr>
            <a:r>
              <a:t>QUANTIFY</a:t>
            </a:r>
            <a:br/>
            <a:r>
              <a:t>LOSS EXPOSURE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6B0A94-2EE7-D09B-78BE-D5D23F715891}"/>
              </a:ext>
            </a:extLst>
          </p:cNvPr>
          <p:cNvSpPr txBox="1"/>
          <p:nvPr/>
        </p:nvSpPr>
        <p:spPr>
          <a:xfrm>
            <a:off x="4307460" y="4544568"/>
            <a:ext cx="31952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62717E"/>
                </a:solidFill>
                <a:latin typeface="Aptos"/>
              </a:defRPr>
            </a:pPr>
            <a:r>
              <a:rPr sz="1200" dirty="0"/>
              <a:t>Quantify and attribute technical losses within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4DA02-2053-3A52-5FAB-13D503DFE1C5}"/>
              </a:ext>
            </a:extLst>
          </p:cNvPr>
          <p:cNvSpPr txBox="1"/>
          <p:nvPr/>
        </p:nvSpPr>
        <p:spPr>
          <a:xfrm>
            <a:off x="4307460" y="5093208"/>
            <a:ext cx="22585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8996"/>
                </a:solidFill>
                <a:latin typeface="Aptos Display"/>
              </a:defRPr>
            </a:pPr>
            <a:r>
              <a:t>~14%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89C273-6B78-6B85-B790-7F02A4530052}"/>
              </a:ext>
            </a:extLst>
          </p:cNvPr>
          <p:cNvSpPr txBox="1"/>
          <p:nvPr/>
        </p:nvSpPr>
        <p:spPr>
          <a:xfrm>
            <a:off x="4307460" y="5623560"/>
            <a:ext cx="332712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202D37"/>
                </a:solidFill>
                <a:latin typeface="Aptos"/>
              </a:defRPr>
            </a:pPr>
            <a:r>
              <a:rPr sz="1200" dirty="0"/>
              <a:t>of operating hours showing underperformance*</a:t>
            </a:r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4D28619E-195C-0460-A10B-A13E0772523F}"/>
              </a:ext>
            </a:extLst>
          </p:cNvPr>
          <p:cNvSpPr/>
          <p:nvPr/>
        </p:nvSpPr>
        <p:spPr>
          <a:xfrm>
            <a:off x="7604316" y="2848356"/>
            <a:ext cx="3118548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31F0C5-7BD7-3E93-E06A-3FD22ECDD09D}"/>
              </a:ext>
            </a:extLst>
          </p:cNvPr>
          <p:cNvSpPr/>
          <p:nvPr/>
        </p:nvSpPr>
        <p:spPr>
          <a:xfrm>
            <a:off x="7604316" y="2848356"/>
            <a:ext cx="2587752" cy="118872"/>
          </a:xfrm>
          <a:prstGeom prst="rect">
            <a:avLst/>
          </a:prstGeom>
          <a:solidFill>
            <a:srgbClr val="388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9B4961F-A665-BFAE-9149-48CDCE7972BD}"/>
              </a:ext>
            </a:extLst>
          </p:cNvPr>
          <p:cNvSpPr/>
          <p:nvPr/>
        </p:nvSpPr>
        <p:spPr>
          <a:xfrm>
            <a:off x="7768908" y="3104388"/>
            <a:ext cx="621792" cy="475488"/>
          </a:xfrm>
          <a:prstGeom prst="ellipse">
            <a:avLst/>
          </a:prstGeom>
          <a:solidFill>
            <a:srgbClr val="388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A63216-F9A2-F2B9-924B-2A25C16EED0D}"/>
              </a:ext>
            </a:extLst>
          </p:cNvPr>
          <p:cNvSpPr txBox="1"/>
          <p:nvPr/>
        </p:nvSpPr>
        <p:spPr>
          <a:xfrm>
            <a:off x="7768908" y="3689604"/>
            <a:ext cx="225856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50" b="1">
                <a:solidFill>
                  <a:srgbClr val="0D263B"/>
                </a:solidFill>
                <a:latin typeface="Aptos Display"/>
              </a:defRPr>
            </a:pPr>
            <a:r>
              <a:t>IMPROVE</a:t>
            </a:r>
            <a:br/>
            <a:r>
              <a:t>DETECTION RELIABILITY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C56C1B-18E8-DA77-294A-4B720713A832}"/>
              </a:ext>
            </a:extLst>
          </p:cNvPr>
          <p:cNvSpPr txBox="1"/>
          <p:nvPr/>
        </p:nvSpPr>
        <p:spPr>
          <a:xfrm>
            <a:off x="7768908" y="4512564"/>
            <a:ext cx="26859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62717E"/>
                </a:solidFill>
                <a:latin typeface="Aptos"/>
              </a:defRPr>
            </a:pPr>
            <a:r>
              <a:rPr sz="1200" dirty="0"/>
              <a:t>Estimate expected turbine power with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A4C94A-DE79-0450-EBDE-BF6BA94713C5}"/>
              </a:ext>
            </a:extLst>
          </p:cNvPr>
          <p:cNvSpPr txBox="1"/>
          <p:nvPr/>
        </p:nvSpPr>
        <p:spPr>
          <a:xfrm>
            <a:off x="7768908" y="5061204"/>
            <a:ext cx="22585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8E60"/>
                </a:solidFill>
                <a:latin typeface="Aptos Display"/>
              </a:defRPr>
            </a:pPr>
            <a:r>
              <a:t>R² ≥ 0.90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F790D3-B279-89C7-7F32-3F6BF81498AD}"/>
              </a:ext>
            </a:extLst>
          </p:cNvPr>
          <p:cNvSpPr txBox="1"/>
          <p:nvPr/>
        </p:nvSpPr>
        <p:spPr>
          <a:xfrm>
            <a:off x="7881468" y="5660136"/>
            <a:ext cx="19193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202D37"/>
                </a:solidFill>
                <a:latin typeface="Aptos"/>
              </a:defRPr>
            </a:pPr>
            <a:r>
              <a:rPr sz="1200" dirty="0"/>
              <a:t>model performance target</a:t>
            </a:r>
          </a:p>
        </p:txBody>
      </p:sp>
      <p:sp>
        <p:nvSpPr>
          <p:cNvPr id="48" name="Rounded Rectangle 26">
            <a:extLst>
              <a:ext uri="{FF2B5EF4-FFF2-40B4-BE49-F238E27FC236}">
                <a16:creationId xmlns:a16="http://schemas.microsoft.com/office/drawing/2014/main" id="{4C44B9EA-225E-24C0-374B-8251A283BDE5}"/>
              </a:ext>
            </a:extLst>
          </p:cNvPr>
          <p:cNvSpPr/>
          <p:nvPr/>
        </p:nvSpPr>
        <p:spPr>
          <a:xfrm>
            <a:off x="11063607" y="2880360"/>
            <a:ext cx="3380154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673BB7-6418-C98C-2C8C-A141223C86C5}"/>
              </a:ext>
            </a:extLst>
          </p:cNvPr>
          <p:cNvSpPr/>
          <p:nvPr/>
        </p:nvSpPr>
        <p:spPr>
          <a:xfrm>
            <a:off x="11063607" y="2880360"/>
            <a:ext cx="2644585" cy="116583"/>
          </a:xfrm>
          <a:prstGeom prst="rect">
            <a:avLst/>
          </a:prstGeom>
          <a:solidFill>
            <a:srgbClr val="CC9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B95B4F8-E478-1F33-B9A4-B71D8B01FFBC}"/>
              </a:ext>
            </a:extLst>
          </p:cNvPr>
          <p:cNvSpPr/>
          <p:nvPr/>
        </p:nvSpPr>
        <p:spPr>
          <a:xfrm>
            <a:off x="11228200" y="3136392"/>
            <a:ext cx="639000" cy="475488"/>
          </a:xfrm>
          <a:prstGeom prst="ellipse">
            <a:avLst/>
          </a:prstGeom>
          <a:solidFill>
            <a:srgbClr val="CC9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C950B4-40A7-B93B-61F8-3C1C9739D0F4}"/>
              </a:ext>
            </a:extLst>
          </p:cNvPr>
          <p:cNvSpPr txBox="1"/>
          <p:nvPr/>
        </p:nvSpPr>
        <p:spPr>
          <a:xfrm>
            <a:off x="11228200" y="3721608"/>
            <a:ext cx="303525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0D263B"/>
                </a:solidFill>
                <a:latin typeface="Aptos Display"/>
              </a:defRPr>
            </a:pPr>
            <a:r>
              <a:t>RECOVER ENERGY</a:t>
            </a:r>
            <a:br/>
            <a:r>
              <a:t>&amp; BUSINESS VALUE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0B9F24-70D0-C3AE-9303-42ADE68E9B2D}"/>
              </a:ext>
            </a:extLst>
          </p:cNvPr>
          <p:cNvSpPr txBox="1"/>
          <p:nvPr/>
        </p:nvSpPr>
        <p:spPr>
          <a:xfrm>
            <a:off x="11228200" y="4544568"/>
            <a:ext cx="3035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62717E"/>
                </a:solidFill>
                <a:latin typeface="Aptos"/>
              </a:defRPr>
            </a:pPr>
            <a:r>
              <a:rPr sz="1200" dirty="0"/>
              <a:t>Enable recovery of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3824BE-C319-8455-FF86-C2B53DBA933A}"/>
              </a:ext>
            </a:extLst>
          </p:cNvPr>
          <p:cNvSpPr txBox="1"/>
          <p:nvPr/>
        </p:nvSpPr>
        <p:spPr>
          <a:xfrm>
            <a:off x="11228200" y="5093208"/>
            <a:ext cx="30352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C9024"/>
                </a:solidFill>
                <a:latin typeface="Aptos Display"/>
              </a:defRPr>
            </a:pPr>
            <a:r>
              <a:t>2–3%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030602-613A-119F-1923-121C6BA8246C}"/>
              </a:ext>
            </a:extLst>
          </p:cNvPr>
          <p:cNvSpPr txBox="1"/>
          <p:nvPr/>
        </p:nvSpPr>
        <p:spPr>
          <a:xfrm>
            <a:off x="11228200" y="5623560"/>
            <a:ext cx="3565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202D37"/>
                </a:solidFill>
                <a:latin typeface="Aptos"/>
              </a:defRPr>
            </a:pPr>
            <a:r>
              <a:rPr sz="1200" dirty="0"/>
              <a:t>annual energy production  •  ≈66.6 GWh/year*</a:t>
            </a:r>
          </a:p>
        </p:txBody>
      </p:sp>
    </p:spTree>
    <p:extLst>
      <p:ext uri="{BB962C8B-B14F-4D97-AF65-F5344CB8AC3E}">
        <p14:creationId xmlns:p14="http://schemas.microsoft.com/office/powerpoint/2010/main" val="394318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416C-B9A0-4F18-2505-9C23F55A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>
            <a:extLst>
              <a:ext uri="{FF2B5EF4-FFF2-40B4-BE49-F238E27FC236}">
                <a16:creationId xmlns:a16="http://schemas.microsoft.com/office/drawing/2014/main" id="{3893811C-ABBF-AABF-8EA4-4004C36B184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F57BCC-BB59-BA4F-452D-02A2BA045471}"/>
              </a:ext>
            </a:extLst>
          </p:cNvPr>
          <p:cNvSpPr txBox="1"/>
          <p:nvPr/>
        </p:nvSpPr>
        <p:spPr>
          <a:xfrm>
            <a:off x="2950464" y="6705600"/>
            <a:ext cx="354787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400" dirty="0"/>
              <a:t>AI </a:t>
            </a:r>
            <a:r>
              <a:rPr lang="es-ES" sz="2400" dirty="0" err="1"/>
              <a:t>Solution</a:t>
            </a:r>
            <a:endParaRPr lang="es-E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0275A-B76C-8EBD-9A55-D22B56AF9F99}"/>
              </a:ext>
            </a:extLst>
          </p:cNvPr>
          <p:cNvSpPr txBox="1"/>
          <p:nvPr/>
        </p:nvSpPr>
        <p:spPr>
          <a:xfrm>
            <a:off x="1255776" y="3304032"/>
            <a:ext cx="8912352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800" dirty="0"/>
              <a:t>14% </a:t>
            </a:r>
            <a:r>
              <a:rPr lang="es-ES" sz="2800" dirty="0" err="1"/>
              <a:t>of</a:t>
            </a:r>
            <a:r>
              <a:rPr lang="es-ES" sz="2800" dirty="0"/>
              <a:t> </a:t>
            </a:r>
            <a:r>
              <a:rPr lang="es-ES" sz="2800" dirty="0" err="1"/>
              <a:t>operating</a:t>
            </a:r>
            <a:r>
              <a:rPr lang="es-ES" sz="2800" dirty="0"/>
              <a:t> </a:t>
            </a:r>
            <a:r>
              <a:rPr lang="es-ES" sz="2800" dirty="0" err="1"/>
              <a:t>hours</a:t>
            </a:r>
            <a:r>
              <a:rPr lang="es-ES" sz="2800" dirty="0"/>
              <a:t> show </a:t>
            </a:r>
            <a:r>
              <a:rPr lang="es-ES" sz="2800" dirty="0" err="1"/>
              <a:t>underperformance</a:t>
            </a:r>
            <a:r>
              <a:rPr lang="es-ES" sz="2800" dirty="0"/>
              <a:t>, </a:t>
            </a:r>
            <a:r>
              <a:rPr lang="es-ES" sz="2800" dirty="0" err="1"/>
              <a:t>but</a:t>
            </a:r>
            <a:r>
              <a:rPr lang="es-ES" sz="2800" dirty="0"/>
              <a:t> </a:t>
            </a:r>
            <a:r>
              <a:rPr lang="es-ES" sz="2800" dirty="0" err="1"/>
              <a:t>operations</a:t>
            </a:r>
            <a:r>
              <a:rPr lang="es-ES" sz="2800" dirty="0"/>
              <a:t> </a:t>
            </a:r>
            <a:r>
              <a:rPr lang="es-ES" sz="2800" dirty="0" err="1"/>
              <a:t>lacks</a:t>
            </a:r>
            <a:r>
              <a:rPr lang="es-ES" sz="2800" dirty="0"/>
              <a:t> </a:t>
            </a:r>
            <a:r>
              <a:rPr lang="es-ES" sz="2800" dirty="0" err="1"/>
              <a:t>sufficient</a:t>
            </a:r>
            <a:r>
              <a:rPr lang="es-ES" sz="2800" dirty="0"/>
              <a:t> </a:t>
            </a:r>
            <a:r>
              <a:rPr lang="es-ES" sz="2800" dirty="0" err="1"/>
              <a:t>visibility</a:t>
            </a:r>
            <a:r>
              <a:rPr lang="es-ES" sz="2800" dirty="0"/>
              <a:t> </a:t>
            </a:r>
            <a:r>
              <a:rPr lang="es-ES" sz="2800" dirty="0" err="1"/>
              <a:t>into</a:t>
            </a:r>
            <a:r>
              <a:rPr lang="es-ES" sz="2800" dirty="0"/>
              <a:t> </a:t>
            </a:r>
            <a:r>
              <a:rPr lang="es-ES" sz="2800" dirty="0" err="1"/>
              <a:t>which</a:t>
            </a:r>
            <a:r>
              <a:rPr lang="es-ES" sz="2800" dirty="0"/>
              <a:t> turbines are </a:t>
            </a:r>
            <a:r>
              <a:rPr lang="es-ES" sz="2800" dirty="0" err="1"/>
              <a:t>affected</a:t>
            </a:r>
            <a:r>
              <a:rPr lang="es-ES" sz="2800" dirty="0"/>
              <a:t> and </a:t>
            </a:r>
            <a:r>
              <a:rPr lang="es-ES" sz="2800" dirty="0" err="1"/>
              <a:t>how</a:t>
            </a:r>
            <a:r>
              <a:rPr lang="es-ES" sz="2800" dirty="0"/>
              <a:t> </a:t>
            </a:r>
            <a:r>
              <a:rPr lang="es-ES" sz="2800" dirty="0" err="1"/>
              <a:t>much</a:t>
            </a:r>
            <a:r>
              <a:rPr lang="es-ES" sz="2800" dirty="0"/>
              <a:t> </a:t>
            </a:r>
            <a:r>
              <a:rPr lang="es-ES" sz="2800" dirty="0" err="1"/>
              <a:t>energy</a:t>
            </a:r>
            <a:r>
              <a:rPr lang="es-ES" sz="2800" dirty="0"/>
              <a:t> </a:t>
            </a:r>
            <a:r>
              <a:rPr lang="es-ES" sz="2800" dirty="0" err="1"/>
              <a:t>is</a:t>
            </a:r>
            <a:r>
              <a:rPr lang="es-ES" sz="2800" dirty="0"/>
              <a:t> </a:t>
            </a:r>
            <a:r>
              <a:rPr lang="es-ES" sz="2800" dirty="0" err="1"/>
              <a:t>being</a:t>
            </a:r>
            <a:r>
              <a:rPr lang="es-ES" sz="2800" dirty="0"/>
              <a:t> </a:t>
            </a:r>
            <a:r>
              <a:rPr lang="es-ES" sz="2800" dirty="0" err="1"/>
              <a:t>lost</a:t>
            </a:r>
            <a:r>
              <a:rPr lang="es-ES" sz="2800" dirty="0"/>
              <a:t>. </a:t>
            </a: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56906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1D9A-05AF-EF85-E8C1-56F67691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>
            <a:extLst>
              <a:ext uri="{FF2B5EF4-FFF2-40B4-BE49-F238E27FC236}">
                <a16:creationId xmlns:a16="http://schemas.microsoft.com/office/drawing/2014/main" id="{DBB7B162-95A0-F210-77C3-221BD45FE84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83E0CE-EA7E-D867-397C-6F2BBA40E351}"/>
              </a:ext>
            </a:extLst>
          </p:cNvPr>
          <p:cNvSpPr txBox="1"/>
          <p:nvPr/>
        </p:nvSpPr>
        <p:spPr>
          <a:xfrm>
            <a:off x="1121664" y="3340608"/>
            <a:ext cx="6900672" cy="51706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200" dirty="0" err="1"/>
              <a:t>Which</a:t>
            </a:r>
            <a:r>
              <a:rPr lang="es-ES" sz="2200" dirty="0"/>
              <a:t> turbines are </a:t>
            </a:r>
            <a:r>
              <a:rPr lang="es-ES" sz="2200" dirty="0" err="1"/>
              <a:t>underperforming</a:t>
            </a:r>
            <a:r>
              <a:rPr lang="es-ES" sz="2200" dirty="0"/>
              <a:t>, and </a:t>
            </a:r>
            <a:r>
              <a:rPr lang="es-ES" sz="2200" dirty="0" err="1"/>
              <a:t>how</a:t>
            </a:r>
            <a:r>
              <a:rPr lang="es-ES" sz="2200" dirty="0"/>
              <a:t> </a:t>
            </a:r>
            <a:r>
              <a:rPr lang="es-ES" sz="2200" dirty="0" err="1"/>
              <a:t>frequently</a:t>
            </a:r>
            <a:r>
              <a:rPr lang="es-ES" sz="2200" dirty="0"/>
              <a:t> </a:t>
            </a:r>
            <a:r>
              <a:rPr lang="es-ES" sz="2200" dirty="0" err="1"/>
              <a:t>does</a:t>
            </a:r>
            <a:r>
              <a:rPr lang="es-ES" sz="2200" dirty="0"/>
              <a:t> </a:t>
            </a:r>
            <a:r>
              <a:rPr lang="es-ES" sz="2200" dirty="0" err="1"/>
              <a:t>underperformance</a:t>
            </a:r>
            <a:r>
              <a:rPr lang="es-ES" sz="2200" dirty="0"/>
              <a:t> </a:t>
            </a:r>
            <a:r>
              <a:rPr lang="es-ES" sz="2200" dirty="0" err="1"/>
              <a:t>occur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r>
              <a:rPr lang="es-ES" sz="2200" dirty="0" err="1"/>
              <a:t>Which</a:t>
            </a:r>
            <a:r>
              <a:rPr lang="es-ES" sz="2200" dirty="0"/>
              <a:t> turbines show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largest</a:t>
            </a:r>
            <a:r>
              <a:rPr lang="es-ES" sz="2200" dirty="0"/>
              <a:t> and </a:t>
            </a:r>
            <a:r>
              <a:rPr lang="es-ES" sz="2200" dirty="0" err="1"/>
              <a:t>most</a:t>
            </a:r>
            <a:r>
              <a:rPr lang="es-ES" sz="2200" dirty="0"/>
              <a:t> </a:t>
            </a:r>
            <a:r>
              <a:rPr lang="es-ES" sz="2200" dirty="0" err="1"/>
              <a:t>persistent</a:t>
            </a:r>
            <a:r>
              <a:rPr lang="es-ES" sz="2200" dirty="0"/>
              <a:t> gaps </a:t>
            </a:r>
            <a:r>
              <a:rPr lang="es-ES" sz="2200" dirty="0" err="1"/>
              <a:t>between</a:t>
            </a:r>
            <a:r>
              <a:rPr lang="es-ES" sz="2200" dirty="0"/>
              <a:t> actual and </a:t>
            </a:r>
            <a:r>
              <a:rPr lang="es-ES" sz="2200" dirty="0" err="1"/>
              <a:t>expected</a:t>
            </a:r>
            <a:r>
              <a:rPr lang="es-ES" sz="2200" dirty="0"/>
              <a:t> </a:t>
            </a:r>
            <a:r>
              <a:rPr lang="es-ES" sz="2200" dirty="0" err="1"/>
              <a:t>power</a:t>
            </a:r>
            <a:r>
              <a:rPr lang="es-ES" sz="2200" dirty="0"/>
              <a:t> </a:t>
            </a:r>
            <a:r>
              <a:rPr lang="es-ES" sz="2200" dirty="0" err="1"/>
              <a:t>generation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r>
              <a:rPr lang="es-ES" sz="2200" dirty="0" err="1"/>
              <a:t>Which</a:t>
            </a:r>
            <a:r>
              <a:rPr lang="es-ES" sz="2200" dirty="0"/>
              <a:t> </a:t>
            </a:r>
            <a:r>
              <a:rPr lang="es-ES" sz="2200" dirty="0" err="1"/>
              <a:t>farms</a:t>
            </a:r>
            <a:r>
              <a:rPr lang="es-ES" sz="2200" dirty="0"/>
              <a:t>, </a:t>
            </a:r>
            <a:r>
              <a:rPr lang="es-ES" sz="2200" dirty="0" err="1"/>
              <a:t>regions</a:t>
            </a:r>
            <a:r>
              <a:rPr lang="es-ES" sz="2200" dirty="0"/>
              <a:t>, site </a:t>
            </a:r>
            <a:r>
              <a:rPr lang="es-ES" sz="2200" dirty="0" err="1"/>
              <a:t>zones</a:t>
            </a:r>
            <a:r>
              <a:rPr lang="es-ES" sz="2200" dirty="0"/>
              <a:t>, and turbine </a:t>
            </a:r>
            <a:r>
              <a:rPr lang="es-ES" sz="2200" dirty="0" err="1"/>
              <a:t>models</a:t>
            </a:r>
            <a:r>
              <a:rPr lang="es-ES" sz="2200" dirty="0"/>
              <a:t> </a:t>
            </a:r>
            <a:r>
              <a:rPr lang="es-ES" sz="2200" dirty="0" err="1"/>
              <a:t>have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highest</a:t>
            </a:r>
            <a:r>
              <a:rPr lang="es-ES" sz="2200" dirty="0"/>
              <a:t> </a:t>
            </a:r>
            <a:r>
              <a:rPr lang="es-ES" sz="2200" dirty="0" err="1"/>
              <a:t>levels</a:t>
            </a:r>
            <a:r>
              <a:rPr lang="es-ES" sz="2200" dirty="0"/>
              <a:t> </a:t>
            </a:r>
            <a:r>
              <a:rPr lang="es-ES" sz="2200" dirty="0" err="1"/>
              <a:t>of</a:t>
            </a:r>
            <a:r>
              <a:rPr lang="es-ES" sz="2200" dirty="0"/>
              <a:t> </a:t>
            </a:r>
            <a:r>
              <a:rPr lang="es-ES" sz="2200" dirty="0" err="1"/>
              <a:t>underperformance</a:t>
            </a:r>
            <a:r>
              <a:rPr lang="es-ES" sz="2200" dirty="0"/>
              <a:t>??</a:t>
            </a:r>
          </a:p>
          <a:p>
            <a:endParaRPr lang="es-ES" sz="2200" dirty="0"/>
          </a:p>
          <a:p>
            <a:r>
              <a:rPr lang="es-ES" sz="2200" dirty="0"/>
              <a:t>How </a:t>
            </a:r>
            <a:r>
              <a:rPr lang="es-ES" sz="2200" dirty="0" err="1"/>
              <a:t>does</a:t>
            </a:r>
            <a:r>
              <a:rPr lang="es-ES" sz="2200" dirty="0"/>
              <a:t> turbine performance </a:t>
            </a:r>
            <a:r>
              <a:rPr lang="es-ES" sz="2200" dirty="0" err="1"/>
              <a:t>vary</a:t>
            </a:r>
            <a:r>
              <a:rPr lang="es-ES" sz="2200" dirty="0"/>
              <a:t> </a:t>
            </a:r>
            <a:r>
              <a:rPr lang="es-ES" sz="2200" dirty="0" err="1"/>
              <a:t>over</a:t>
            </a:r>
            <a:r>
              <a:rPr lang="es-ES" sz="2200" dirty="0"/>
              <a:t> time?</a:t>
            </a:r>
          </a:p>
          <a:p>
            <a:endParaRPr lang="es-ES" sz="2200" dirty="0"/>
          </a:p>
          <a:p>
            <a:r>
              <a:rPr lang="es-ES" sz="2200" dirty="0" err="1"/>
              <a:t>When</a:t>
            </a:r>
            <a:r>
              <a:rPr lang="es-ES" sz="2200" dirty="0"/>
              <a:t> and </a:t>
            </a:r>
            <a:r>
              <a:rPr lang="es-ES" sz="2200" dirty="0" err="1"/>
              <a:t>where</a:t>
            </a:r>
            <a:r>
              <a:rPr lang="es-ES" sz="2200" dirty="0"/>
              <a:t> are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largest</a:t>
            </a:r>
            <a:r>
              <a:rPr lang="es-ES" sz="2200" dirty="0"/>
              <a:t> </a:t>
            </a:r>
            <a:r>
              <a:rPr lang="es-ES" sz="2200" dirty="0" err="1"/>
              <a:t>power</a:t>
            </a:r>
            <a:r>
              <a:rPr lang="es-ES" sz="2200" dirty="0"/>
              <a:t> </a:t>
            </a:r>
            <a:r>
              <a:rPr lang="es-ES" sz="2200" dirty="0" err="1"/>
              <a:t>deviations</a:t>
            </a:r>
            <a:r>
              <a:rPr lang="es-ES" sz="2200" dirty="0"/>
              <a:t> </a:t>
            </a:r>
            <a:r>
              <a:rPr lang="es-ES" sz="2200" dirty="0" err="1"/>
              <a:t>observed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endParaRPr lang="es-E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274ED-492D-4AA6-C6A4-DAC234B0F4F8}"/>
              </a:ext>
            </a:extLst>
          </p:cNvPr>
          <p:cNvSpPr txBox="1"/>
          <p:nvPr/>
        </p:nvSpPr>
        <p:spPr>
          <a:xfrm>
            <a:off x="3189248" y="2971276"/>
            <a:ext cx="17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happened</a:t>
            </a:r>
            <a:endParaRPr lang="es-E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65AA2-A6F2-7085-01CB-AFD8535028B4}"/>
              </a:ext>
            </a:extLst>
          </p:cNvPr>
          <p:cNvSpPr txBox="1"/>
          <p:nvPr/>
        </p:nvSpPr>
        <p:spPr>
          <a:xfrm>
            <a:off x="10125308" y="2931723"/>
            <a:ext cx="2051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Why </a:t>
            </a:r>
            <a:r>
              <a:rPr lang="es-ES" b="1" dirty="0" err="1"/>
              <a:t>did</a:t>
            </a:r>
            <a:r>
              <a:rPr lang="es-ES" b="1" dirty="0"/>
              <a:t> </a:t>
            </a:r>
            <a:r>
              <a:rPr lang="es-ES" b="1" dirty="0" err="1"/>
              <a:t>it</a:t>
            </a:r>
            <a:r>
              <a:rPr lang="es-ES" b="1" dirty="0"/>
              <a:t> </a:t>
            </a:r>
            <a:r>
              <a:rPr lang="es-ES" b="1" dirty="0" err="1"/>
              <a:t>happen</a:t>
            </a:r>
            <a:r>
              <a:rPr lang="es-ES" b="1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C11AC-3A05-5D95-6AA6-7475B6F9785F}"/>
              </a:ext>
            </a:extLst>
          </p:cNvPr>
          <p:cNvSpPr txBox="1"/>
          <p:nvPr/>
        </p:nvSpPr>
        <p:spPr>
          <a:xfrm>
            <a:off x="8512303" y="3301055"/>
            <a:ext cx="6900672" cy="51706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/>
            <a:r>
              <a:rPr lang="es-ES" sz="2200" dirty="0"/>
              <a:t>Why are </a:t>
            </a:r>
            <a:r>
              <a:rPr lang="es-ES" sz="2200" dirty="0" err="1"/>
              <a:t>certain</a:t>
            </a:r>
            <a:r>
              <a:rPr lang="es-ES" sz="2200" dirty="0"/>
              <a:t> turbines </a:t>
            </a:r>
            <a:r>
              <a:rPr lang="es-ES" sz="2200" dirty="0" err="1"/>
              <a:t>consistently</a:t>
            </a:r>
            <a:r>
              <a:rPr lang="es-ES" sz="2200" dirty="0"/>
              <a:t> </a:t>
            </a:r>
            <a:r>
              <a:rPr lang="es-ES" sz="2200" dirty="0" err="1"/>
              <a:t>generating</a:t>
            </a:r>
            <a:r>
              <a:rPr lang="es-ES" sz="2200" dirty="0"/>
              <a:t> </a:t>
            </a:r>
            <a:r>
              <a:rPr lang="es-ES" sz="2200" dirty="0" err="1"/>
              <a:t>below</a:t>
            </a:r>
            <a:r>
              <a:rPr lang="es-ES" sz="2200" dirty="0"/>
              <a:t> </a:t>
            </a:r>
            <a:r>
              <a:rPr lang="es-ES" sz="2200" dirty="0" err="1"/>
              <a:t>their</a:t>
            </a:r>
            <a:r>
              <a:rPr lang="es-ES" sz="2200" dirty="0"/>
              <a:t> </a:t>
            </a:r>
            <a:r>
              <a:rPr lang="es-ES" sz="2200" dirty="0" err="1"/>
              <a:t>expected</a:t>
            </a:r>
            <a:r>
              <a:rPr lang="es-ES" sz="2200" dirty="0"/>
              <a:t> </a:t>
            </a:r>
            <a:r>
              <a:rPr lang="es-ES" sz="2200" dirty="0" err="1"/>
              <a:t>power</a:t>
            </a:r>
            <a:r>
              <a:rPr lang="es-ES" sz="2200" dirty="0"/>
              <a:t>?</a:t>
            </a:r>
          </a:p>
          <a:p>
            <a:pPr lvl="0"/>
            <a:r>
              <a:rPr lang="es-ES" sz="2200" dirty="0" err="1"/>
              <a:t>What</a:t>
            </a:r>
            <a:r>
              <a:rPr lang="es-ES" sz="2200" dirty="0"/>
              <a:t> </a:t>
            </a:r>
            <a:r>
              <a:rPr lang="es-ES" sz="2200" dirty="0" err="1"/>
              <a:t>factors</a:t>
            </a:r>
            <a:r>
              <a:rPr lang="es-ES" sz="2200" dirty="0"/>
              <a:t> are </a:t>
            </a:r>
            <a:r>
              <a:rPr lang="es-ES" sz="2200" dirty="0" err="1"/>
              <a:t>driving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largest</a:t>
            </a:r>
            <a:r>
              <a:rPr lang="es-ES" sz="2200" dirty="0"/>
              <a:t> gaps </a:t>
            </a:r>
            <a:r>
              <a:rPr lang="es-ES" sz="2200" dirty="0" err="1"/>
              <a:t>between</a:t>
            </a:r>
            <a:r>
              <a:rPr lang="es-ES" sz="2200" dirty="0"/>
              <a:t> actual and </a:t>
            </a:r>
            <a:r>
              <a:rPr lang="es-ES" sz="2200" dirty="0" err="1"/>
              <a:t>expected</a:t>
            </a:r>
            <a:r>
              <a:rPr lang="es-ES" sz="2200" dirty="0"/>
              <a:t> </a:t>
            </a:r>
            <a:r>
              <a:rPr lang="es-ES" sz="2200" dirty="0" err="1"/>
              <a:t>power</a:t>
            </a:r>
            <a:r>
              <a:rPr lang="es-ES" sz="2200" dirty="0"/>
              <a:t> </a:t>
            </a:r>
            <a:r>
              <a:rPr lang="es-ES" sz="2200" dirty="0" err="1"/>
              <a:t>generation</a:t>
            </a:r>
            <a:r>
              <a:rPr lang="es-ES" sz="2200" dirty="0"/>
              <a:t>?</a:t>
            </a:r>
          </a:p>
          <a:p>
            <a:pPr lvl="0"/>
            <a:r>
              <a:rPr lang="es-ES" sz="2200" dirty="0"/>
              <a:t>Why do </a:t>
            </a:r>
            <a:r>
              <a:rPr lang="es-ES" sz="2200" dirty="0" err="1"/>
              <a:t>some</a:t>
            </a:r>
            <a:r>
              <a:rPr lang="es-ES" sz="2200" dirty="0"/>
              <a:t> turbines </a:t>
            </a:r>
            <a:r>
              <a:rPr lang="es-ES" sz="2200" dirty="0" err="1"/>
              <a:t>underperform</a:t>
            </a:r>
            <a:r>
              <a:rPr lang="es-ES" sz="2200" dirty="0"/>
              <a:t> </a:t>
            </a:r>
            <a:r>
              <a:rPr lang="es-ES" sz="2200" dirty="0" err="1"/>
              <a:t>while</a:t>
            </a:r>
            <a:r>
              <a:rPr lang="es-ES" sz="2200" dirty="0"/>
              <a:t> comparable turbines </a:t>
            </a:r>
            <a:r>
              <a:rPr lang="es-ES" sz="2200" dirty="0" err="1"/>
              <a:t>operating</a:t>
            </a:r>
            <a:r>
              <a:rPr lang="es-ES" sz="2200" dirty="0"/>
              <a:t> </a:t>
            </a:r>
            <a:r>
              <a:rPr lang="es-ES" sz="2200" dirty="0" err="1"/>
              <a:t>under</a:t>
            </a:r>
            <a:r>
              <a:rPr lang="es-ES" sz="2200" dirty="0"/>
              <a:t> similar </a:t>
            </a:r>
            <a:r>
              <a:rPr lang="es-ES" sz="2200" dirty="0" err="1"/>
              <a:t>environmental</a:t>
            </a:r>
            <a:r>
              <a:rPr lang="es-ES" sz="2200" dirty="0"/>
              <a:t> </a:t>
            </a:r>
            <a:r>
              <a:rPr lang="es-ES" sz="2200" dirty="0" err="1"/>
              <a:t>conditions</a:t>
            </a:r>
            <a:r>
              <a:rPr lang="es-ES" sz="2200" dirty="0"/>
              <a:t> do </a:t>
            </a:r>
            <a:r>
              <a:rPr lang="es-ES" sz="2200" dirty="0" err="1"/>
              <a:t>not</a:t>
            </a:r>
            <a:r>
              <a:rPr lang="es-ES" sz="2200" dirty="0"/>
              <a:t>?</a:t>
            </a:r>
          </a:p>
          <a:p>
            <a:pPr lvl="0"/>
            <a:r>
              <a:rPr lang="es-ES" sz="2200" dirty="0"/>
              <a:t>Are </a:t>
            </a:r>
            <a:r>
              <a:rPr lang="es-ES" sz="2200" dirty="0" err="1"/>
              <a:t>observed</a:t>
            </a:r>
            <a:r>
              <a:rPr lang="es-ES" sz="2200" dirty="0"/>
              <a:t> </a:t>
            </a:r>
            <a:r>
              <a:rPr lang="es-ES" sz="2200" dirty="0" err="1"/>
              <a:t>power</a:t>
            </a:r>
            <a:r>
              <a:rPr lang="es-ES" sz="2200" dirty="0"/>
              <a:t> </a:t>
            </a:r>
            <a:r>
              <a:rPr lang="es-ES" sz="2200" dirty="0" err="1"/>
              <a:t>shortfalls</a:t>
            </a:r>
            <a:r>
              <a:rPr lang="es-ES" sz="2200" dirty="0"/>
              <a:t> </a:t>
            </a:r>
            <a:r>
              <a:rPr lang="es-ES" sz="2200" dirty="0" err="1"/>
              <a:t>primarily</a:t>
            </a:r>
            <a:r>
              <a:rPr lang="es-ES" sz="2200" dirty="0"/>
              <a:t> </a:t>
            </a:r>
            <a:r>
              <a:rPr lang="es-ES" sz="2200" dirty="0" err="1"/>
              <a:t>explained</a:t>
            </a:r>
            <a:r>
              <a:rPr lang="es-ES" sz="2200" dirty="0"/>
              <a:t> </a:t>
            </a:r>
            <a:r>
              <a:rPr lang="es-ES" sz="2200" dirty="0" err="1"/>
              <a:t>by</a:t>
            </a:r>
            <a:r>
              <a:rPr lang="es-ES" sz="2200" dirty="0"/>
              <a:t> </a:t>
            </a:r>
            <a:r>
              <a:rPr lang="es-ES" sz="2200" dirty="0" err="1"/>
              <a:t>environmental</a:t>
            </a:r>
            <a:r>
              <a:rPr lang="es-ES" sz="2200" dirty="0"/>
              <a:t> </a:t>
            </a:r>
            <a:r>
              <a:rPr lang="es-ES" sz="2200" dirty="0" err="1"/>
              <a:t>conditions</a:t>
            </a:r>
            <a:r>
              <a:rPr lang="es-ES" sz="2200" dirty="0"/>
              <a:t>, </a:t>
            </a:r>
            <a:r>
              <a:rPr lang="es-ES" sz="2200" dirty="0" err="1"/>
              <a:t>operational</a:t>
            </a:r>
            <a:r>
              <a:rPr lang="es-ES" sz="2200" dirty="0"/>
              <a:t> </a:t>
            </a:r>
            <a:r>
              <a:rPr lang="es-ES" sz="2200" dirty="0" err="1"/>
              <a:t>constraints</a:t>
            </a:r>
            <a:r>
              <a:rPr lang="es-ES" sz="2200" dirty="0"/>
              <a:t>, </a:t>
            </a:r>
            <a:r>
              <a:rPr lang="es-ES" sz="2200" dirty="0" err="1"/>
              <a:t>or</a:t>
            </a:r>
            <a:r>
              <a:rPr lang="es-ES" sz="2200" dirty="0"/>
              <a:t> turbine </a:t>
            </a:r>
            <a:r>
              <a:rPr lang="es-ES" sz="2200" dirty="0" err="1"/>
              <a:t>condition</a:t>
            </a:r>
            <a:r>
              <a:rPr lang="es-ES" sz="2200" dirty="0"/>
              <a:t>?</a:t>
            </a:r>
          </a:p>
          <a:p>
            <a:pPr lvl="0"/>
            <a:r>
              <a:rPr lang="es-ES" sz="2200" dirty="0" err="1"/>
              <a:t>What</a:t>
            </a:r>
            <a:r>
              <a:rPr lang="es-ES" sz="2200" dirty="0"/>
              <a:t> </a:t>
            </a:r>
            <a:r>
              <a:rPr lang="es-ES" sz="2200" dirty="0" err="1"/>
              <a:t>combinations</a:t>
            </a:r>
            <a:r>
              <a:rPr lang="es-ES" sz="2200" dirty="0"/>
              <a:t> </a:t>
            </a:r>
            <a:r>
              <a:rPr lang="es-ES" sz="2200" dirty="0" err="1"/>
              <a:t>of</a:t>
            </a:r>
            <a:r>
              <a:rPr lang="es-ES" sz="2200" dirty="0"/>
              <a:t> </a:t>
            </a:r>
            <a:r>
              <a:rPr lang="es-ES" sz="2200" dirty="0" err="1"/>
              <a:t>mechanical</a:t>
            </a:r>
            <a:r>
              <a:rPr lang="es-ES" sz="2200" dirty="0"/>
              <a:t>, </a:t>
            </a:r>
            <a:r>
              <a:rPr lang="es-ES" sz="2200" dirty="0" err="1"/>
              <a:t>thermal</a:t>
            </a:r>
            <a:r>
              <a:rPr lang="es-ES" sz="2200" dirty="0"/>
              <a:t>, </a:t>
            </a:r>
            <a:r>
              <a:rPr lang="es-ES" sz="2200" dirty="0" err="1"/>
              <a:t>operational</a:t>
            </a:r>
            <a:r>
              <a:rPr lang="es-ES" sz="2200" dirty="0"/>
              <a:t>, and </a:t>
            </a:r>
            <a:r>
              <a:rPr lang="es-ES" sz="2200" dirty="0" err="1"/>
              <a:t>environmental</a:t>
            </a:r>
            <a:r>
              <a:rPr lang="es-ES" sz="2200" dirty="0"/>
              <a:t> </a:t>
            </a:r>
            <a:r>
              <a:rPr lang="es-ES" sz="2200" dirty="0" err="1"/>
              <a:t>factors</a:t>
            </a:r>
            <a:r>
              <a:rPr lang="es-ES" sz="2200" dirty="0"/>
              <a:t> </a:t>
            </a:r>
            <a:r>
              <a:rPr lang="es-ES" sz="2200" dirty="0" err="1"/>
              <a:t>characterize</a:t>
            </a:r>
            <a:r>
              <a:rPr lang="es-ES" sz="2200" dirty="0"/>
              <a:t> </a:t>
            </a:r>
            <a:r>
              <a:rPr lang="es-ES" sz="2200" dirty="0" err="1"/>
              <a:t>persistent</a:t>
            </a:r>
            <a:r>
              <a:rPr lang="es-ES" sz="2200" dirty="0"/>
              <a:t> </a:t>
            </a:r>
            <a:r>
              <a:rPr lang="es-ES" sz="2200" dirty="0" err="1"/>
              <a:t>underperformance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145713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0989B5-9783-8820-3E55-4A4801BF869E}"/>
              </a:ext>
            </a:extLst>
          </p:cNvPr>
          <p:cNvSpPr txBox="1"/>
          <p:nvPr/>
        </p:nvSpPr>
        <p:spPr>
          <a:xfrm>
            <a:off x="764825" y="2465249"/>
            <a:ext cx="4743877" cy="61863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200" dirty="0" err="1"/>
              <a:t>Which</a:t>
            </a:r>
            <a:r>
              <a:rPr lang="es-ES" sz="2200" dirty="0"/>
              <a:t> </a:t>
            </a:r>
            <a:r>
              <a:rPr lang="es-ES" sz="2200" dirty="0" err="1"/>
              <a:t>underperforming</a:t>
            </a:r>
            <a:r>
              <a:rPr lang="es-ES" sz="2200" dirty="0"/>
              <a:t> turbines </a:t>
            </a:r>
            <a:r>
              <a:rPr lang="es-ES" sz="2200" dirty="0" err="1"/>
              <a:t>should</a:t>
            </a:r>
            <a:r>
              <a:rPr lang="es-ES" sz="2200" dirty="0"/>
              <a:t> be </a:t>
            </a:r>
            <a:r>
              <a:rPr lang="es-ES" sz="2200" dirty="0" err="1"/>
              <a:t>prioritized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intervention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r>
              <a:rPr lang="es-ES" sz="2200" dirty="0" err="1"/>
              <a:t>When</a:t>
            </a:r>
            <a:r>
              <a:rPr lang="es-ES" sz="2200" dirty="0"/>
              <a:t> </a:t>
            </a:r>
            <a:r>
              <a:rPr lang="es-ES" sz="2200" dirty="0" err="1"/>
              <a:t>should</a:t>
            </a:r>
            <a:r>
              <a:rPr lang="es-ES" sz="2200" dirty="0"/>
              <a:t> </a:t>
            </a:r>
            <a:r>
              <a:rPr lang="es-ES" sz="2200" dirty="0" err="1"/>
              <a:t>operators</a:t>
            </a:r>
            <a:r>
              <a:rPr lang="es-ES" sz="2200" dirty="0"/>
              <a:t> </a:t>
            </a:r>
            <a:r>
              <a:rPr lang="es-ES" sz="2200" dirty="0" err="1"/>
              <a:t>intervene</a:t>
            </a:r>
            <a:r>
              <a:rPr lang="es-ES" sz="2200" dirty="0"/>
              <a:t> </a:t>
            </a:r>
            <a:r>
              <a:rPr lang="es-ES" sz="2200" dirty="0" err="1"/>
              <a:t>to</a:t>
            </a:r>
            <a:r>
              <a:rPr lang="es-ES" sz="2200" dirty="0"/>
              <a:t> </a:t>
            </a:r>
            <a:r>
              <a:rPr lang="es-ES" sz="2200" dirty="0" err="1"/>
              <a:t>minimize</a:t>
            </a:r>
            <a:r>
              <a:rPr lang="es-ES" sz="2200" dirty="0"/>
              <a:t> </a:t>
            </a:r>
            <a:r>
              <a:rPr lang="es-ES" sz="2200" dirty="0" err="1"/>
              <a:t>energy</a:t>
            </a:r>
            <a:r>
              <a:rPr lang="es-ES" sz="2200" dirty="0"/>
              <a:t> </a:t>
            </a:r>
            <a:r>
              <a:rPr lang="es-ES" sz="2200" dirty="0" err="1"/>
              <a:t>losses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r>
              <a:rPr lang="es-ES" sz="2200" dirty="0" err="1"/>
              <a:t>What</a:t>
            </a:r>
            <a:r>
              <a:rPr lang="es-ES" sz="2200" dirty="0"/>
              <a:t> </a:t>
            </a:r>
            <a:r>
              <a:rPr lang="es-ES" sz="2200" dirty="0" err="1"/>
              <a:t>intervention</a:t>
            </a:r>
            <a:r>
              <a:rPr lang="es-ES" sz="2200" dirty="0"/>
              <a:t> </a:t>
            </a:r>
            <a:r>
              <a:rPr lang="es-ES" sz="2200" dirty="0" err="1"/>
              <a:t>should</a:t>
            </a:r>
            <a:r>
              <a:rPr lang="es-ES" sz="2200" dirty="0"/>
              <a:t> be </a:t>
            </a:r>
            <a:r>
              <a:rPr lang="es-ES" sz="2200" dirty="0" err="1"/>
              <a:t>recommended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each</a:t>
            </a:r>
            <a:r>
              <a:rPr lang="es-ES" sz="2200" dirty="0"/>
              <a:t> </a:t>
            </a:r>
            <a:r>
              <a:rPr lang="es-ES" sz="2200" dirty="0" err="1"/>
              <a:t>type</a:t>
            </a:r>
            <a:r>
              <a:rPr lang="es-ES" sz="2200" dirty="0"/>
              <a:t> </a:t>
            </a:r>
            <a:r>
              <a:rPr lang="es-ES" sz="2200" dirty="0" err="1"/>
              <a:t>of</a:t>
            </a:r>
            <a:r>
              <a:rPr lang="es-ES" sz="2200" dirty="0"/>
              <a:t> </a:t>
            </a:r>
            <a:r>
              <a:rPr lang="es-ES" sz="2200" dirty="0" err="1"/>
              <a:t>underperformance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r>
              <a:rPr lang="es-ES" sz="2200" dirty="0"/>
              <a:t>How </a:t>
            </a:r>
            <a:r>
              <a:rPr lang="es-ES" sz="2200" dirty="0" err="1"/>
              <a:t>should</a:t>
            </a:r>
            <a:r>
              <a:rPr lang="es-ES" sz="2200" dirty="0"/>
              <a:t> </a:t>
            </a:r>
            <a:r>
              <a:rPr lang="es-ES" sz="2200" dirty="0" err="1"/>
              <a:t>maintenance</a:t>
            </a:r>
            <a:r>
              <a:rPr lang="es-ES" sz="2200" dirty="0"/>
              <a:t> </a:t>
            </a:r>
            <a:r>
              <a:rPr lang="es-ES" sz="2200" dirty="0" err="1"/>
              <a:t>resources</a:t>
            </a:r>
            <a:r>
              <a:rPr lang="es-ES" sz="2200" dirty="0"/>
              <a:t> be </a:t>
            </a:r>
            <a:r>
              <a:rPr lang="es-ES" sz="2200" dirty="0" err="1"/>
              <a:t>allocated</a:t>
            </a:r>
            <a:r>
              <a:rPr lang="es-ES" sz="2200" dirty="0"/>
              <a:t> </a:t>
            </a:r>
            <a:r>
              <a:rPr lang="es-ES" sz="2200" dirty="0" err="1"/>
              <a:t>across</a:t>
            </a:r>
            <a:r>
              <a:rPr lang="es-ES" sz="2200" dirty="0"/>
              <a:t> turbines </a:t>
            </a:r>
            <a:r>
              <a:rPr lang="es-ES" sz="2200" dirty="0" err="1"/>
              <a:t>to</a:t>
            </a:r>
            <a:r>
              <a:rPr lang="es-ES" sz="2200" dirty="0"/>
              <a:t> </a:t>
            </a:r>
            <a:r>
              <a:rPr lang="es-ES" sz="2200" dirty="0" err="1"/>
              <a:t>maximize</a:t>
            </a:r>
            <a:r>
              <a:rPr lang="es-ES" sz="2200" dirty="0"/>
              <a:t> </a:t>
            </a:r>
            <a:r>
              <a:rPr lang="es-ES" sz="2200" dirty="0" err="1"/>
              <a:t>recoverable</a:t>
            </a:r>
            <a:r>
              <a:rPr lang="es-ES" sz="2200" dirty="0"/>
              <a:t> </a:t>
            </a:r>
            <a:r>
              <a:rPr lang="es-ES" sz="2200" dirty="0" err="1"/>
              <a:t>energy</a:t>
            </a:r>
            <a:r>
              <a:rPr lang="es-ES" sz="2200" dirty="0"/>
              <a:t>?</a:t>
            </a:r>
          </a:p>
          <a:p>
            <a:endParaRPr lang="es-ES" sz="2200" dirty="0"/>
          </a:p>
          <a:p>
            <a:r>
              <a:rPr lang="es-ES" sz="2200" dirty="0" err="1"/>
              <a:t>Which</a:t>
            </a:r>
            <a:r>
              <a:rPr lang="es-ES" sz="2200" dirty="0"/>
              <a:t> </a:t>
            </a:r>
            <a:r>
              <a:rPr lang="es-ES" sz="2200" dirty="0" err="1"/>
              <a:t>intervention</a:t>
            </a:r>
            <a:r>
              <a:rPr lang="es-ES" sz="2200" dirty="0"/>
              <a:t> </a:t>
            </a:r>
            <a:r>
              <a:rPr lang="es-ES" sz="2200" dirty="0" err="1"/>
              <a:t>strategy</a:t>
            </a:r>
            <a:r>
              <a:rPr lang="es-ES" sz="2200" dirty="0"/>
              <a:t> </a:t>
            </a:r>
            <a:r>
              <a:rPr lang="es-ES" sz="2200" dirty="0" err="1"/>
              <a:t>provides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greatest</a:t>
            </a:r>
            <a:r>
              <a:rPr lang="es-ES" sz="2200" dirty="0"/>
              <a:t> </a:t>
            </a:r>
            <a:r>
              <a:rPr lang="es-ES" sz="2200" dirty="0" err="1"/>
              <a:t>expected</a:t>
            </a:r>
            <a:r>
              <a:rPr lang="es-ES" sz="2200" dirty="0"/>
              <a:t> </a:t>
            </a:r>
            <a:r>
              <a:rPr lang="es-ES" sz="2200" dirty="0" err="1"/>
              <a:t>energy</a:t>
            </a:r>
            <a:r>
              <a:rPr lang="es-ES" sz="2200" dirty="0"/>
              <a:t> </a:t>
            </a:r>
            <a:r>
              <a:rPr lang="es-ES" sz="2200" dirty="0" err="1"/>
              <a:t>recovery</a:t>
            </a:r>
            <a:r>
              <a:rPr lang="es-ES" sz="2200" dirty="0"/>
              <a:t> and </a:t>
            </a:r>
            <a:r>
              <a:rPr lang="es-ES" sz="2200" dirty="0" err="1"/>
              <a:t>business</a:t>
            </a:r>
            <a:r>
              <a:rPr lang="es-ES" sz="2200" dirty="0"/>
              <a:t> </a:t>
            </a:r>
            <a:r>
              <a:rPr lang="es-ES" sz="2200" dirty="0" err="1"/>
              <a:t>value</a:t>
            </a:r>
            <a:r>
              <a:rPr lang="es-ES" sz="2200" dirty="0"/>
              <a:t>?</a:t>
            </a:r>
          </a:p>
          <a:p>
            <a:endParaRPr lang="es-E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A2855-A8EC-2094-CAAC-9EC89EA54430}"/>
              </a:ext>
            </a:extLst>
          </p:cNvPr>
          <p:cNvSpPr txBox="1"/>
          <p:nvPr/>
        </p:nvSpPr>
        <p:spPr>
          <a:xfrm>
            <a:off x="1516565" y="2095917"/>
            <a:ext cx="377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What</a:t>
            </a:r>
            <a:r>
              <a:rPr lang="es-ES" b="1" dirty="0"/>
              <a:t> </a:t>
            </a:r>
            <a:r>
              <a:rPr lang="es-ES" b="1" dirty="0" err="1"/>
              <a:t>is</a:t>
            </a:r>
            <a:r>
              <a:rPr lang="es-ES" b="1" dirty="0"/>
              <a:t> </a:t>
            </a:r>
            <a:r>
              <a:rPr lang="es-ES" b="1" dirty="0" err="1"/>
              <a:t>expected</a:t>
            </a:r>
            <a:r>
              <a:rPr lang="es-ES" b="1" dirty="0"/>
              <a:t> </a:t>
            </a:r>
            <a:r>
              <a:rPr lang="es-ES" b="1" dirty="0" err="1"/>
              <a:t>or</a:t>
            </a:r>
            <a:r>
              <a:rPr lang="es-ES" b="1" dirty="0"/>
              <a:t> </a:t>
            </a:r>
            <a:r>
              <a:rPr lang="es-ES" b="1" dirty="0" err="1"/>
              <a:t>likely</a:t>
            </a:r>
            <a:r>
              <a:rPr lang="es-ES" b="1" dirty="0"/>
              <a:t> </a:t>
            </a:r>
            <a:r>
              <a:rPr lang="es-ES" b="1" dirty="0" err="1"/>
              <a:t>to</a:t>
            </a:r>
            <a:r>
              <a:rPr lang="es-ES" b="1" dirty="0"/>
              <a:t> </a:t>
            </a:r>
            <a:r>
              <a:rPr lang="es-ES" b="1" dirty="0" err="1"/>
              <a:t>happen</a:t>
            </a:r>
            <a:r>
              <a:rPr lang="es-ES" b="1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10497-7AA7-439D-1C9B-1FC741A9C341}"/>
              </a:ext>
            </a:extLst>
          </p:cNvPr>
          <p:cNvSpPr txBox="1"/>
          <p:nvPr/>
        </p:nvSpPr>
        <p:spPr>
          <a:xfrm>
            <a:off x="5756855" y="2465249"/>
            <a:ext cx="4743877" cy="68634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200" dirty="0" err="1"/>
              <a:t>Which</a:t>
            </a:r>
            <a:r>
              <a:rPr lang="es-ES" sz="2200" dirty="0"/>
              <a:t> turbines </a:t>
            </a:r>
            <a:r>
              <a:rPr lang="es-ES" sz="2200" dirty="0" err="1"/>
              <a:t>should</a:t>
            </a:r>
            <a:r>
              <a:rPr lang="es-ES" sz="2200" dirty="0"/>
              <a:t> be </a:t>
            </a:r>
            <a:r>
              <a:rPr lang="es-ES" sz="2200" dirty="0" err="1"/>
              <a:t>prioritized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intervention</a:t>
            </a:r>
            <a:r>
              <a:rPr lang="es-ES" sz="2200" dirty="0"/>
              <a:t> </a:t>
            </a:r>
            <a:r>
              <a:rPr lang="es-ES" sz="2200" dirty="0" err="1"/>
              <a:t>based</a:t>
            </a:r>
            <a:r>
              <a:rPr lang="es-ES" sz="2200" dirty="0"/>
              <a:t> </a:t>
            </a:r>
            <a:r>
              <a:rPr lang="es-ES" sz="2200" dirty="0" err="1"/>
              <a:t>on</a:t>
            </a:r>
            <a:r>
              <a:rPr lang="es-ES" sz="2200" dirty="0"/>
              <a:t> </a:t>
            </a:r>
            <a:r>
              <a:rPr lang="es-ES" sz="2200" dirty="0" err="1"/>
              <a:t>potential</a:t>
            </a:r>
            <a:r>
              <a:rPr lang="es-ES" sz="2200" dirty="0"/>
              <a:t> </a:t>
            </a:r>
            <a:r>
              <a:rPr lang="es-ES" sz="2200" dirty="0" err="1"/>
              <a:t>recoverable</a:t>
            </a:r>
            <a:r>
              <a:rPr lang="es-ES" sz="2200" dirty="0"/>
              <a:t> </a:t>
            </a:r>
            <a:r>
              <a:rPr lang="es-ES" sz="2200" dirty="0" err="1"/>
              <a:t>energy</a:t>
            </a:r>
            <a:r>
              <a:rPr lang="es-ES" sz="2200" dirty="0"/>
              <a:t>?</a:t>
            </a:r>
          </a:p>
          <a:p>
            <a:pPr marL="457200" indent="-457200">
              <a:buAutoNum type="arabicPeriod"/>
            </a:pPr>
            <a:endParaRPr lang="es-ES" sz="1000" dirty="0"/>
          </a:p>
          <a:p>
            <a:r>
              <a:rPr lang="es-ES" sz="2200" dirty="0" err="1"/>
              <a:t>What</a:t>
            </a:r>
            <a:r>
              <a:rPr lang="es-ES" sz="2200" dirty="0"/>
              <a:t> </a:t>
            </a:r>
            <a:r>
              <a:rPr lang="es-ES" sz="2200" dirty="0" err="1"/>
              <a:t>intervention</a:t>
            </a:r>
            <a:r>
              <a:rPr lang="es-ES" sz="2200" dirty="0"/>
              <a:t> </a:t>
            </a:r>
            <a:r>
              <a:rPr lang="es-ES" sz="2200" dirty="0" err="1"/>
              <a:t>should</a:t>
            </a:r>
            <a:r>
              <a:rPr lang="es-ES" sz="2200" dirty="0"/>
              <a:t> be </a:t>
            </a:r>
            <a:r>
              <a:rPr lang="es-ES" sz="2200" dirty="0" err="1"/>
              <a:t>taken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each</a:t>
            </a:r>
            <a:r>
              <a:rPr lang="es-ES" sz="2200" dirty="0"/>
              <a:t> </a:t>
            </a:r>
            <a:r>
              <a:rPr lang="es-ES" sz="2200" dirty="0" err="1"/>
              <a:t>identified</a:t>
            </a:r>
            <a:r>
              <a:rPr lang="es-ES" sz="2200" dirty="0"/>
              <a:t> </a:t>
            </a:r>
            <a:r>
              <a:rPr lang="es-ES" sz="2200" dirty="0" err="1"/>
              <a:t>underperformance</a:t>
            </a:r>
            <a:r>
              <a:rPr lang="es-ES" sz="2200" dirty="0"/>
              <a:t> </a:t>
            </a:r>
            <a:r>
              <a:rPr lang="es-ES" sz="2200" dirty="0" err="1"/>
              <a:t>condition</a:t>
            </a:r>
            <a:r>
              <a:rPr lang="es-ES" sz="2200" dirty="0"/>
              <a:t>?</a:t>
            </a:r>
          </a:p>
          <a:p>
            <a:pPr marL="457200" indent="-457200">
              <a:buAutoNum type="arabicPeriod"/>
            </a:pPr>
            <a:endParaRPr lang="es-ES" sz="2200" b="1" dirty="0"/>
          </a:p>
          <a:p>
            <a:r>
              <a:rPr lang="es-ES" sz="2200" dirty="0" err="1"/>
              <a:t>When</a:t>
            </a:r>
            <a:r>
              <a:rPr lang="es-ES" sz="2200" dirty="0"/>
              <a:t> </a:t>
            </a:r>
            <a:r>
              <a:rPr lang="es-ES" sz="2200" dirty="0" err="1"/>
              <a:t>is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optimal</a:t>
            </a:r>
            <a:r>
              <a:rPr lang="es-ES" sz="2200" dirty="0"/>
              <a:t> time </a:t>
            </a:r>
            <a:r>
              <a:rPr lang="es-ES" sz="2200" dirty="0" err="1"/>
              <a:t>to</a:t>
            </a:r>
            <a:r>
              <a:rPr lang="es-ES" sz="2200" dirty="0"/>
              <a:t> </a:t>
            </a:r>
            <a:r>
              <a:rPr lang="es-ES" sz="2200" dirty="0" err="1"/>
              <a:t>intervene</a:t>
            </a:r>
            <a:r>
              <a:rPr lang="es-ES" sz="2200" dirty="0"/>
              <a:t> </a:t>
            </a:r>
            <a:r>
              <a:rPr lang="es-ES" sz="2200" dirty="0" err="1"/>
              <a:t>to</a:t>
            </a:r>
            <a:r>
              <a:rPr lang="es-ES" sz="2200" dirty="0"/>
              <a:t> </a:t>
            </a:r>
            <a:r>
              <a:rPr lang="es-ES" sz="2200" dirty="0" err="1"/>
              <a:t>maximize</a:t>
            </a:r>
            <a:r>
              <a:rPr lang="es-ES" sz="2200" dirty="0"/>
              <a:t> </a:t>
            </a:r>
            <a:r>
              <a:rPr lang="es-ES" sz="2200" dirty="0" err="1"/>
              <a:t>energy</a:t>
            </a:r>
            <a:r>
              <a:rPr lang="es-ES" sz="2200" dirty="0"/>
              <a:t> </a:t>
            </a:r>
            <a:r>
              <a:rPr lang="es-ES" sz="2200" dirty="0" err="1"/>
              <a:t>recovery</a:t>
            </a:r>
            <a:r>
              <a:rPr lang="es-ES" sz="2200" dirty="0"/>
              <a:t> </a:t>
            </a:r>
            <a:r>
              <a:rPr lang="es-ES" sz="2200" dirty="0" err="1"/>
              <a:t>while</a:t>
            </a:r>
            <a:r>
              <a:rPr lang="es-ES" sz="2200" dirty="0"/>
              <a:t> </a:t>
            </a:r>
            <a:r>
              <a:rPr lang="es-ES" sz="2200" dirty="0" err="1"/>
              <a:t>minimizing</a:t>
            </a:r>
            <a:r>
              <a:rPr lang="es-ES" sz="2200" dirty="0"/>
              <a:t> </a:t>
            </a:r>
            <a:r>
              <a:rPr lang="es-ES" sz="2200" dirty="0" err="1"/>
              <a:t>operational</a:t>
            </a:r>
            <a:r>
              <a:rPr lang="es-ES" sz="2200" dirty="0"/>
              <a:t> </a:t>
            </a:r>
            <a:r>
              <a:rPr lang="es-ES" sz="2200" dirty="0" err="1"/>
              <a:t>disruption</a:t>
            </a:r>
            <a:r>
              <a:rPr lang="es-ES" sz="2200" dirty="0"/>
              <a:t>?</a:t>
            </a:r>
          </a:p>
          <a:p>
            <a:endParaRPr lang="es-ES" sz="2200" b="1" dirty="0"/>
          </a:p>
          <a:p>
            <a:r>
              <a:rPr lang="es-ES" sz="2200" dirty="0"/>
              <a:t>How </a:t>
            </a:r>
            <a:r>
              <a:rPr lang="es-ES" sz="2200" dirty="0" err="1"/>
              <a:t>should</a:t>
            </a:r>
            <a:r>
              <a:rPr lang="es-ES" sz="2200" dirty="0"/>
              <a:t> </a:t>
            </a:r>
            <a:r>
              <a:rPr lang="es-ES" sz="2200" dirty="0" err="1"/>
              <a:t>limited</a:t>
            </a:r>
            <a:r>
              <a:rPr lang="es-ES" sz="2200" dirty="0"/>
              <a:t> </a:t>
            </a:r>
            <a:r>
              <a:rPr lang="es-ES" sz="2200" dirty="0" err="1"/>
              <a:t>maintenance</a:t>
            </a:r>
            <a:r>
              <a:rPr lang="es-ES" sz="2200" dirty="0"/>
              <a:t> </a:t>
            </a:r>
            <a:r>
              <a:rPr lang="es-ES" sz="2200" dirty="0" err="1"/>
              <a:t>resources</a:t>
            </a:r>
            <a:r>
              <a:rPr lang="es-ES" sz="2200" dirty="0"/>
              <a:t> be </a:t>
            </a:r>
            <a:r>
              <a:rPr lang="es-ES" sz="2200" dirty="0" err="1"/>
              <a:t>allocated</a:t>
            </a:r>
            <a:r>
              <a:rPr lang="es-ES" sz="2200" dirty="0"/>
              <a:t> </a:t>
            </a:r>
            <a:r>
              <a:rPr lang="es-ES" sz="2200" dirty="0" err="1"/>
              <a:t>across</a:t>
            </a:r>
            <a:r>
              <a:rPr lang="es-ES" sz="2200" dirty="0"/>
              <a:t> turbines </a:t>
            </a:r>
            <a:r>
              <a:rPr lang="es-ES" sz="2200" dirty="0" err="1"/>
              <a:t>to</a:t>
            </a:r>
            <a:r>
              <a:rPr lang="es-ES" sz="2200" dirty="0"/>
              <a:t> </a:t>
            </a:r>
            <a:r>
              <a:rPr lang="es-ES" sz="2200" dirty="0" err="1"/>
              <a:t>maximize</a:t>
            </a:r>
            <a:r>
              <a:rPr lang="es-ES" sz="2200" dirty="0"/>
              <a:t> </a:t>
            </a:r>
            <a:r>
              <a:rPr lang="es-ES" sz="2200" dirty="0" err="1"/>
              <a:t>recoverable</a:t>
            </a:r>
            <a:r>
              <a:rPr lang="es-ES" sz="2200" dirty="0"/>
              <a:t> </a:t>
            </a:r>
            <a:r>
              <a:rPr lang="es-ES" sz="2200" dirty="0" err="1"/>
              <a:t>energy</a:t>
            </a:r>
            <a:r>
              <a:rPr lang="es-ES" sz="2200" dirty="0"/>
              <a:t>?</a:t>
            </a:r>
          </a:p>
          <a:p>
            <a:endParaRPr lang="es-ES" sz="2200" b="1" dirty="0"/>
          </a:p>
          <a:p>
            <a:r>
              <a:rPr lang="es-ES" sz="2200" dirty="0" err="1"/>
              <a:t>Which</a:t>
            </a:r>
            <a:r>
              <a:rPr lang="es-ES" sz="2200" dirty="0"/>
              <a:t> </a:t>
            </a:r>
            <a:r>
              <a:rPr lang="es-ES" sz="2200" dirty="0" err="1"/>
              <a:t>intervention</a:t>
            </a:r>
            <a:r>
              <a:rPr lang="es-ES" sz="2200" dirty="0"/>
              <a:t> </a:t>
            </a:r>
            <a:r>
              <a:rPr lang="es-ES" sz="2200" dirty="0" err="1"/>
              <a:t>strategy</a:t>
            </a:r>
            <a:r>
              <a:rPr lang="es-ES" sz="2200" dirty="0"/>
              <a:t> </a:t>
            </a:r>
            <a:r>
              <a:rPr lang="es-ES" sz="2200" dirty="0" err="1"/>
              <a:t>provides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best</a:t>
            </a:r>
            <a:r>
              <a:rPr lang="es-ES" sz="2200" dirty="0"/>
              <a:t> </a:t>
            </a:r>
            <a:r>
              <a:rPr lang="es-ES" sz="2200" dirty="0" err="1"/>
              <a:t>trade</a:t>
            </a:r>
            <a:r>
              <a:rPr lang="es-ES" sz="2200" dirty="0"/>
              <a:t>-off </a:t>
            </a:r>
            <a:r>
              <a:rPr lang="es-ES" sz="2200" dirty="0" err="1"/>
              <a:t>between</a:t>
            </a:r>
            <a:r>
              <a:rPr lang="es-ES" sz="2200" dirty="0"/>
              <a:t> </a:t>
            </a:r>
            <a:r>
              <a:rPr lang="es-ES" sz="2200" dirty="0" err="1"/>
              <a:t>energy</a:t>
            </a:r>
            <a:r>
              <a:rPr lang="es-ES" sz="2200" dirty="0"/>
              <a:t> </a:t>
            </a:r>
            <a:r>
              <a:rPr lang="es-ES" sz="2200" dirty="0" err="1"/>
              <a:t>recovery</a:t>
            </a:r>
            <a:r>
              <a:rPr lang="es-ES" sz="2200" dirty="0"/>
              <a:t>, </a:t>
            </a:r>
            <a:r>
              <a:rPr lang="es-ES" sz="2200" dirty="0" err="1"/>
              <a:t>maintenance</a:t>
            </a:r>
            <a:r>
              <a:rPr lang="es-ES" sz="2200" dirty="0"/>
              <a:t> </a:t>
            </a:r>
            <a:r>
              <a:rPr lang="es-ES" sz="2200" dirty="0" err="1"/>
              <a:t>cost</a:t>
            </a:r>
            <a:r>
              <a:rPr lang="es-ES" sz="2200" dirty="0"/>
              <a:t>, and </a:t>
            </a:r>
            <a:r>
              <a:rPr lang="es-ES" sz="2200" dirty="0" err="1"/>
              <a:t>operational</a:t>
            </a:r>
            <a:r>
              <a:rPr lang="es-ES" sz="2200" dirty="0"/>
              <a:t> </a:t>
            </a:r>
            <a:r>
              <a:rPr lang="es-ES" sz="2200" dirty="0" err="1"/>
              <a:t>impact</a:t>
            </a:r>
            <a:r>
              <a:rPr lang="es-ES" sz="22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7B703-C7DA-D774-F1D6-014BF1919F7F}"/>
              </a:ext>
            </a:extLst>
          </p:cNvPr>
          <p:cNvSpPr txBox="1"/>
          <p:nvPr/>
        </p:nvSpPr>
        <p:spPr>
          <a:xfrm>
            <a:off x="10748886" y="2465249"/>
            <a:ext cx="4743877" cy="68018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200" dirty="0"/>
              <a:t>How can AI </a:t>
            </a:r>
            <a:r>
              <a:rPr lang="es-ES" sz="2200" dirty="0" err="1"/>
              <a:t>adapt</a:t>
            </a:r>
            <a:r>
              <a:rPr lang="es-ES" sz="2200" dirty="0"/>
              <a:t> </a:t>
            </a:r>
            <a:r>
              <a:rPr lang="es-ES" sz="2200" dirty="0" err="1"/>
              <a:t>expected</a:t>
            </a:r>
            <a:r>
              <a:rPr lang="es-ES" sz="2200" dirty="0"/>
              <a:t> turbine performance as </a:t>
            </a:r>
            <a:r>
              <a:rPr lang="es-ES" sz="2200" dirty="0" err="1"/>
              <a:t>equipment</a:t>
            </a:r>
            <a:r>
              <a:rPr lang="es-ES" sz="2200" dirty="0"/>
              <a:t> </a:t>
            </a:r>
            <a:r>
              <a:rPr lang="es-ES" sz="2200" dirty="0" err="1"/>
              <a:t>ages</a:t>
            </a:r>
            <a:r>
              <a:rPr lang="es-ES" sz="2200" dirty="0"/>
              <a:t> and </a:t>
            </a:r>
            <a:r>
              <a:rPr lang="es-ES" sz="2200" dirty="0" err="1"/>
              <a:t>operating</a:t>
            </a:r>
            <a:r>
              <a:rPr lang="es-ES" sz="2200" dirty="0"/>
              <a:t> </a:t>
            </a:r>
            <a:r>
              <a:rPr lang="es-ES" sz="2200" dirty="0" err="1"/>
              <a:t>conditions</a:t>
            </a:r>
            <a:r>
              <a:rPr lang="es-ES" sz="2200" dirty="0"/>
              <a:t> </a:t>
            </a:r>
            <a:r>
              <a:rPr lang="es-ES" sz="2200" dirty="0" err="1"/>
              <a:t>change</a:t>
            </a:r>
            <a:r>
              <a:rPr lang="es-ES" sz="2200" dirty="0"/>
              <a:t>?</a:t>
            </a:r>
          </a:p>
          <a:p>
            <a:endParaRPr lang="es-ES" sz="1000" dirty="0"/>
          </a:p>
          <a:p>
            <a:r>
              <a:rPr lang="es-ES" sz="2200" dirty="0"/>
              <a:t>How can AI </a:t>
            </a:r>
            <a:r>
              <a:rPr lang="es-ES" sz="2200" dirty="0" err="1"/>
              <a:t>distinguish</a:t>
            </a:r>
            <a:r>
              <a:rPr lang="es-ES" sz="2200" dirty="0"/>
              <a:t> </a:t>
            </a:r>
            <a:r>
              <a:rPr lang="es-ES" sz="2200" dirty="0" err="1"/>
              <a:t>environmental</a:t>
            </a:r>
            <a:r>
              <a:rPr lang="es-ES" sz="2200" dirty="0"/>
              <a:t> </a:t>
            </a:r>
            <a:r>
              <a:rPr lang="es-ES" sz="2200" dirty="0" err="1"/>
              <a:t>effects</a:t>
            </a:r>
            <a:r>
              <a:rPr lang="es-ES" sz="2200" dirty="0"/>
              <a:t> </a:t>
            </a:r>
            <a:r>
              <a:rPr lang="es-ES" sz="2200" dirty="0" err="1"/>
              <a:t>from</a:t>
            </a:r>
            <a:r>
              <a:rPr lang="es-ES" sz="2200" dirty="0"/>
              <a:t> </a:t>
            </a:r>
            <a:r>
              <a:rPr lang="es-ES" sz="2200" dirty="0" err="1"/>
              <a:t>emerging</a:t>
            </a:r>
            <a:r>
              <a:rPr lang="es-ES" sz="2200" dirty="0"/>
              <a:t> </a:t>
            </a:r>
            <a:r>
              <a:rPr lang="es-ES" sz="2200" dirty="0" err="1"/>
              <a:t>equipment-related</a:t>
            </a:r>
            <a:r>
              <a:rPr lang="es-ES" sz="2200" dirty="0"/>
              <a:t> performance </a:t>
            </a:r>
            <a:r>
              <a:rPr lang="es-ES" sz="2200" dirty="0" err="1"/>
              <a:t>issues</a:t>
            </a:r>
            <a:r>
              <a:rPr lang="es-ES" sz="2200" dirty="0"/>
              <a:t>?</a:t>
            </a:r>
          </a:p>
          <a:p>
            <a:endParaRPr lang="es-ES" sz="1000" dirty="0"/>
          </a:p>
          <a:p>
            <a:r>
              <a:rPr lang="es-ES" sz="2200" dirty="0"/>
              <a:t>How can AI </a:t>
            </a:r>
            <a:r>
              <a:rPr lang="es-ES" sz="2200" dirty="0" err="1"/>
              <a:t>learn</a:t>
            </a:r>
            <a:r>
              <a:rPr lang="es-ES" sz="2200" dirty="0"/>
              <a:t> </a:t>
            </a:r>
            <a:r>
              <a:rPr lang="es-ES" sz="2200" dirty="0" err="1"/>
              <a:t>from</a:t>
            </a:r>
            <a:r>
              <a:rPr lang="es-ES" sz="2200" dirty="0"/>
              <a:t> </a:t>
            </a:r>
            <a:r>
              <a:rPr lang="es-ES" sz="2200" dirty="0" err="1"/>
              <a:t>technician</a:t>
            </a:r>
            <a:r>
              <a:rPr lang="es-ES" sz="2200" dirty="0"/>
              <a:t> </a:t>
            </a:r>
            <a:r>
              <a:rPr lang="es-ES" sz="2200" dirty="0" err="1"/>
              <a:t>feedback</a:t>
            </a:r>
            <a:r>
              <a:rPr lang="es-ES" sz="2200" dirty="0"/>
              <a:t> and </a:t>
            </a:r>
            <a:r>
              <a:rPr lang="es-ES" sz="2200" dirty="0" err="1"/>
              <a:t>maintenance</a:t>
            </a:r>
            <a:r>
              <a:rPr lang="es-ES" sz="2200" dirty="0"/>
              <a:t> </a:t>
            </a:r>
            <a:r>
              <a:rPr lang="es-ES" sz="2200" dirty="0" err="1"/>
              <a:t>history</a:t>
            </a:r>
            <a:r>
              <a:rPr lang="es-ES" sz="2200" dirty="0"/>
              <a:t> </a:t>
            </a:r>
            <a:r>
              <a:rPr lang="es-ES" sz="2200" dirty="0" err="1"/>
              <a:t>to</a:t>
            </a:r>
            <a:r>
              <a:rPr lang="es-ES" sz="2200" dirty="0"/>
              <a:t> </a:t>
            </a:r>
            <a:r>
              <a:rPr lang="es-ES" sz="2200" dirty="0" err="1"/>
              <a:t>continuously</a:t>
            </a:r>
            <a:r>
              <a:rPr lang="es-ES" sz="2200" dirty="0"/>
              <a:t> </a:t>
            </a:r>
            <a:r>
              <a:rPr lang="es-ES" sz="2200" dirty="0" err="1"/>
              <a:t>improve</a:t>
            </a:r>
            <a:r>
              <a:rPr lang="es-ES" sz="2200" dirty="0"/>
              <a:t> </a:t>
            </a:r>
            <a:r>
              <a:rPr lang="es-ES" sz="2200" dirty="0" err="1"/>
              <a:t>its</a:t>
            </a:r>
            <a:r>
              <a:rPr lang="es-ES" sz="2200" dirty="0"/>
              <a:t> </a:t>
            </a:r>
            <a:r>
              <a:rPr lang="es-ES" sz="2200" dirty="0" err="1"/>
              <a:t>understanding</a:t>
            </a:r>
            <a:r>
              <a:rPr lang="es-ES" sz="2200" dirty="0"/>
              <a:t> </a:t>
            </a:r>
            <a:r>
              <a:rPr lang="es-ES" sz="2200" dirty="0" err="1"/>
              <a:t>of</a:t>
            </a:r>
            <a:r>
              <a:rPr lang="es-ES" sz="2200" dirty="0"/>
              <a:t> turbine </a:t>
            </a:r>
            <a:r>
              <a:rPr lang="es-ES" sz="2200" dirty="0" err="1"/>
              <a:t>behavior</a:t>
            </a:r>
            <a:r>
              <a:rPr lang="es-ES" sz="2200" dirty="0"/>
              <a:t>?</a:t>
            </a:r>
          </a:p>
          <a:p>
            <a:endParaRPr lang="es-ES" sz="1000" dirty="0"/>
          </a:p>
          <a:p>
            <a:r>
              <a:rPr lang="es-ES" sz="2200" dirty="0"/>
              <a:t>How can AI </a:t>
            </a:r>
            <a:r>
              <a:rPr lang="es-ES" sz="2200" dirty="0" err="1"/>
              <a:t>discover</a:t>
            </a:r>
            <a:r>
              <a:rPr lang="es-ES" sz="2200" dirty="0"/>
              <a:t> new and </a:t>
            </a:r>
            <a:r>
              <a:rPr lang="es-ES" sz="2200" dirty="0" err="1"/>
              <a:t>previously</a:t>
            </a:r>
            <a:r>
              <a:rPr lang="es-ES" sz="2200" dirty="0"/>
              <a:t> </a:t>
            </a:r>
            <a:r>
              <a:rPr lang="es-ES" sz="2200" dirty="0" err="1"/>
              <a:t>unseen</a:t>
            </a:r>
            <a:r>
              <a:rPr lang="es-ES" sz="2200" dirty="0"/>
              <a:t> </a:t>
            </a:r>
            <a:r>
              <a:rPr lang="es-ES" sz="2200" dirty="0" err="1"/>
              <a:t>patterns</a:t>
            </a:r>
            <a:r>
              <a:rPr lang="es-ES" sz="2200" dirty="0"/>
              <a:t> </a:t>
            </a:r>
            <a:r>
              <a:rPr lang="es-ES" sz="2200" dirty="0" err="1"/>
              <a:t>across</a:t>
            </a:r>
            <a:r>
              <a:rPr lang="es-ES" sz="2200" dirty="0"/>
              <a:t> </a:t>
            </a:r>
            <a:r>
              <a:rPr lang="es-ES" sz="2200" dirty="0" err="1"/>
              <a:t>environmental</a:t>
            </a:r>
            <a:r>
              <a:rPr lang="es-ES" sz="2200" dirty="0"/>
              <a:t>, </a:t>
            </a:r>
            <a:r>
              <a:rPr lang="es-ES" sz="2200" dirty="0" err="1"/>
              <a:t>operational</a:t>
            </a:r>
            <a:r>
              <a:rPr lang="es-ES" sz="2200" dirty="0"/>
              <a:t>, </a:t>
            </a:r>
            <a:r>
              <a:rPr lang="es-ES" sz="2200" dirty="0" err="1"/>
              <a:t>mechanical</a:t>
            </a:r>
            <a:r>
              <a:rPr lang="es-ES" sz="2200" dirty="0"/>
              <a:t>, and </a:t>
            </a:r>
            <a:r>
              <a:rPr lang="es-ES" sz="2200" dirty="0" err="1"/>
              <a:t>thermal</a:t>
            </a:r>
            <a:r>
              <a:rPr lang="es-ES" sz="2200" dirty="0"/>
              <a:t> data?</a:t>
            </a:r>
          </a:p>
          <a:p>
            <a:endParaRPr lang="es-ES" sz="1000" dirty="0"/>
          </a:p>
          <a:p>
            <a:r>
              <a:rPr lang="es-ES" sz="2200" dirty="0"/>
              <a:t>How can AI </a:t>
            </a:r>
            <a:r>
              <a:rPr lang="es-ES" sz="2200" dirty="0" err="1"/>
              <a:t>translate</a:t>
            </a:r>
            <a:r>
              <a:rPr lang="es-ES" sz="2200" dirty="0"/>
              <a:t> </a:t>
            </a:r>
            <a:r>
              <a:rPr lang="es-ES" sz="2200" dirty="0" err="1"/>
              <a:t>complex</a:t>
            </a:r>
            <a:r>
              <a:rPr lang="es-ES" sz="2200" dirty="0"/>
              <a:t> sensor </a:t>
            </a:r>
            <a:r>
              <a:rPr lang="es-ES" sz="2200" dirty="0" err="1"/>
              <a:t>patterns</a:t>
            </a:r>
            <a:r>
              <a:rPr lang="es-ES" sz="2200" dirty="0"/>
              <a:t> </a:t>
            </a:r>
            <a:r>
              <a:rPr lang="es-ES" sz="2200" dirty="0" err="1"/>
              <a:t>into</a:t>
            </a:r>
            <a:r>
              <a:rPr lang="es-ES" sz="2200" dirty="0"/>
              <a:t> </a:t>
            </a:r>
            <a:r>
              <a:rPr lang="es-ES" sz="2200" dirty="0" err="1"/>
              <a:t>clear</a:t>
            </a:r>
            <a:r>
              <a:rPr lang="es-ES" sz="2200" dirty="0"/>
              <a:t>, </a:t>
            </a:r>
            <a:r>
              <a:rPr lang="es-ES" sz="2200" dirty="0" err="1"/>
              <a:t>explainable</a:t>
            </a:r>
            <a:r>
              <a:rPr lang="es-ES" sz="2200" dirty="0"/>
              <a:t> </a:t>
            </a:r>
            <a:r>
              <a:rPr lang="es-ES" sz="2200" dirty="0" err="1"/>
              <a:t>insights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operators</a:t>
            </a:r>
            <a:r>
              <a:rPr lang="es-ES" sz="2200" dirty="0"/>
              <a:t> and </a:t>
            </a:r>
            <a:r>
              <a:rPr lang="es-ES" sz="2200" dirty="0" err="1"/>
              <a:t>technicians</a:t>
            </a:r>
            <a:r>
              <a:rPr lang="es-ES" sz="2200" dirty="0"/>
              <a:t>?</a:t>
            </a:r>
          </a:p>
          <a:p>
            <a:endParaRPr lang="es-E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9D4D74-58F8-AF46-92BB-39EF9F45199D}"/>
              </a:ext>
            </a:extLst>
          </p:cNvPr>
          <p:cNvSpPr/>
          <p:nvPr/>
        </p:nvSpPr>
        <p:spPr>
          <a:xfrm>
            <a:off x="487680" y="1560576"/>
            <a:ext cx="15471648" cy="7181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BFA77-A628-BA4A-6778-04B934A34D13}"/>
              </a:ext>
            </a:extLst>
          </p:cNvPr>
          <p:cNvSpPr txBox="1"/>
          <p:nvPr/>
        </p:nvSpPr>
        <p:spPr>
          <a:xfrm>
            <a:off x="2240280" y="2749296"/>
            <a:ext cx="2240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E6568"/>
                </a:solidFill>
                <a:latin typeface="Aptos"/>
              </a:rPr>
              <a:t>FEATURE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1A1F4-8EA1-F6C4-206C-1642A3A9ED86}"/>
              </a:ext>
            </a:extLst>
          </p:cNvPr>
          <p:cNvSpPr txBox="1"/>
          <p:nvPr/>
        </p:nvSpPr>
        <p:spPr>
          <a:xfrm>
            <a:off x="6035040" y="2749296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E6568"/>
                </a:solidFill>
                <a:latin typeface="Aptos"/>
              </a:rPr>
              <a:t>UNIT OF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BE409-E9B6-CF6F-77F7-7E475B79E63A}"/>
              </a:ext>
            </a:extLst>
          </p:cNvPr>
          <p:cNvSpPr txBox="1"/>
          <p:nvPr/>
        </p:nvSpPr>
        <p:spPr>
          <a:xfrm>
            <a:off x="10716768" y="2749296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E6568"/>
                </a:solidFill>
                <a:latin typeface="Aptos"/>
              </a:rPr>
              <a:t>ANALYTICAL TARGETS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A5846B8-9F09-5A3A-ACC9-8A6B56A86E1D}"/>
              </a:ext>
            </a:extLst>
          </p:cNvPr>
          <p:cNvSpPr/>
          <p:nvPr/>
        </p:nvSpPr>
        <p:spPr>
          <a:xfrm>
            <a:off x="2331720" y="3243072"/>
            <a:ext cx="30632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047FA7-F2FA-4EE5-C134-D31AF7166EBC}"/>
              </a:ext>
            </a:extLst>
          </p:cNvPr>
          <p:cNvSpPr/>
          <p:nvPr/>
        </p:nvSpPr>
        <p:spPr>
          <a:xfrm>
            <a:off x="2331720" y="3243072"/>
            <a:ext cx="64008" cy="640080"/>
          </a:xfrm>
          <a:prstGeom prst="rect">
            <a:avLst/>
          </a:prstGeom>
          <a:solidFill>
            <a:srgbClr val="CF9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50BF9-9FB6-EAA9-EF3A-1A8EE0618E28}"/>
              </a:ext>
            </a:extLst>
          </p:cNvPr>
          <p:cNvSpPr txBox="1"/>
          <p:nvPr/>
        </p:nvSpPr>
        <p:spPr>
          <a:xfrm>
            <a:off x="2487168" y="3334512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CF9724"/>
                </a:solidFill>
                <a:latin typeface="Apto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52EE9-AA05-B4D9-8478-55F002ECE15D}"/>
              </a:ext>
            </a:extLst>
          </p:cNvPr>
          <p:cNvSpPr txBox="1"/>
          <p:nvPr/>
        </p:nvSpPr>
        <p:spPr>
          <a:xfrm>
            <a:off x="2816352" y="3297936"/>
            <a:ext cx="2331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3140"/>
                </a:solidFill>
                <a:latin typeface="Aptos"/>
              </a:rPr>
              <a:t>Environmental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2B7D1-4490-3F2D-38DC-031EECFB0D07}"/>
              </a:ext>
            </a:extLst>
          </p:cNvPr>
          <p:cNvSpPr txBox="1"/>
          <p:nvPr/>
        </p:nvSpPr>
        <p:spPr>
          <a:xfrm>
            <a:off x="2816352" y="3553968"/>
            <a:ext cx="2331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68757A"/>
                </a:solidFill>
                <a:latin typeface="Aptos"/>
              </a:rPr>
              <a:t>Wind • Turbulence • Air Conditions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9FF667FC-004C-AF20-30BF-4AC10134A024}"/>
              </a:ext>
            </a:extLst>
          </p:cNvPr>
          <p:cNvSpPr/>
          <p:nvPr/>
        </p:nvSpPr>
        <p:spPr>
          <a:xfrm>
            <a:off x="2331720" y="4066032"/>
            <a:ext cx="30632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A445E8-D8EB-3602-459D-1733B91B1094}"/>
              </a:ext>
            </a:extLst>
          </p:cNvPr>
          <p:cNvSpPr/>
          <p:nvPr/>
        </p:nvSpPr>
        <p:spPr>
          <a:xfrm>
            <a:off x="2331720" y="4066032"/>
            <a:ext cx="64008" cy="640080"/>
          </a:xfrm>
          <a:prstGeom prst="rect">
            <a:avLst/>
          </a:prstGeom>
          <a:solidFill>
            <a:srgbClr val="CF9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8D5E4-FE6F-B03D-B1D8-0F0EA38B64BC}"/>
              </a:ext>
            </a:extLst>
          </p:cNvPr>
          <p:cNvSpPr txBox="1"/>
          <p:nvPr/>
        </p:nvSpPr>
        <p:spPr>
          <a:xfrm>
            <a:off x="2487168" y="4157472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CF9724"/>
                </a:solidFill>
                <a:latin typeface="Aptos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21F987-9615-DE34-9DC8-A5A6AC29E39A}"/>
              </a:ext>
            </a:extLst>
          </p:cNvPr>
          <p:cNvSpPr txBox="1"/>
          <p:nvPr/>
        </p:nvSpPr>
        <p:spPr>
          <a:xfrm>
            <a:off x="2816352" y="4120896"/>
            <a:ext cx="2331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3140"/>
                </a:solidFill>
                <a:latin typeface="Aptos"/>
              </a:rPr>
              <a:t>Operational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A7C6E-36A8-48E6-E87D-A35F4F779B6E}"/>
              </a:ext>
            </a:extLst>
          </p:cNvPr>
          <p:cNvSpPr txBox="1"/>
          <p:nvPr/>
        </p:nvSpPr>
        <p:spPr>
          <a:xfrm>
            <a:off x="2816352" y="4376928"/>
            <a:ext cx="2331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68757A"/>
                </a:solidFill>
                <a:latin typeface="Aptos"/>
              </a:rPr>
              <a:t>Power • Rotor • Availability • Curtailment</a:t>
            </a:r>
          </a:p>
        </p:txBody>
      </p:sp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CD4DC263-2C29-FEDD-CC5A-4EE343C401F4}"/>
              </a:ext>
            </a:extLst>
          </p:cNvPr>
          <p:cNvSpPr/>
          <p:nvPr/>
        </p:nvSpPr>
        <p:spPr>
          <a:xfrm>
            <a:off x="2331720" y="4888992"/>
            <a:ext cx="30632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442ED2-AE27-A7BE-C198-E007431F7361}"/>
              </a:ext>
            </a:extLst>
          </p:cNvPr>
          <p:cNvSpPr/>
          <p:nvPr/>
        </p:nvSpPr>
        <p:spPr>
          <a:xfrm>
            <a:off x="2331720" y="4888992"/>
            <a:ext cx="64008" cy="640080"/>
          </a:xfrm>
          <a:prstGeom prst="rect">
            <a:avLst/>
          </a:prstGeom>
          <a:solidFill>
            <a:srgbClr val="CF9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BEC359-E815-E90F-C32C-D1E5101117AF}"/>
              </a:ext>
            </a:extLst>
          </p:cNvPr>
          <p:cNvSpPr txBox="1"/>
          <p:nvPr/>
        </p:nvSpPr>
        <p:spPr>
          <a:xfrm>
            <a:off x="2487168" y="4980432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CF9724"/>
                </a:solidFill>
                <a:latin typeface="Aptos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E170BD-41CD-5D3E-A4BD-EABBFD049478}"/>
              </a:ext>
            </a:extLst>
          </p:cNvPr>
          <p:cNvSpPr txBox="1"/>
          <p:nvPr/>
        </p:nvSpPr>
        <p:spPr>
          <a:xfrm>
            <a:off x="2816352" y="4943856"/>
            <a:ext cx="2331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3140"/>
                </a:solidFill>
                <a:latin typeface="Aptos"/>
              </a:rPr>
              <a:t>Mechanical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6AADA5-1F93-B6CF-B871-C78539DBFC87}"/>
              </a:ext>
            </a:extLst>
          </p:cNvPr>
          <p:cNvSpPr txBox="1"/>
          <p:nvPr/>
        </p:nvSpPr>
        <p:spPr>
          <a:xfrm>
            <a:off x="2816352" y="5199888"/>
            <a:ext cx="2331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68757A"/>
                </a:solidFill>
                <a:latin typeface="Aptos"/>
              </a:rPr>
              <a:t>Yaw • Drivetrain Vibration</a:t>
            </a:r>
          </a:p>
        </p:txBody>
      </p: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41CC16F5-84F1-ADE9-DC6A-A88CDD4BD507}"/>
              </a:ext>
            </a:extLst>
          </p:cNvPr>
          <p:cNvSpPr/>
          <p:nvPr/>
        </p:nvSpPr>
        <p:spPr>
          <a:xfrm>
            <a:off x="2331720" y="5711952"/>
            <a:ext cx="30632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A84EA4-AB0D-6D28-70B0-6C05384A1914}"/>
              </a:ext>
            </a:extLst>
          </p:cNvPr>
          <p:cNvSpPr/>
          <p:nvPr/>
        </p:nvSpPr>
        <p:spPr>
          <a:xfrm>
            <a:off x="2331720" y="5711952"/>
            <a:ext cx="64008" cy="640080"/>
          </a:xfrm>
          <a:prstGeom prst="rect">
            <a:avLst/>
          </a:prstGeom>
          <a:solidFill>
            <a:srgbClr val="CF9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F743F7-F797-5C9B-EF81-CFBF45E41F79}"/>
              </a:ext>
            </a:extLst>
          </p:cNvPr>
          <p:cNvSpPr txBox="1"/>
          <p:nvPr/>
        </p:nvSpPr>
        <p:spPr>
          <a:xfrm>
            <a:off x="2487168" y="5803391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CF9724"/>
                </a:solidFill>
                <a:latin typeface="Aptos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4CCB16-DCAF-8C12-A8FB-EA08999EA961}"/>
              </a:ext>
            </a:extLst>
          </p:cNvPr>
          <p:cNvSpPr txBox="1"/>
          <p:nvPr/>
        </p:nvSpPr>
        <p:spPr>
          <a:xfrm>
            <a:off x="2816352" y="5766815"/>
            <a:ext cx="2331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3140"/>
                </a:solidFill>
                <a:latin typeface="Aptos"/>
              </a:rPr>
              <a:t>Thermal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897BBA-5C44-B536-9589-8943C93F8A41}"/>
              </a:ext>
            </a:extLst>
          </p:cNvPr>
          <p:cNvSpPr txBox="1"/>
          <p:nvPr/>
        </p:nvSpPr>
        <p:spPr>
          <a:xfrm>
            <a:off x="2816352" y="6022848"/>
            <a:ext cx="2331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68757A"/>
                </a:solidFill>
                <a:latin typeface="Aptos"/>
              </a:rPr>
              <a:t>Gearbox Temperature</a:t>
            </a:r>
          </a:p>
        </p:txBody>
      </p:sp>
      <p:sp>
        <p:nvSpPr>
          <p:cNvPr id="26" name="Rounded Rectangle 28">
            <a:extLst>
              <a:ext uri="{FF2B5EF4-FFF2-40B4-BE49-F238E27FC236}">
                <a16:creationId xmlns:a16="http://schemas.microsoft.com/office/drawing/2014/main" id="{F761019E-A216-B272-8832-B8ED1A5847D5}"/>
              </a:ext>
            </a:extLst>
          </p:cNvPr>
          <p:cNvSpPr/>
          <p:nvPr/>
        </p:nvSpPr>
        <p:spPr>
          <a:xfrm>
            <a:off x="2331720" y="6534912"/>
            <a:ext cx="30632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083947-63A9-B827-40E0-4412F51ECA61}"/>
              </a:ext>
            </a:extLst>
          </p:cNvPr>
          <p:cNvSpPr/>
          <p:nvPr/>
        </p:nvSpPr>
        <p:spPr>
          <a:xfrm>
            <a:off x="2331720" y="6534912"/>
            <a:ext cx="64008" cy="640080"/>
          </a:xfrm>
          <a:prstGeom prst="rect">
            <a:avLst/>
          </a:prstGeom>
          <a:solidFill>
            <a:srgbClr val="CF9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0C26C8-7857-0EC4-E870-B98FD0DBCBEB}"/>
              </a:ext>
            </a:extLst>
          </p:cNvPr>
          <p:cNvSpPr txBox="1"/>
          <p:nvPr/>
        </p:nvSpPr>
        <p:spPr>
          <a:xfrm>
            <a:off x="2487168" y="6626352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CF9724"/>
                </a:solidFill>
                <a:latin typeface="Aptos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997605-A688-1696-F80A-2C1EC72CE2DF}"/>
              </a:ext>
            </a:extLst>
          </p:cNvPr>
          <p:cNvSpPr txBox="1"/>
          <p:nvPr/>
        </p:nvSpPr>
        <p:spPr>
          <a:xfrm>
            <a:off x="2816352" y="6589776"/>
            <a:ext cx="2331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3140"/>
                </a:solidFill>
                <a:latin typeface="Aptos"/>
              </a:rPr>
              <a:t>Asset &amp; Time Context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D32E19-E749-0265-8FCE-7C7B4890E04B}"/>
              </a:ext>
            </a:extLst>
          </p:cNvPr>
          <p:cNvSpPr txBox="1"/>
          <p:nvPr/>
        </p:nvSpPr>
        <p:spPr>
          <a:xfrm>
            <a:off x="2816352" y="6845808"/>
            <a:ext cx="2331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68757A"/>
                </a:solidFill>
                <a:latin typeface="Aptos"/>
              </a:rPr>
              <a:t>Turbine • Model • Farm • Region • Timestamp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3CA4676-88F2-2628-5494-9C2577A9E20E}"/>
              </a:ext>
            </a:extLst>
          </p:cNvPr>
          <p:cNvSpPr/>
          <p:nvPr/>
        </p:nvSpPr>
        <p:spPr>
          <a:xfrm>
            <a:off x="5925312" y="3544823"/>
            <a:ext cx="3127248" cy="3127248"/>
          </a:xfrm>
          <a:prstGeom prst="ellipse">
            <a:avLst/>
          </a:prstGeom>
          <a:solidFill>
            <a:srgbClr val="F8F2E1"/>
          </a:solidFill>
          <a:ln w="27940">
            <a:solidFill>
              <a:srgbClr val="CF9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C57FAC-7A63-5B80-5FED-80BE6A1DDF7C}"/>
              </a:ext>
            </a:extLst>
          </p:cNvPr>
          <p:cNvSpPr/>
          <p:nvPr/>
        </p:nvSpPr>
        <p:spPr>
          <a:xfrm>
            <a:off x="6185916" y="3773424"/>
            <a:ext cx="2670048" cy="2670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D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686773C-BE53-F6E9-0351-3C7CDFF4CF5C}"/>
              </a:ext>
            </a:extLst>
          </p:cNvPr>
          <p:cNvSpPr/>
          <p:nvPr/>
        </p:nvSpPr>
        <p:spPr>
          <a:xfrm>
            <a:off x="7351776" y="4669536"/>
            <a:ext cx="329184" cy="1024128"/>
          </a:xfrm>
          <a:prstGeom prst="triangl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93BBDDA-4765-E246-34C3-3DCB4DAF7548}"/>
              </a:ext>
            </a:extLst>
          </p:cNvPr>
          <p:cNvSpPr/>
          <p:nvPr/>
        </p:nvSpPr>
        <p:spPr>
          <a:xfrm>
            <a:off x="7434072" y="4468368"/>
            <a:ext cx="164592" cy="164592"/>
          </a:xfrm>
          <a:prstGeom prst="ellips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4435D93-F91C-BFF7-3F21-BD1F3F16856B}"/>
              </a:ext>
            </a:extLst>
          </p:cNvPr>
          <p:cNvSpPr/>
          <p:nvPr/>
        </p:nvSpPr>
        <p:spPr>
          <a:xfrm>
            <a:off x="7452360" y="3956304"/>
            <a:ext cx="118872" cy="566928"/>
          </a:xfrm>
          <a:prstGeom prst="triangl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CB25A447-1510-E4B1-AFF9-D5BC2AE8A7AE}"/>
              </a:ext>
            </a:extLst>
          </p:cNvPr>
          <p:cNvSpPr/>
          <p:nvPr/>
        </p:nvSpPr>
        <p:spPr>
          <a:xfrm rot="7200000">
            <a:off x="7452360" y="3956304"/>
            <a:ext cx="118872" cy="566928"/>
          </a:xfrm>
          <a:prstGeom prst="triangl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1BE51954-3262-D7B8-8494-89BC1348EE72}"/>
              </a:ext>
            </a:extLst>
          </p:cNvPr>
          <p:cNvSpPr/>
          <p:nvPr/>
        </p:nvSpPr>
        <p:spPr>
          <a:xfrm rot="14400000">
            <a:off x="7452360" y="3956304"/>
            <a:ext cx="118872" cy="566928"/>
          </a:xfrm>
          <a:prstGeom prst="triangl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45101C-CBEA-0631-5400-9BF869B08EA2}"/>
              </a:ext>
            </a:extLst>
          </p:cNvPr>
          <p:cNvSpPr txBox="1"/>
          <p:nvPr/>
        </p:nvSpPr>
        <p:spPr>
          <a:xfrm>
            <a:off x="6428232" y="5757672"/>
            <a:ext cx="213969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0A2A40"/>
                </a:solidFill>
                <a:latin typeface="Aptos"/>
              </a:rPr>
              <a:t>WIND TURBINE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88464F-A0C5-CFF1-726F-5157278FC47F}"/>
              </a:ext>
            </a:extLst>
          </p:cNvPr>
          <p:cNvSpPr txBox="1"/>
          <p:nvPr/>
        </p:nvSpPr>
        <p:spPr>
          <a:xfrm>
            <a:off x="6414516" y="5986272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9" b="0">
                <a:solidFill>
                  <a:srgbClr val="68757A"/>
                </a:solidFill>
                <a:latin typeface="Aptos"/>
              </a:rPr>
              <a:t>One turbine / operating interval</a:t>
            </a:r>
          </a:p>
        </p:txBody>
      </p:sp>
      <p:cxnSp>
        <p:nvCxnSpPr>
          <p:cNvPr id="41" name="Connector 43">
            <a:extLst>
              <a:ext uri="{FF2B5EF4-FFF2-40B4-BE49-F238E27FC236}">
                <a16:creationId xmlns:a16="http://schemas.microsoft.com/office/drawing/2014/main" id="{E2F40072-BCFF-9235-BF5E-6009476FE14E}"/>
              </a:ext>
            </a:extLst>
          </p:cNvPr>
          <p:cNvCxnSpPr/>
          <p:nvPr/>
        </p:nvCxnSpPr>
        <p:spPr>
          <a:xfrm>
            <a:off x="5394960" y="3563111"/>
            <a:ext cx="594360" cy="1536193"/>
          </a:xfrm>
          <a:prstGeom prst="line">
            <a:avLst/>
          </a:prstGeom>
          <a:ln w="1905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4">
            <a:extLst>
              <a:ext uri="{FF2B5EF4-FFF2-40B4-BE49-F238E27FC236}">
                <a16:creationId xmlns:a16="http://schemas.microsoft.com/office/drawing/2014/main" id="{93BAC950-D1A9-6942-5FC8-AC55C49FE7DA}"/>
              </a:ext>
            </a:extLst>
          </p:cNvPr>
          <p:cNvCxnSpPr/>
          <p:nvPr/>
        </p:nvCxnSpPr>
        <p:spPr>
          <a:xfrm>
            <a:off x="5394960" y="4386072"/>
            <a:ext cx="594360" cy="713232"/>
          </a:xfrm>
          <a:prstGeom prst="line">
            <a:avLst/>
          </a:prstGeom>
          <a:ln w="1905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5">
            <a:extLst>
              <a:ext uri="{FF2B5EF4-FFF2-40B4-BE49-F238E27FC236}">
                <a16:creationId xmlns:a16="http://schemas.microsoft.com/office/drawing/2014/main" id="{9191E316-1521-526B-3DC0-EF66D5CFF966}"/>
              </a:ext>
            </a:extLst>
          </p:cNvPr>
          <p:cNvCxnSpPr/>
          <p:nvPr/>
        </p:nvCxnSpPr>
        <p:spPr>
          <a:xfrm flipV="1">
            <a:off x="5394960" y="5099304"/>
            <a:ext cx="594360" cy="109728"/>
          </a:xfrm>
          <a:prstGeom prst="line">
            <a:avLst/>
          </a:prstGeom>
          <a:ln w="1905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6">
            <a:extLst>
              <a:ext uri="{FF2B5EF4-FFF2-40B4-BE49-F238E27FC236}">
                <a16:creationId xmlns:a16="http://schemas.microsoft.com/office/drawing/2014/main" id="{69412B35-846B-9DEF-E408-B9311F9257E7}"/>
              </a:ext>
            </a:extLst>
          </p:cNvPr>
          <p:cNvCxnSpPr/>
          <p:nvPr/>
        </p:nvCxnSpPr>
        <p:spPr>
          <a:xfrm flipV="1">
            <a:off x="5394960" y="5099304"/>
            <a:ext cx="594360" cy="932688"/>
          </a:xfrm>
          <a:prstGeom prst="line">
            <a:avLst/>
          </a:prstGeom>
          <a:ln w="1905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7">
            <a:extLst>
              <a:ext uri="{FF2B5EF4-FFF2-40B4-BE49-F238E27FC236}">
                <a16:creationId xmlns:a16="http://schemas.microsoft.com/office/drawing/2014/main" id="{1FCBDA58-7691-FA3B-ACD8-6A0E3AA3717E}"/>
              </a:ext>
            </a:extLst>
          </p:cNvPr>
          <p:cNvCxnSpPr/>
          <p:nvPr/>
        </p:nvCxnSpPr>
        <p:spPr>
          <a:xfrm flipV="1">
            <a:off x="5394960" y="5099304"/>
            <a:ext cx="594360" cy="1755648"/>
          </a:xfrm>
          <a:prstGeom prst="line">
            <a:avLst/>
          </a:prstGeom>
          <a:ln w="1905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8">
            <a:extLst>
              <a:ext uri="{FF2B5EF4-FFF2-40B4-BE49-F238E27FC236}">
                <a16:creationId xmlns:a16="http://schemas.microsoft.com/office/drawing/2014/main" id="{C4799719-DB5A-E205-4F93-F26166681C3F}"/>
              </a:ext>
            </a:extLst>
          </p:cNvPr>
          <p:cNvSpPr/>
          <p:nvPr/>
        </p:nvSpPr>
        <p:spPr>
          <a:xfrm>
            <a:off x="10378440" y="3361944"/>
            <a:ext cx="3127248" cy="1572768"/>
          </a:xfrm>
          <a:prstGeom prst="roundRect">
            <a:avLst/>
          </a:prstGeom>
          <a:solidFill>
            <a:srgbClr val="E8F3ED"/>
          </a:solidFill>
          <a:ln w="15240">
            <a:solidFill>
              <a:srgbClr val="0E6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9">
            <a:extLst>
              <a:ext uri="{FF2B5EF4-FFF2-40B4-BE49-F238E27FC236}">
                <a16:creationId xmlns:a16="http://schemas.microsoft.com/office/drawing/2014/main" id="{05DD0359-770A-E0BB-1690-AD145AABDB66}"/>
              </a:ext>
            </a:extLst>
          </p:cNvPr>
          <p:cNvSpPr/>
          <p:nvPr/>
        </p:nvSpPr>
        <p:spPr>
          <a:xfrm>
            <a:off x="10378440" y="3361944"/>
            <a:ext cx="1051560" cy="329184"/>
          </a:xfrm>
          <a:prstGeom prst="roundRect">
            <a:avLst/>
          </a:prstGeom>
          <a:solidFill>
            <a:srgbClr val="0E6568"/>
          </a:solidFill>
          <a:ln w="15240">
            <a:solidFill>
              <a:srgbClr val="0E6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AE0EE0-215D-13BC-5FFC-BA43ADC865FA}"/>
              </a:ext>
            </a:extLst>
          </p:cNvPr>
          <p:cNvSpPr txBox="1"/>
          <p:nvPr/>
        </p:nvSpPr>
        <p:spPr>
          <a:xfrm>
            <a:off x="10488168" y="338937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TARGET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73A71B-FA07-3B08-F252-560840E483C0}"/>
              </a:ext>
            </a:extLst>
          </p:cNvPr>
          <p:cNvSpPr txBox="1"/>
          <p:nvPr/>
        </p:nvSpPr>
        <p:spPr>
          <a:xfrm>
            <a:off x="10716768" y="3782568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2A40"/>
                </a:solidFill>
                <a:latin typeface="Aptos"/>
              </a:rPr>
              <a:t>Expected Power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2E84B5-6B69-D49A-82F2-084B099ACD7B}"/>
              </a:ext>
            </a:extLst>
          </p:cNvPr>
          <p:cNvSpPr txBox="1"/>
          <p:nvPr/>
        </p:nvSpPr>
        <p:spPr>
          <a:xfrm>
            <a:off x="10716768" y="4413504"/>
            <a:ext cx="2468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0E6568"/>
                </a:solidFill>
                <a:latin typeface="Aptos"/>
              </a:rPr>
              <a:t>Regression</a:t>
            </a:r>
          </a:p>
        </p:txBody>
      </p:sp>
      <p:sp>
        <p:nvSpPr>
          <p:cNvPr id="52" name="Rounded Rectangle 54">
            <a:extLst>
              <a:ext uri="{FF2B5EF4-FFF2-40B4-BE49-F238E27FC236}">
                <a16:creationId xmlns:a16="http://schemas.microsoft.com/office/drawing/2014/main" id="{74BAE0E3-FACC-C7AC-20E6-5901DE9AA731}"/>
              </a:ext>
            </a:extLst>
          </p:cNvPr>
          <p:cNvSpPr/>
          <p:nvPr/>
        </p:nvSpPr>
        <p:spPr>
          <a:xfrm>
            <a:off x="10378440" y="5373624"/>
            <a:ext cx="3127248" cy="1572768"/>
          </a:xfrm>
          <a:prstGeom prst="roundRect">
            <a:avLst/>
          </a:prstGeom>
          <a:solidFill>
            <a:srgbClr val="E8F1F9"/>
          </a:solidFill>
          <a:ln w="15240">
            <a:solidFill>
              <a:srgbClr val="1F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5">
            <a:extLst>
              <a:ext uri="{FF2B5EF4-FFF2-40B4-BE49-F238E27FC236}">
                <a16:creationId xmlns:a16="http://schemas.microsoft.com/office/drawing/2014/main" id="{045E6EFF-3D13-E55B-72F9-D07378001F86}"/>
              </a:ext>
            </a:extLst>
          </p:cNvPr>
          <p:cNvSpPr/>
          <p:nvPr/>
        </p:nvSpPr>
        <p:spPr>
          <a:xfrm>
            <a:off x="10378440" y="5373624"/>
            <a:ext cx="1051560" cy="329184"/>
          </a:xfrm>
          <a:prstGeom prst="roundRect">
            <a:avLst/>
          </a:prstGeom>
          <a:solidFill>
            <a:srgbClr val="1F5B91"/>
          </a:solidFill>
          <a:ln w="15240">
            <a:solidFill>
              <a:srgbClr val="1F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AAF3F-247D-853F-E1C5-EAC5996576D2}"/>
              </a:ext>
            </a:extLst>
          </p:cNvPr>
          <p:cNvSpPr txBox="1"/>
          <p:nvPr/>
        </p:nvSpPr>
        <p:spPr>
          <a:xfrm>
            <a:off x="10488168" y="540105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TARGET 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6A31AC-30B8-5336-9F20-D823CD69CD44}"/>
              </a:ext>
            </a:extLst>
          </p:cNvPr>
          <p:cNvSpPr txBox="1"/>
          <p:nvPr/>
        </p:nvSpPr>
        <p:spPr>
          <a:xfrm>
            <a:off x="10698480" y="5794248"/>
            <a:ext cx="2514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2A40"/>
                </a:solidFill>
                <a:latin typeface="Aptos"/>
              </a:rPr>
              <a:t>Underperformance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22E2D2-74ED-41C7-3B20-EFBBA626953F}"/>
              </a:ext>
            </a:extLst>
          </p:cNvPr>
          <p:cNvSpPr txBox="1"/>
          <p:nvPr/>
        </p:nvSpPr>
        <p:spPr>
          <a:xfrm>
            <a:off x="10716768" y="6425184"/>
            <a:ext cx="2468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1F5B91"/>
                </a:solidFill>
                <a:latin typeface="Aptos"/>
              </a:rPr>
              <a:t>Classification</a:t>
            </a:r>
          </a:p>
        </p:txBody>
      </p:sp>
      <p:cxnSp>
        <p:nvCxnSpPr>
          <p:cNvPr id="58" name="Connector 60">
            <a:extLst>
              <a:ext uri="{FF2B5EF4-FFF2-40B4-BE49-F238E27FC236}">
                <a16:creationId xmlns:a16="http://schemas.microsoft.com/office/drawing/2014/main" id="{93E01832-0F43-4B46-5F5E-9A6F087F1BF2}"/>
              </a:ext>
            </a:extLst>
          </p:cNvPr>
          <p:cNvCxnSpPr/>
          <p:nvPr/>
        </p:nvCxnSpPr>
        <p:spPr>
          <a:xfrm flipV="1">
            <a:off x="8942832" y="4120896"/>
            <a:ext cx="1371600" cy="384048"/>
          </a:xfrm>
          <a:prstGeom prst="line">
            <a:avLst/>
          </a:prstGeom>
          <a:ln w="3810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61">
            <a:extLst>
              <a:ext uri="{FF2B5EF4-FFF2-40B4-BE49-F238E27FC236}">
                <a16:creationId xmlns:a16="http://schemas.microsoft.com/office/drawing/2014/main" id="{41C35696-C0F5-0F49-103D-1CF636125F98}"/>
              </a:ext>
            </a:extLst>
          </p:cNvPr>
          <p:cNvCxnSpPr/>
          <p:nvPr/>
        </p:nvCxnSpPr>
        <p:spPr>
          <a:xfrm>
            <a:off x="8942832" y="5529072"/>
            <a:ext cx="1371600" cy="640080"/>
          </a:xfrm>
          <a:prstGeom prst="line">
            <a:avLst/>
          </a:prstGeom>
          <a:ln w="38100">
            <a:solidFill>
              <a:srgbClr val="1F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76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" y="0"/>
            <a:ext cx="16255593" cy="999744"/>
          </a:xfrm>
          <a:prstGeom prst="rect">
            <a:avLst/>
          </a:prstGeom>
          <a:solidFill>
            <a:srgbClr val="0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525050" y="42893"/>
            <a:ext cx="8495146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AI Solution Deployment &amp; Operationalization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7242" y="552374"/>
            <a:ext cx="6185476" cy="2851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3">
                <a:solidFill>
                  <a:srgbClr val="D5E3E7"/>
                </a:solidFill>
                <a:latin typeface="Aptos"/>
              </a:rPr>
              <a:t>From turbine data to production AI, operational decisions and continuous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51290" y="146304"/>
            <a:ext cx="3352800" cy="609600"/>
          </a:xfrm>
          <a:prstGeom prst="roundRect">
            <a:avLst/>
          </a:prstGeom>
          <a:solidFill>
            <a:srgbClr val="F9F3E3"/>
          </a:solidFill>
          <a:ln w="12700">
            <a:solidFill>
              <a:srgbClr val="CC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2747533" y="186672"/>
            <a:ext cx="2560316" cy="272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73" b="1">
                <a:solidFill>
                  <a:srgbClr val="CC972D"/>
                </a:solidFill>
                <a:latin typeface="Aptos"/>
              </a:rPr>
              <a:t>PROPOSED: HYBRID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19053" y="415481"/>
            <a:ext cx="2217274" cy="2297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93">
                <a:solidFill>
                  <a:srgbClr val="1C3340"/>
                </a:solidFill>
                <a:latin typeface="Aptos"/>
              </a:rPr>
              <a:t>Subject to IT/OT &amp; cybersecurity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818" y="1126273"/>
            <a:ext cx="26379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E6568"/>
                </a:solidFill>
                <a:latin typeface="Aptos"/>
              </a:rPr>
              <a:t>PRODUCTION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010" y="1548384"/>
            <a:ext cx="2072640" cy="1121664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0E6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873471" y="1624220"/>
            <a:ext cx="1497718" cy="482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67" b="1">
                <a:solidFill>
                  <a:srgbClr val="092743"/>
                </a:solidFill>
                <a:latin typeface="Aptos"/>
              </a:rPr>
              <a:t>TURBINE / SCADA
&amp;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577" y="2196447"/>
            <a:ext cx="1699503" cy="2400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">
                <a:solidFill>
                  <a:srgbClr val="5B6971"/>
                </a:solidFill>
                <a:latin typeface="Aptos"/>
              </a:rPr>
              <a:t>Operational + condition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24410" y="1548384"/>
            <a:ext cx="1889760" cy="1121664"/>
          </a:xfrm>
          <a:prstGeom prst="roundRect">
            <a:avLst/>
          </a:prstGeom>
          <a:solidFill>
            <a:srgbClr val="E9F1F8"/>
          </a:solidFill>
          <a:ln w="12700">
            <a:solidFill>
              <a:srgbClr val="27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312829" y="1721715"/>
            <a:ext cx="1312924" cy="2873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67" b="1">
                <a:solidFill>
                  <a:srgbClr val="092743"/>
                </a:solidFill>
                <a:latin typeface="Aptos"/>
              </a:rPr>
              <a:t>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8236" y="2196447"/>
            <a:ext cx="1382109" cy="2400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">
                <a:solidFill>
                  <a:srgbClr val="5B6971"/>
                </a:solidFill>
                <a:latin typeface="Aptos"/>
              </a:rPr>
              <a:t>OPC-UA • MQTT • API*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2122" y="1548384"/>
            <a:ext cx="2170176" cy="1121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923977" y="1624220"/>
            <a:ext cx="906467" cy="482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67" b="1">
                <a:solidFill>
                  <a:srgbClr val="092743"/>
                </a:solidFill>
                <a:latin typeface="Aptos"/>
              </a:rPr>
              <a:t>INGEST &amp;
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3413" y="2196447"/>
            <a:ext cx="1747594" cy="2400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">
                <a:solidFill>
                  <a:srgbClr val="5B6971"/>
                </a:solidFill>
                <a:latin typeface="Aptos"/>
              </a:rPr>
              <a:t>Quality • Transform •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0250" y="1548384"/>
            <a:ext cx="2133600" cy="1121664"/>
          </a:xfrm>
          <a:prstGeom prst="roundRect">
            <a:avLst/>
          </a:prstGeom>
          <a:solidFill>
            <a:srgbClr val="F9F3E3"/>
          </a:solidFill>
          <a:ln w="12700">
            <a:solidFill>
              <a:srgbClr val="CC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207532" y="1721714"/>
            <a:ext cx="1399036" cy="2873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67" b="1">
                <a:solidFill>
                  <a:srgbClr val="092743"/>
                </a:solidFill>
                <a:latin typeface="Aptos"/>
              </a:rPr>
              <a:t>DATA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9779" y="2196447"/>
            <a:ext cx="1614545" cy="2400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">
                <a:solidFill>
                  <a:srgbClr val="5B6971"/>
                </a:solidFill>
                <a:latin typeface="Aptos"/>
              </a:rPr>
              <a:t>Historical + streaming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51802" y="1548384"/>
            <a:ext cx="2340864" cy="1121664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0E6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10923865" y="1721715"/>
            <a:ext cx="1196738" cy="2873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67" b="1">
                <a:solidFill>
                  <a:srgbClr val="092743"/>
                </a:solidFill>
                <a:latin typeface="Aptos"/>
              </a:rPr>
              <a:t>AI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56266" y="2122581"/>
            <a:ext cx="1931939" cy="3877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">
                <a:solidFill>
                  <a:srgbClr val="5B6971"/>
                </a:solidFill>
                <a:latin typeface="Aptos"/>
              </a:rPr>
              <a:t>Expected Power
Underperformance • Diagnostics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070618" y="1548384"/>
            <a:ext cx="2560320" cy="1121664"/>
          </a:xfrm>
          <a:prstGeom prst="roundRect">
            <a:avLst/>
          </a:prstGeom>
          <a:solidFill>
            <a:srgbClr val="E9F1F8"/>
          </a:solidFill>
          <a:ln w="12700">
            <a:solidFill>
              <a:srgbClr val="27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13560369" y="1721715"/>
            <a:ext cx="1580817" cy="2873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67" b="1">
                <a:solidFill>
                  <a:srgbClr val="092743"/>
                </a:solidFill>
                <a:latin typeface="Aptos"/>
              </a:rPr>
              <a:t>OPERATIONAL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7094" y="2122581"/>
            <a:ext cx="1627369" cy="3877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">
                <a:solidFill>
                  <a:srgbClr val="5B6971"/>
                </a:solidFill>
                <a:latin typeface="Aptos"/>
              </a:rPr>
              <a:t>API • Dashboard • Alerts
O&amp;M / Technician workflow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5226" y="2109216"/>
            <a:ext cx="268225" cy="0"/>
          </a:xfrm>
          <a:prstGeom prst="line">
            <a:avLst/>
          </a:prstGeom>
          <a:ln w="2286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50746" y="2109216"/>
            <a:ext cx="280416" cy="0"/>
          </a:xfrm>
          <a:prstGeom prst="line">
            <a:avLst/>
          </a:prstGeom>
          <a:ln w="2286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98874" y="2109216"/>
            <a:ext cx="280416" cy="0"/>
          </a:xfrm>
          <a:prstGeom prst="line">
            <a:avLst/>
          </a:prstGeom>
          <a:ln w="22860">
            <a:solidFill>
              <a:srgbClr val="CC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010426" y="2109216"/>
            <a:ext cx="280417" cy="0"/>
          </a:xfrm>
          <a:prstGeom prst="line">
            <a:avLst/>
          </a:prstGeom>
          <a:ln w="22860">
            <a:solidFill>
              <a:srgbClr val="CC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729242" y="2109216"/>
            <a:ext cx="280416" cy="0"/>
          </a:xfrm>
          <a:prstGeom prst="line">
            <a:avLst/>
          </a:prstGeom>
          <a:ln w="22860">
            <a:solidFill>
              <a:srgbClr val="0E6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495255" y="2876123"/>
            <a:ext cx="3676006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75C91"/>
                </a:solidFill>
                <a:latin typeface="Aptos"/>
              </a:rPr>
              <a:t>Technician / maintenance outcomes → monitoring &amp;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395" y="2893475"/>
            <a:ext cx="4961615" cy="2358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3">
                <a:solidFill>
                  <a:srgbClr val="5B6971"/>
                </a:solidFill>
                <a:latin typeface="Aptos"/>
              </a:rPr>
              <a:t>*Integration options shown; final protocols/platform depend on ACWA production standards.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818" y="3369601"/>
            <a:ext cx="324781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E6568"/>
                </a:solidFill>
                <a:latin typeface="Aptos"/>
              </a:rPr>
              <a:t>DEPLOYMENT LIFECYCLE &amp; CONTROL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202" y="3755137"/>
            <a:ext cx="2145792" cy="1377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Oval 36"/>
          <p:cNvSpPr/>
          <p:nvPr/>
        </p:nvSpPr>
        <p:spPr>
          <a:xfrm>
            <a:off x="695737" y="3889248"/>
            <a:ext cx="414528" cy="414528"/>
          </a:xfrm>
          <a:prstGeom prst="ellips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776203" y="3948024"/>
            <a:ext cx="253595" cy="2482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13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3418" y="3852457"/>
            <a:ext cx="842090" cy="28084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25" b="1">
                <a:solidFill>
                  <a:srgbClr val="092743"/>
                </a:solidFill>
                <a:latin typeface="Aptos"/>
              </a:rPr>
              <a:t>PREPARE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979" y="4392280"/>
            <a:ext cx="1664237" cy="3838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47">
                <a:solidFill>
                  <a:srgbClr val="5B6971"/>
                </a:solidFill>
                <a:latin typeface="Aptos"/>
              </a:rPr>
              <a:t>Owner • SMEs • KPIs
Data &amp; integration readiness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56186" y="4437888"/>
            <a:ext cx="304801" cy="0"/>
          </a:xfrm>
          <a:prstGeom prst="line">
            <a:avLst/>
          </a:prstGeom>
          <a:ln w="17780">
            <a:solidFill>
              <a:srgbClr val="CC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121946" y="3755137"/>
            <a:ext cx="2145792" cy="1377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Oval 42"/>
          <p:cNvSpPr/>
          <p:nvPr/>
        </p:nvSpPr>
        <p:spPr>
          <a:xfrm>
            <a:off x="3219482" y="3889248"/>
            <a:ext cx="414528" cy="414528"/>
          </a:xfrm>
          <a:prstGeom prst="ellipse">
            <a:avLst/>
          </a:prstGeom>
          <a:solidFill>
            <a:srgbClr val="27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3299948" y="3948024"/>
            <a:ext cx="253595" cy="2482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13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7163" y="3852457"/>
            <a:ext cx="866263" cy="28084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25" b="1">
                <a:solidFill>
                  <a:srgbClr val="092743"/>
                </a:solidFill>
                <a:latin typeface="Aptos"/>
              </a:rPr>
              <a:t>VALIDATE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94972" y="4392280"/>
            <a:ext cx="1399742" cy="3838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47">
                <a:solidFill>
                  <a:srgbClr val="5B6971"/>
                </a:solidFill>
                <a:latin typeface="Aptos"/>
              </a:rPr>
              <a:t>Model • Data • Security
User acceptance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279930" y="4437888"/>
            <a:ext cx="304800" cy="0"/>
          </a:xfrm>
          <a:prstGeom prst="line">
            <a:avLst/>
          </a:prstGeom>
          <a:ln w="17780">
            <a:solidFill>
              <a:srgbClr val="CC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645690" y="3755137"/>
            <a:ext cx="2145792" cy="1377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Oval 48"/>
          <p:cNvSpPr/>
          <p:nvPr/>
        </p:nvSpPr>
        <p:spPr>
          <a:xfrm>
            <a:off x="5743226" y="3889248"/>
            <a:ext cx="414528" cy="414528"/>
          </a:xfrm>
          <a:prstGeom prst="ellips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5823692" y="3948024"/>
            <a:ext cx="253595" cy="2482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13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0905" y="3852457"/>
            <a:ext cx="758734" cy="28084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25" b="1">
                <a:solidFill>
                  <a:srgbClr val="092743"/>
                </a:solidFill>
                <a:latin typeface="Aptos"/>
              </a:rPr>
              <a:t>DEPLOY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42760" y="4392280"/>
            <a:ext cx="1351652" cy="3838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47">
                <a:solidFill>
                  <a:srgbClr val="5B6971"/>
                </a:solidFill>
                <a:latin typeface="Aptos"/>
              </a:rPr>
              <a:t>Controlled release
Production integration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803674" y="4437888"/>
            <a:ext cx="304800" cy="0"/>
          </a:xfrm>
          <a:prstGeom prst="line">
            <a:avLst/>
          </a:prstGeom>
          <a:ln w="17780">
            <a:solidFill>
              <a:srgbClr val="CC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169434" y="3755137"/>
            <a:ext cx="2145792" cy="1377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Oval 54"/>
          <p:cNvSpPr/>
          <p:nvPr/>
        </p:nvSpPr>
        <p:spPr>
          <a:xfrm>
            <a:off x="8266970" y="3889248"/>
            <a:ext cx="414528" cy="414528"/>
          </a:xfrm>
          <a:prstGeom prst="ellipse">
            <a:avLst/>
          </a:prstGeom>
          <a:solidFill>
            <a:srgbClr val="27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8347436" y="3948024"/>
            <a:ext cx="253595" cy="2482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13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54651" y="3852457"/>
            <a:ext cx="681725" cy="28084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25" b="1">
                <a:solidFill>
                  <a:srgbClr val="092743"/>
                </a:solidFill>
                <a:latin typeface="Aptos"/>
              </a:rPr>
              <a:t>ADOPT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21808" y="4392280"/>
            <a:ext cx="1241045" cy="3838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47">
                <a:solidFill>
                  <a:srgbClr val="5B6971"/>
                </a:solidFill>
                <a:latin typeface="Aptos"/>
              </a:rPr>
              <a:t>Training • Alerts
Escalation workflow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327418" y="4437888"/>
            <a:ext cx="304800" cy="0"/>
          </a:xfrm>
          <a:prstGeom prst="line">
            <a:avLst/>
          </a:prstGeom>
          <a:ln w="17780">
            <a:solidFill>
              <a:srgbClr val="CC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0693178" y="3755137"/>
            <a:ext cx="2145792" cy="1377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Oval 60"/>
          <p:cNvSpPr/>
          <p:nvPr/>
        </p:nvSpPr>
        <p:spPr>
          <a:xfrm>
            <a:off x="10790714" y="3889248"/>
            <a:ext cx="414528" cy="414528"/>
          </a:xfrm>
          <a:prstGeom prst="ellipse">
            <a:avLst/>
          </a:prstGeom>
          <a:solidFill>
            <a:srgbClr val="0E6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10871180" y="3948024"/>
            <a:ext cx="253595" cy="2482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13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78394" y="3852457"/>
            <a:ext cx="879984" cy="28084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25" b="1">
                <a:solidFill>
                  <a:srgbClr val="092743"/>
                </a:solidFill>
                <a:latin typeface="Aptos"/>
              </a:rPr>
              <a:t>MONITOR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58188" y="4392280"/>
            <a:ext cx="1415772" cy="3838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47">
                <a:solidFill>
                  <a:srgbClr val="5B6971"/>
                </a:solidFill>
                <a:latin typeface="Aptos"/>
              </a:rPr>
              <a:t>Accuracy • Drift • Data
System + business KPIs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2851162" y="4437888"/>
            <a:ext cx="304800" cy="0"/>
          </a:xfrm>
          <a:prstGeom prst="line">
            <a:avLst/>
          </a:prstGeom>
          <a:ln w="17780">
            <a:solidFill>
              <a:srgbClr val="CC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3216922" y="3755137"/>
            <a:ext cx="2145792" cy="1377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Oval 66"/>
          <p:cNvSpPr/>
          <p:nvPr/>
        </p:nvSpPr>
        <p:spPr>
          <a:xfrm>
            <a:off x="13314458" y="3889248"/>
            <a:ext cx="414528" cy="414528"/>
          </a:xfrm>
          <a:prstGeom prst="ellipse">
            <a:avLst/>
          </a:prstGeom>
          <a:solidFill>
            <a:srgbClr val="27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13394924" y="3948024"/>
            <a:ext cx="253595" cy="2482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13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802139" y="3852457"/>
            <a:ext cx="849335" cy="28084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25" b="1">
                <a:solidFill>
                  <a:srgbClr val="092743"/>
                </a:solidFill>
                <a:latin typeface="Aptos"/>
              </a:rPr>
              <a:t>IMPROVE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680517" y="4392280"/>
            <a:ext cx="1218602" cy="3838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47">
                <a:solidFill>
                  <a:srgbClr val="5B6971"/>
                </a:solidFill>
                <a:latin typeface="Aptos"/>
              </a:rPr>
              <a:t>Retrain • Revalidate
Redeploy / retire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3819" y="5430049"/>
            <a:ext cx="326095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E6568"/>
                </a:solidFill>
                <a:latin typeface="Aptos"/>
              </a:rPr>
              <a:t>BUSINESS READINESS &amp; OWNERSHIP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8202" y="5827777"/>
            <a:ext cx="7254240" cy="1389887"/>
          </a:xfrm>
          <a:prstGeom prst="roundRect">
            <a:avLst/>
          </a:prstGeom>
          <a:solidFill>
            <a:srgbClr val="F9F3E3"/>
          </a:solidFill>
          <a:ln w="12700">
            <a:solidFill>
              <a:srgbClr val="CC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829851" y="5953430"/>
            <a:ext cx="2920095" cy="2851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3" b="1">
                <a:solidFill>
                  <a:srgbClr val="CC972D"/>
                </a:solidFill>
                <a:latin typeface="Aptos"/>
              </a:rPr>
              <a:t>WHAT WE NEED FROM THE BUSINESS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9850" y="6364504"/>
            <a:ext cx="5452134" cy="572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40" dirty="0">
                <a:solidFill>
                  <a:srgbClr val="1C3340"/>
                </a:solidFill>
                <a:latin typeface="Aptos"/>
              </a:rPr>
              <a:t>Business owner &amp; SMEs • Production data access • KPI / acceptance thresholds</a:t>
            </a:r>
            <a:endParaRPr lang="en-US" sz="1040" dirty="0">
              <a:solidFill>
                <a:srgbClr val="1C3340"/>
              </a:solidFill>
              <a:latin typeface="Aptos"/>
            </a:endParaRPr>
          </a:p>
          <a:p>
            <a:pPr algn="l"/>
            <a:r>
              <a:rPr sz="1040" dirty="0">
                <a:solidFill>
                  <a:srgbClr val="1C3340"/>
                </a:solidFill>
                <a:latin typeface="Aptos"/>
              </a:rPr>
              <a:t> • Operational workflows • Alert &amp; escalation rules • IT/OT &amp; cyber requirements • User roles</a:t>
            </a:r>
            <a:endParaRPr lang="en-US" sz="1040" dirty="0">
              <a:solidFill>
                <a:srgbClr val="1C3340"/>
              </a:solidFill>
              <a:latin typeface="Aptos"/>
            </a:endParaRPr>
          </a:p>
          <a:p>
            <a:pPr algn="l"/>
            <a:r>
              <a:rPr sz="1040" dirty="0">
                <a:solidFill>
                  <a:srgbClr val="1C3340"/>
                </a:solidFill>
                <a:latin typeface="Aptos"/>
              </a:rPr>
              <a:t> • Training • Rollback authority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20666" y="5827777"/>
            <a:ext cx="7510272" cy="1389887"/>
          </a:xfrm>
          <a:prstGeom prst="roundRect">
            <a:avLst/>
          </a:prstGeom>
          <a:solidFill>
            <a:srgbClr val="F2F5F3"/>
          </a:solidFill>
          <a:ln w="12700">
            <a:solidFill>
              <a:srgbClr val="D1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8364507" y="5953430"/>
            <a:ext cx="1555747" cy="2851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3" b="1">
                <a:solidFill>
                  <a:srgbClr val="0E6568"/>
                </a:solidFill>
                <a:latin typeface="Aptos"/>
              </a:rPr>
              <a:t>WHO OWNS WHAT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4507" y="6448693"/>
            <a:ext cx="6380273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3" dirty="0">
                <a:solidFill>
                  <a:srgbClr val="1C3340"/>
                </a:solidFill>
                <a:latin typeface="Aptos"/>
              </a:rPr>
              <a:t>Sponsor — outcome &amp; approval   |   O&amp;M — operational validation &amp; action   |   Data/AI — model &amp; monitoring   |   </a:t>
            </a:r>
            <a:endParaRPr lang="en-US" sz="1013" dirty="0">
              <a:solidFill>
                <a:srgbClr val="1C3340"/>
              </a:solidFill>
              <a:latin typeface="Aptos"/>
            </a:endParaRPr>
          </a:p>
          <a:p>
            <a:pPr algn="l"/>
            <a:r>
              <a:rPr sz="1013" dirty="0">
                <a:solidFill>
                  <a:srgbClr val="1C3340"/>
                </a:solidFill>
                <a:latin typeface="Aptos"/>
              </a:rPr>
              <a:t>IT/OT/Cyber — platform, integration &amp; security   |   Operators/Techs — use &amp; feedback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8202" y="7473696"/>
            <a:ext cx="8948928" cy="1048512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0E6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9" name="TextBox 78"/>
          <p:cNvSpPr txBox="1"/>
          <p:nvPr/>
        </p:nvSpPr>
        <p:spPr>
          <a:xfrm>
            <a:off x="829850" y="7561684"/>
            <a:ext cx="903902" cy="2873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67" b="1">
                <a:solidFill>
                  <a:srgbClr val="0E6568"/>
                </a:solidFill>
                <a:latin typeface="Aptos"/>
              </a:rPr>
              <a:t>MONITOR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12474" y="7697064"/>
            <a:ext cx="6612708" cy="2482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3">
                <a:solidFill>
                  <a:srgbClr val="1C3340"/>
                </a:solidFill>
                <a:latin typeface="Aptos"/>
              </a:rPr>
              <a:t>Model performance • data quality • drift • pipeline/system health • alert quality • recoverable energy / business KPIs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9851" y="8118683"/>
            <a:ext cx="39709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92743"/>
                </a:solidFill>
                <a:latin typeface="Aptos"/>
              </a:rPr>
              <a:t>Decision gate: Continue • Revalidate • Retrain • Redeploy • Retire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803161" y="7473696"/>
            <a:ext cx="5827776" cy="1048512"/>
          </a:xfrm>
          <a:prstGeom prst="roundRect">
            <a:avLst/>
          </a:prstGeom>
          <a:solidFill>
            <a:srgbClr val="F9EDEA"/>
          </a:solidFill>
          <a:ln w="12700">
            <a:solidFill>
              <a:srgbClr val="97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3" name="TextBox 82"/>
          <p:cNvSpPr txBox="1"/>
          <p:nvPr/>
        </p:nvSpPr>
        <p:spPr>
          <a:xfrm>
            <a:off x="10047002" y="7561684"/>
            <a:ext cx="1419876" cy="2873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67" b="1">
                <a:solidFill>
                  <a:srgbClr val="974339"/>
                </a:solidFill>
                <a:latin typeface="Aptos"/>
              </a:rPr>
              <a:t>ROLLBACK PLAN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56730" y="7942891"/>
            <a:ext cx="4774064" cy="24423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87" dirty="0">
                <a:solidFill>
                  <a:srgbClr val="1C3340"/>
                </a:solidFill>
                <a:latin typeface="Aptos"/>
              </a:rPr>
              <a:t>Trigger → restore last validated version → investigate → correct → revalidate → redeploy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24206" y="8676376"/>
            <a:ext cx="8895384" cy="264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20" b="1">
                <a:solidFill>
                  <a:srgbClr val="092743"/>
                </a:solidFill>
                <a:latin typeface="Aptos"/>
              </a:rPr>
              <a:t>Deployment success = production integration + business readiness + clear ownership + monitored performance + controlled recovery.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46052" sy="212073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Words>994</Words>
  <Application>Microsoft Office PowerPoint</Application>
  <PresentationFormat>Custom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vim</dc:creator>
  <dc:description/>
  <cp:lastModifiedBy>Raul Rivera</cp:lastModifiedBy>
  <cp:revision>12</cp:revision>
  <dcterms:created xsi:type="dcterms:W3CDTF">2006-08-16T00:00:00Z</dcterms:created>
  <dcterms:modified xsi:type="dcterms:W3CDTF">2026-10-06T05:31:54Z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